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67" r:id="rId5"/>
    <p:sldId id="269" r:id="rId6"/>
    <p:sldId id="259" r:id="rId7"/>
    <p:sldId id="264" r:id="rId8"/>
    <p:sldId id="272" r:id="rId9"/>
    <p:sldId id="273" r:id="rId10"/>
    <p:sldId id="260" r:id="rId11"/>
    <p:sldId id="261" r:id="rId12"/>
    <p:sldId id="266" r:id="rId13"/>
    <p:sldId id="262" r:id="rId14"/>
    <p:sldId id="263" r:id="rId15"/>
    <p:sldId id="265" r:id="rId16"/>
    <p:sldId id="274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B179"/>
    <a:srgbClr val="C4D6A0"/>
    <a:srgbClr val="D9958F"/>
    <a:srgbClr val="FCB803"/>
    <a:srgbClr val="8CB3F2"/>
    <a:srgbClr val="FFFFFF"/>
    <a:srgbClr val="6DA6DA"/>
    <a:srgbClr val="A5A5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320" autoAdjust="0"/>
  </p:normalViewPr>
  <p:slideViewPr>
    <p:cSldViewPr snapToGrid="0">
      <p:cViewPr varScale="1">
        <p:scale>
          <a:sx n="84" d="100"/>
          <a:sy n="84" d="100"/>
        </p:scale>
        <p:origin x="58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743333-EF98-4F3C-95C6-7F4B81769F11}" type="datetimeFigureOut">
              <a:rPr lang="zh-CN" altLang="en-US" smtClean="0"/>
              <a:t>2023/12/10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A34AC8-3000-446B-90ED-C4255BECB5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47984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A34AC8-3000-446B-90ED-C4255BECB5A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7644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A34AC8-3000-446B-90ED-C4255BECB5A9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96430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516F4-0452-4179-9B91-2B7430FA9247}" type="datetimeFigureOut">
              <a:rPr lang="zh-CN" altLang="en-US" smtClean="0"/>
              <a:t>2023/12/10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D49D4-8FF7-40F9-8558-448A58F449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4062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516F4-0452-4179-9B91-2B7430FA9247}" type="datetimeFigureOut">
              <a:rPr lang="zh-CN" altLang="en-US" smtClean="0"/>
              <a:t>2023/12/10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D49D4-8FF7-40F9-8558-448A58F449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8208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516F4-0452-4179-9B91-2B7430FA9247}" type="datetimeFigureOut">
              <a:rPr lang="zh-CN" altLang="en-US" smtClean="0"/>
              <a:t>2023/12/10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D49D4-8FF7-40F9-8558-448A58F449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4883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516F4-0452-4179-9B91-2B7430FA9247}" type="datetimeFigureOut">
              <a:rPr lang="zh-CN" altLang="en-US" smtClean="0"/>
              <a:t>2023/12/10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D49D4-8FF7-40F9-8558-448A58F449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1152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516F4-0452-4179-9B91-2B7430FA9247}" type="datetimeFigureOut">
              <a:rPr lang="zh-CN" altLang="en-US" smtClean="0"/>
              <a:t>2023/12/10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D49D4-8FF7-40F9-8558-448A58F449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2716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516F4-0452-4179-9B91-2B7430FA9247}" type="datetimeFigureOut">
              <a:rPr lang="zh-CN" altLang="en-US" smtClean="0"/>
              <a:t>2023/12/10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D49D4-8FF7-40F9-8558-448A58F449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1048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516F4-0452-4179-9B91-2B7430FA9247}" type="datetimeFigureOut">
              <a:rPr lang="zh-CN" altLang="en-US" smtClean="0"/>
              <a:t>2023/12/10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D49D4-8FF7-40F9-8558-448A58F449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4484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516F4-0452-4179-9B91-2B7430FA9247}" type="datetimeFigureOut">
              <a:rPr lang="zh-CN" altLang="en-US" smtClean="0"/>
              <a:t>2023/12/10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D49D4-8FF7-40F9-8558-448A58F449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428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516F4-0452-4179-9B91-2B7430FA9247}" type="datetimeFigureOut">
              <a:rPr lang="zh-CN" altLang="en-US" smtClean="0"/>
              <a:t>2023/12/10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D49D4-8FF7-40F9-8558-448A58F449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7753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516F4-0452-4179-9B91-2B7430FA9247}" type="datetimeFigureOut">
              <a:rPr lang="zh-CN" altLang="en-US" smtClean="0"/>
              <a:t>2023/12/10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D49D4-8FF7-40F9-8558-448A58F449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5415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516F4-0452-4179-9B91-2B7430FA9247}" type="datetimeFigureOut">
              <a:rPr lang="zh-CN" altLang="en-US" smtClean="0"/>
              <a:t>2023/12/10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D49D4-8FF7-40F9-8558-448A58F449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4680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B516F4-0452-4179-9B91-2B7430FA9247}" type="datetimeFigureOut">
              <a:rPr lang="zh-CN" altLang="en-US" smtClean="0"/>
              <a:t>2023/12/10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BD49D4-8FF7-40F9-8558-448A58F449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309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5.w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/>
          <a:srcRect b="7464"/>
          <a:stretch/>
        </p:blipFill>
        <p:spPr>
          <a:xfrm>
            <a:off x="2010057" y="640081"/>
            <a:ext cx="8579838" cy="498348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848916" y="5127537"/>
            <a:ext cx="1182289" cy="373879"/>
          </a:xfrm>
          <a:prstGeom prst="flowChartTerminator">
            <a:avLst/>
          </a:prstGeom>
          <a:solidFill>
            <a:srgbClr val="C4D6A0"/>
          </a:solidFill>
        </p:spPr>
        <p:txBody>
          <a:bodyPr wrap="square" rtlCol="0">
            <a:spAutoFit/>
          </a:bodyPr>
          <a:lstStyle/>
          <a:p>
            <a:endParaRPr lang="zh-CN" altLang="en-US" sz="1600" dirty="0"/>
          </a:p>
        </p:txBody>
      </p:sp>
      <p:sp>
        <p:nvSpPr>
          <p:cNvPr id="6" name="文本框 5"/>
          <p:cNvSpPr txBox="1"/>
          <p:nvPr/>
        </p:nvSpPr>
        <p:spPr>
          <a:xfrm>
            <a:off x="2763677" y="5125521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小批量</a:t>
            </a:r>
            <a:r>
              <a:rPr lang="zh-CN" altLang="en-US" dirty="0" smtClean="0"/>
              <a:t>数据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4666623" y="5162550"/>
            <a:ext cx="1096002" cy="295275"/>
          </a:xfrm>
          <a:prstGeom prst="rect">
            <a:avLst/>
          </a:prstGeom>
          <a:solidFill>
            <a:srgbClr val="D995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6359160" y="5162550"/>
            <a:ext cx="1096002" cy="295275"/>
          </a:xfrm>
          <a:prstGeom prst="rect">
            <a:avLst/>
          </a:prstGeom>
          <a:solidFill>
            <a:srgbClr val="FCB80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8121285" y="5140910"/>
            <a:ext cx="1096002" cy="295275"/>
          </a:xfrm>
          <a:prstGeom prst="rect">
            <a:avLst/>
          </a:prstGeom>
          <a:solidFill>
            <a:srgbClr val="8CB3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6243016" y="1952625"/>
            <a:ext cx="1096002" cy="295275"/>
          </a:xfrm>
          <a:prstGeom prst="rect">
            <a:avLst/>
          </a:prstGeom>
          <a:solidFill>
            <a:srgbClr val="FCB80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7968885" y="1919287"/>
            <a:ext cx="1096002" cy="295275"/>
          </a:xfrm>
          <a:prstGeom prst="rect">
            <a:avLst/>
          </a:prstGeom>
          <a:solidFill>
            <a:srgbClr val="8CB3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4517147" y="1919286"/>
            <a:ext cx="1096002" cy="295275"/>
          </a:xfrm>
          <a:prstGeom prst="rect">
            <a:avLst/>
          </a:prstGeom>
          <a:solidFill>
            <a:srgbClr val="D995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2792814" y="1952625"/>
            <a:ext cx="1096002" cy="295275"/>
          </a:xfrm>
          <a:prstGeom prst="rect">
            <a:avLst/>
          </a:prstGeom>
          <a:solidFill>
            <a:srgbClr val="C4D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4796666" y="801260"/>
            <a:ext cx="2308983" cy="341740"/>
          </a:xfrm>
          <a:prstGeom prst="rect">
            <a:avLst/>
          </a:prstGeom>
          <a:solidFill>
            <a:srgbClr val="F7B1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>
                <a:solidFill>
                  <a:schemeClr val="tx1"/>
                </a:solidFill>
              </a:rPr>
              <a:t>数据平均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892060" y="2647951"/>
            <a:ext cx="1096002" cy="19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4517147" y="2647951"/>
            <a:ext cx="1096002" cy="19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6243016" y="2647951"/>
            <a:ext cx="1096002" cy="19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7998540" y="2644751"/>
            <a:ext cx="1096002" cy="19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2028485" y="1306222"/>
            <a:ext cx="2057740" cy="25587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2724607" y="1900207"/>
            <a:ext cx="13324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/>
              <a:t>参数</a:t>
            </a:r>
            <a:r>
              <a:rPr lang="en-US" altLang="zh-CN" sz="2000" dirty="0" smtClean="0"/>
              <a:t>/</a:t>
            </a:r>
            <a:r>
              <a:rPr lang="zh-CN" altLang="en-US" sz="2000" dirty="0" smtClean="0"/>
              <a:t>梯度</a:t>
            </a:r>
            <a:endParaRPr lang="zh-CN" altLang="en-US" sz="2000" dirty="0"/>
          </a:p>
        </p:txBody>
      </p:sp>
      <p:sp>
        <p:nvSpPr>
          <p:cNvPr id="22" name="文本框 21"/>
          <p:cNvSpPr txBox="1"/>
          <p:nvPr/>
        </p:nvSpPr>
        <p:spPr>
          <a:xfrm>
            <a:off x="4398940" y="1900207"/>
            <a:ext cx="13324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/>
              <a:t>参数</a:t>
            </a:r>
            <a:r>
              <a:rPr lang="en-US" altLang="zh-CN" sz="2000" dirty="0" smtClean="0"/>
              <a:t>/</a:t>
            </a:r>
            <a:r>
              <a:rPr lang="zh-CN" altLang="en-US" sz="2000" dirty="0" smtClean="0"/>
              <a:t>梯度</a:t>
            </a:r>
            <a:endParaRPr lang="zh-CN" altLang="en-US" sz="2000" dirty="0"/>
          </a:p>
        </p:txBody>
      </p:sp>
      <p:sp>
        <p:nvSpPr>
          <p:cNvPr id="23" name="文本框 22"/>
          <p:cNvSpPr txBox="1"/>
          <p:nvPr/>
        </p:nvSpPr>
        <p:spPr>
          <a:xfrm>
            <a:off x="6162001" y="1900207"/>
            <a:ext cx="13324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/>
              <a:t>参数</a:t>
            </a:r>
            <a:r>
              <a:rPr lang="en-US" altLang="zh-CN" sz="2000" dirty="0" smtClean="0"/>
              <a:t>/</a:t>
            </a:r>
            <a:r>
              <a:rPr lang="zh-CN" altLang="en-US" sz="2000" dirty="0" smtClean="0"/>
              <a:t>梯度</a:t>
            </a:r>
            <a:endParaRPr lang="zh-CN" altLang="en-US" sz="2000" dirty="0"/>
          </a:p>
        </p:txBody>
      </p:sp>
      <p:sp>
        <p:nvSpPr>
          <p:cNvPr id="24" name="文本框 23"/>
          <p:cNvSpPr txBox="1"/>
          <p:nvPr/>
        </p:nvSpPr>
        <p:spPr>
          <a:xfrm>
            <a:off x="7850678" y="1900207"/>
            <a:ext cx="13324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/>
              <a:t>参数</a:t>
            </a:r>
            <a:r>
              <a:rPr lang="en-US" altLang="zh-CN" sz="2000" dirty="0" smtClean="0"/>
              <a:t>/</a:t>
            </a:r>
            <a:r>
              <a:rPr lang="zh-CN" altLang="en-US" sz="2000" dirty="0" smtClean="0"/>
              <a:t>梯度</a:t>
            </a:r>
            <a:endParaRPr lang="zh-CN" altLang="en-US" sz="2000" dirty="0"/>
          </a:p>
        </p:txBody>
      </p:sp>
      <p:sp>
        <p:nvSpPr>
          <p:cNvPr id="25" name="文本框 24"/>
          <p:cNvSpPr txBox="1"/>
          <p:nvPr/>
        </p:nvSpPr>
        <p:spPr>
          <a:xfrm>
            <a:off x="3290435" y="1234106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/>
              <a:t>通信</a:t>
            </a:r>
            <a:endParaRPr lang="zh-CN" altLang="en-US" sz="2000" dirty="0"/>
          </a:p>
        </p:txBody>
      </p:sp>
      <p:sp>
        <p:nvSpPr>
          <p:cNvPr id="27" name="文本框 26"/>
          <p:cNvSpPr txBox="1"/>
          <p:nvPr/>
        </p:nvSpPr>
        <p:spPr>
          <a:xfrm>
            <a:off x="4531714" y="5116252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小批量</a:t>
            </a:r>
            <a:r>
              <a:rPr lang="zh-CN" altLang="en-US" dirty="0" smtClean="0"/>
              <a:t>数据</a:t>
            </a:r>
            <a:endParaRPr lang="zh-CN" altLang="en-US" dirty="0"/>
          </a:p>
        </p:txBody>
      </p:sp>
      <p:sp>
        <p:nvSpPr>
          <p:cNvPr id="28" name="文本框 27"/>
          <p:cNvSpPr txBox="1"/>
          <p:nvPr/>
        </p:nvSpPr>
        <p:spPr>
          <a:xfrm>
            <a:off x="6246828" y="5116252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小批量</a:t>
            </a:r>
            <a:r>
              <a:rPr lang="zh-CN" altLang="en-US" dirty="0" smtClean="0"/>
              <a:t>数据</a:t>
            </a:r>
            <a:endParaRPr lang="zh-CN" altLang="en-US" dirty="0"/>
          </a:p>
        </p:txBody>
      </p:sp>
      <p:sp>
        <p:nvSpPr>
          <p:cNvPr id="29" name="文本框 28"/>
          <p:cNvSpPr txBox="1"/>
          <p:nvPr/>
        </p:nvSpPr>
        <p:spPr>
          <a:xfrm>
            <a:off x="7983377" y="5103881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小批量</a:t>
            </a:r>
            <a:r>
              <a:rPr lang="zh-CN" altLang="en-US" dirty="0" smtClean="0"/>
              <a:t>数据</a:t>
            </a:r>
            <a:endParaRPr lang="zh-CN" altLang="en-US" dirty="0"/>
          </a:p>
        </p:txBody>
      </p:sp>
      <p:sp>
        <p:nvSpPr>
          <p:cNvPr id="30" name="文本框 29"/>
          <p:cNvSpPr txBox="1"/>
          <p:nvPr/>
        </p:nvSpPr>
        <p:spPr>
          <a:xfrm>
            <a:off x="2953448" y="2570724"/>
            <a:ext cx="1371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/>
              <a:t>节点</a:t>
            </a:r>
            <a:r>
              <a:rPr lang="en-US" altLang="zh-CN" sz="1600" dirty="0" smtClean="0"/>
              <a:t>1</a:t>
            </a:r>
            <a:endParaRPr lang="zh-CN" altLang="en-US" sz="1600" dirty="0"/>
          </a:p>
        </p:txBody>
      </p:sp>
      <p:sp>
        <p:nvSpPr>
          <p:cNvPr id="31" name="文本框 30"/>
          <p:cNvSpPr txBox="1"/>
          <p:nvPr/>
        </p:nvSpPr>
        <p:spPr>
          <a:xfrm>
            <a:off x="4728677" y="2570724"/>
            <a:ext cx="1371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/>
              <a:t>节点</a:t>
            </a:r>
            <a:r>
              <a:rPr lang="en-US" altLang="zh-CN" sz="1600" dirty="0" smtClean="0"/>
              <a:t>2</a:t>
            </a:r>
            <a:endParaRPr lang="zh-CN" altLang="en-US" sz="1600" dirty="0"/>
          </a:p>
        </p:txBody>
      </p:sp>
      <p:sp>
        <p:nvSpPr>
          <p:cNvPr id="32" name="文本框 31"/>
          <p:cNvSpPr txBox="1"/>
          <p:nvPr/>
        </p:nvSpPr>
        <p:spPr>
          <a:xfrm>
            <a:off x="6472070" y="2570724"/>
            <a:ext cx="1371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/>
              <a:t>节点</a:t>
            </a:r>
            <a:r>
              <a:rPr lang="en-US" altLang="zh-CN" sz="1600" dirty="0"/>
              <a:t>3</a:t>
            </a:r>
            <a:endParaRPr lang="zh-CN" altLang="en-US" sz="1600" dirty="0"/>
          </a:p>
        </p:txBody>
      </p:sp>
      <p:sp>
        <p:nvSpPr>
          <p:cNvPr id="33" name="文本框 32"/>
          <p:cNvSpPr txBox="1"/>
          <p:nvPr/>
        </p:nvSpPr>
        <p:spPr>
          <a:xfrm>
            <a:off x="8186888" y="2570724"/>
            <a:ext cx="1371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/>
              <a:t>节点</a:t>
            </a:r>
            <a:r>
              <a:rPr lang="en-US" altLang="zh-CN" sz="1600" dirty="0" smtClean="0"/>
              <a:t>4</a:t>
            </a:r>
            <a:endParaRPr lang="zh-CN" altLang="en-US" sz="1600" dirty="0"/>
          </a:p>
        </p:txBody>
      </p:sp>
      <p:sp>
        <p:nvSpPr>
          <p:cNvPr id="36" name="矩形 35"/>
          <p:cNvSpPr/>
          <p:nvPr/>
        </p:nvSpPr>
        <p:spPr>
          <a:xfrm>
            <a:off x="9629775" y="4333874"/>
            <a:ext cx="960120" cy="2571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8858250" y="4676774"/>
            <a:ext cx="960120" cy="2571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/>
          <p:cNvSpPr/>
          <p:nvPr/>
        </p:nvSpPr>
        <p:spPr>
          <a:xfrm>
            <a:off x="9163050" y="4695824"/>
            <a:ext cx="960120" cy="2571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9311409" y="4325837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/>
              <a:t>参数更新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0542794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5551" y="375397"/>
            <a:ext cx="7486650" cy="5945280"/>
          </a:xfrm>
          <a:prstGeom prst="rect">
            <a:avLst/>
          </a:prstGeom>
        </p:spPr>
      </p:pic>
      <p:sp>
        <p:nvSpPr>
          <p:cNvPr id="26" name="矩形 25"/>
          <p:cNvSpPr/>
          <p:nvPr/>
        </p:nvSpPr>
        <p:spPr>
          <a:xfrm>
            <a:off x="2619374" y="466725"/>
            <a:ext cx="1114426" cy="59912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流程图: 终止 39"/>
          <p:cNvSpPr/>
          <p:nvPr/>
        </p:nvSpPr>
        <p:spPr>
          <a:xfrm>
            <a:off x="4105275" y="5924550"/>
            <a:ext cx="914400" cy="228600"/>
          </a:xfrm>
          <a:prstGeom prst="flowChartTerminator">
            <a:avLst/>
          </a:prstGeom>
          <a:solidFill>
            <a:srgbClr val="A5A5A5"/>
          </a:solidFill>
          <a:ln>
            <a:solidFill>
              <a:srgbClr val="A5A5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流程图: 终止 40"/>
          <p:cNvSpPr/>
          <p:nvPr/>
        </p:nvSpPr>
        <p:spPr>
          <a:xfrm>
            <a:off x="5391150" y="5924550"/>
            <a:ext cx="914400" cy="228600"/>
          </a:xfrm>
          <a:prstGeom prst="flowChartTerminator">
            <a:avLst/>
          </a:prstGeom>
          <a:solidFill>
            <a:srgbClr val="A5A5A5"/>
          </a:solidFill>
          <a:ln>
            <a:solidFill>
              <a:srgbClr val="A5A5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流程图: 终止 41"/>
          <p:cNvSpPr/>
          <p:nvPr/>
        </p:nvSpPr>
        <p:spPr>
          <a:xfrm>
            <a:off x="6677025" y="5924550"/>
            <a:ext cx="914400" cy="228600"/>
          </a:xfrm>
          <a:prstGeom prst="flowChartTerminator">
            <a:avLst/>
          </a:prstGeom>
          <a:solidFill>
            <a:srgbClr val="A5A5A5"/>
          </a:solidFill>
          <a:ln>
            <a:solidFill>
              <a:srgbClr val="A5A5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流程图: 终止 42"/>
          <p:cNvSpPr/>
          <p:nvPr/>
        </p:nvSpPr>
        <p:spPr>
          <a:xfrm>
            <a:off x="7962900" y="5924550"/>
            <a:ext cx="914400" cy="228600"/>
          </a:xfrm>
          <a:prstGeom prst="flowChartTerminator">
            <a:avLst/>
          </a:prstGeom>
          <a:solidFill>
            <a:srgbClr val="A5A5A5"/>
          </a:solidFill>
          <a:ln>
            <a:solidFill>
              <a:srgbClr val="A5A5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4011775" y="5884961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小批量</a:t>
            </a:r>
            <a:r>
              <a:rPr lang="zh-CN" altLang="en-US" sz="1400" dirty="0" smtClean="0"/>
              <a:t>数据</a:t>
            </a:r>
            <a:endParaRPr lang="zh-CN" altLang="en-US" sz="1400" dirty="0"/>
          </a:p>
        </p:txBody>
      </p:sp>
      <p:sp>
        <p:nvSpPr>
          <p:cNvPr id="44" name="文本框 43"/>
          <p:cNvSpPr txBox="1"/>
          <p:nvPr/>
        </p:nvSpPr>
        <p:spPr>
          <a:xfrm>
            <a:off x="5344400" y="5884961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小批量</a:t>
            </a:r>
            <a:r>
              <a:rPr lang="zh-CN" altLang="en-US" sz="1400" dirty="0" smtClean="0"/>
              <a:t>数据</a:t>
            </a:r>
            <a:endParaRPr lang="zh-CN" altLang="en-US" sz="1400" dirty="0"/>
          </a:p>
        </p:txBody>
      </p:sp>
      <p:sp>
        <p:nvSpPr>
          <p:cNvPr id="45" name="文本框 44"/>
          <p:cNvSpPr txBox="1"/>
          <p:nvPr/>
        </p:nvSpPr>
        <p:spPr>
          <a:xfrm>
            <a:off x="6593051" y="5884961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小批量</a:t>
            </a:r>
            <a:r>
              <a:rPr lang="zh-CN" altLang="en-US" sz="1400" dirty="0" smtClean="0"/>
              <a:t>数据</a:t>
            </a:r>
            <a:endParaRPr lang="zh-CN" altLang="en-US" sz="1400" dirty="0"/>
          </a:p>
        </p:txBody>
      </p:sp>
      <p:sp>
        <p:nvSpPr>
          <p:cNvPr id="46" name="文本框 45"/>
          <p:cNvSpPr txBox="1"/>
          <p:nvPr/>
        </p:nvSpPr>
        <p:spPr>
          <a:xfrm>
            <a:off x="7878926" y="5884961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小批量</a:t>
            </a:r>
            <a:r>
              <a:rPr lang="zh-CN" altLang="en-US" sz="1400" dirty="0" smtClean="0"/>
              <a:t>数据</a:t>
            </a:r>
            <a:endParaRPr lang="zh-CN" altLang="en-US" sz="1400" dirty="0"/>
          </a:p>
        </p:txBody>
      </p:sp>
      <p:sp>
        <p:nvSpPr>
          <p:cNvPr id="47" name="文本框 46"/>
          <p:cNvSpPr txBox="1"/>
          <p:nvPr/>
        </p:nvSpPr>
        <p:spPr>
          <a:xfrm>
            <a:off x="3159996" y="3276600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/>
              <a:t>模型</a:t>
            </a:r>
            <a:endParaRPr lang="en-US" altLang="zh-CN" sz="2000" dirty="0" smtClean="0"/>
          </a:p>
          <a:p>
            <a:r>
              <a:rPr lang="zh-CN" altLang="en-US" sz="2000" dirty="0" smtClean="0"/>
              <a:t>划分</a:t>
            </a:r>
            <a:endParaRPr lang="zh-CN" altLang="en-US" sz="2000" dirty="0"/>
          </a:p>
        </p:txBody>
      </p:sp>
      <p:sp>
        <p:nvSpPr>
          <p:cNvPr id="48" name="文本框 47"/>
          <p:cNvSpPr txBox="1"/>
          <p:nvPr/>
        </p:nvSpPr>
        <p:spPr>
          <a:xfrm>
            <a:off x="8874205" y="4344887"/>
            <a:ext cx="110799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参数更新</a:t>
            </a:r>
            <a:endParaRPr lang="zh-CN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7029450" y="1038225"/>
            <a:ext cx="1143000" cy="7048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 49"/>
          <p:cNvSpPr/>
          <p:nvPr/>
        </p:nvSpPr>
        <p:spPr>
          <a:xfrm>
            <a:off x="3733800" y="1876425"/>
            <a:ext cx="1143000" cy="7048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 50"/>
          <p:cNvSpPr/>
          <p:nvPr/>
        </p:nvSpPr>
        <p:spPr>
          <a:xfrm>
            <a:off x="4522624" y="1684437"/>
            <a:ext cx="11430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 51"/>
          <p:cNvSpPr/>
          <p:nvPr/>
        </p:nvSpPr>
        <p:spPr>
          <a:xfrm>
            <a:off x="6829425" y="1654374"/>
            <a:ext cx="1143000" cy="3143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矩形 52"/>
          <p:cNvSpPr/>
          <p:nvPr/>
        </p:nvSpPr>
        <p:spPr>
          <a:xfrm>
            <a:off x="7818274" y="1876425"/>
            <a:ext cx="1143000" cy="7048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文本框 53"/>
          <p:cNvSpPr txBox="1"/>
          <p:nvPr/>
        </p:nvSpPr>
        <p:spPr>
          <a:xfrm>
            <a:off x="6940630" y="1062453"/>
            <a:ext cx="180049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前向和反向传播</a:t>
            </a:r>
            <a:endParaRPr lang="zh-CN" altLang="en-US" dirty="0"/>
          </a:p>
        </p:txBody>
      </p:sp>
      <p:sp>
        <p:nvSpPr>
          <p:cNvPr id="55" name="文本框 54"/>
          <p:cNvSpPr txBox="1"/>
          <p:nvPr/>
        </p:nvSpPr>
        <p:spPr>
          <a:xfrm>
            <a:off x="4105275" y="2238375"/>
            <a:ext cx="768159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节点</a:t>
            </a:r>
            <a:r>
              <a:rPr lang="en-US" altLang="zh-CN" dirty="0" smtClean="0"/>
              <a:t>1</a:t>
            </a:r>
            <a:endParaRPr lang="zh-CN" altLang="en-US" dirty="0"/>
          </a:p>
        </p:txBody>
      </p:sp>
      <p:sp>
        <p:nvSpPr>
          <p:cNvPr id="57" name="文本框 56"/>
          <p:cNvSpPr txBox="1"/>
          <p:nvPr/>
        </p:nvSpPr>
        <p:spPr>
          <a:xfrm>
            <a:off x="5040339" y="1569333"/>
            <a:ext cx="768159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节点</a:t>
            </a:r>
            <a:r>
              <a:rPr lang="en-US" altLang="zh-CN" dirty="0" smtClean="0"/>
              <a:t>2</a:t>
            </a:r>
            <a:endParaRPr lang="zh-CN" altLang="en-US" dirty="0"/>
          </a:p>
        </p:txBody>
      </p:sp>
      <p:sp>
        <p:nvSpPr>
          <p:cNvPr id="58" name="文本框 57"/>
          <p:cNvSpPr txBox="1"/>
          <p:nvPr/>
        </p:nvSpPr>
        <p:spPr>
          <a:xfrm>
            <a:off x="6797347" y="1572457"/>
            <a:ext cx="768159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节点</a:t>
            </a:r>
            <a:r>
              <a:rPr lang="en-US" altLang="zh-CN" dirty="0" smtClean="0"/>
              <a:t>3</a:t>
            </a:r>
            <a:endParaRPr lang="zh-CN" altLang="en-US" dirty="0"/>
          </a:p>
        </p:txBody>
      </p:sp>
      <p:sp>
        <p:nvSpPr>
          <p:cNvPr id="59" name="文本框 58"/>
          <p:cNvSpPr txBox="1"/>
          <p:nvPr/>
        </p:nvSpPr>
        <p:spPr>
          <a:xfrm>
            <a:off x="7962900" y="2208312"/>
            <a:ext cx="768159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节点</a:t>
            </a:r>
            <a:r>
              <a:rPr lang="en-US" altLang="zh-CN" dirty="0" smtClean="0"/>
              <a:t>4</a:t>
            </a:r>
            <a:endParaRPr lang="zh-CN" altLang="en-US" dirty="0"/>
          </a:p>
        </p:txBody>
      </p:sp>
      <p:pic>
        <p:nvPicPr>
          <p:cNvPr id="60" name="图片 5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2484" y="5379392"/>
            <a:ext cx="1257300" cy="32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350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/>
          <a:srcRect b="7464"/>
          <a:stretch/>
        </p:blipFill>
        <p:spPr>
          <a:xfrm>
            <a:off x="0" y="640081"/>
            <a:ext cx="8579838" cy="4983480"/>
          </a:xfrm>
          <a:prstGeom prst="rect">
            <a:avLst/>
          </a:prstGeom>
        </p:spPr>
      </p:pic>
      <p:sp>
        <p:nvSpPr>
          <p:cNvPr id="20" name="矩形 19"/>
          <p:cNvSpPr/>
          <p:nvPr/>
        </p:nvSpPr>
        <p:spPr>
          <a:xfrm>
            <a:off x="18428" y="1306222"/>
            <a:ext cx="2057740" cy="25587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714550" y="801260"/>
            <a:ext cx="7865288" cy="5325614"/>
            <a:chOff x="714550" y="801260"/>
            <a:chExt cx="7865288" cy="5325614"/>
          </a:xfrm>
        </p:grpSpPr>
        <p:sp>
          <p:nvSpPr>
            <p:cNvPr id="6" name="文本框 5"/>
            <p:cNvSpPr txBox="1"/>
            <p:nvPr/>
          </p:nvSpPr>
          <p:spPr>
            <a:xfrm>
              <a:off x="838859" y="5127537"/>
              <a:ext cx="1182289" cy="373879"/>
            </a:xfrm>
            <a:prstGeom prst="flowChartTerminator">
              <a:avLst/>
            </a:prstGeom>
            <a:solidFill>
              <a:srgbClr val="C4D6A0"/>
            </a:solidFill>
          </p:spPr>
          <p:txBody>
            <a:bodyPr wrap="square" rtlCol="0">
              <a:spAutoFit/>
            </a:bodyPr>
            <a:lstStyle/>
            <a:p>
              <a:endParaRPr lang="zh-CN" altLang="en-US" sz="1600" dirty="0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753620" y="5125521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小批量</a:t>
              </a:r>
              <a:r>
                <a:rPr lang="zh-CN" altLang="en-US" dirty="0" smtClean="0"/>
                <a:t>数据</a:t>
              </a:r>
              <a:endParaRPr lang="zh-CN" altLang="en-US" dirty="0"/>
            </a:p>
          </p:txBody>
        </p:sp>
        <p:sp>
          <p:nvSpPr>
            <p:cNvPr id="8" name="矩形 7"/>
            <p:cNvSpPr/>
            <p:nvPr/>
          </p:nvSpPr>
          <p:spPr>
            <a:xfrm>
              <a:off x="2656566" y="5162550"/>
              <a:ext cx="1096002" cy="295275"/>
            </a:xfrm>
            <a:prstGeom prst="rect">
              <a:avLst/>
            </a:prstGeom>
            <a:solidFill>
              <a:srgbClr val="D9958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4349103" y="5162550"/>
              <a:ext cx="1096002" cy="295275"/>
            </a:xfrm>
            <a:prstGeom prst="rect">
              <a:avLst/>
            </a:prstGeom>
            <a:solidFill>
              <a:srgbClr val="FCB8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6111228" y="5140910"/>
              <a:ext cx="1096002" cy="295275"/>
            </a:xfrm>
            <a:prstGeom prst="rect">
              <a:avLst/>
            </a:prstGeom>
            <a:solidFill>
              <a:srgbClr val="8CB3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4232959" y="1952625"/>
              <a:ext cx="1096002" cy="295275"/>
            </a:xfrm>
            <a:prstGeom prst="rect">
              <a:avLst/>
            </a:prstGeom>
            <a:solidFill>
              <a:srgbClr val="FCB8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/>
            <p:cNvSpPr/>
            <p:nvPr/>
          </p:nvSpPr>
          <p:spPr>
            <a:xfrm>
              <a:off x="5958828" y="1919287"/>
              <a:ext cx="1096002" cy="295275"/>
            </a:xfrm>
            <a:prstGeom prst="rect">
              <a:avLst/>
            </a:prstGeom>
            <a:solidFill>
              <a:srgbClr val="8CB3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/>
          </p:nvSpPr>
          <p:spPr>
            <a:xfrm>
              <a:off x="2507090" y="1919286"/>
              <a:ext cx="1096002" cy="295275"/>
            </a:xfrm>
            <a:prstGeom prst="rect">
              <a:avLst/>
            </a:prstGeom>
            <a:solidFill>
              <a:srgbClr val="D9958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782757" y="1952625"/>
              <a:ext cx="1096002" cy="295275"/>
            </a:xfrm>
            <a:prstGeom prst="rect">
              <a:avLst/>
            </a:prstGeom>
            <a:solidFill>
              <a:srgbClr val="C4D6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>
              <a:off x="2786609" y="801260"/>
              <a:ext cx="2308983" cy="341740"/>
            </a:xfrm>
            <a:prstGeom prst="rect">
              <a:avLst/>
            </a:prstGeom>
            <a:solidFill>
              <a:srgbClr val="F7B1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dirty="0" smtClean="0">
                  <a:solidFill>
                    <a:schemeClr val="tx1"/>
                  </a:solidFill>
                </a:rPr>
                <a:t>数据平均</a:t>
              </a: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882003" y="2647951"/>
              <a:ext cx="1096002" cy="190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/>
            <p:nvPr/>
          </p:nvSpPr>
          <p:spPr>
            <a:xfrm>
              <a:off x="2507090" y="2647951"/>
              <a:ext cx="1096002" cy="190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/>
          </p:nvSpPr>
          <p:spPr>
            <a:xfrm>
              <a:off x="4232959" y="2647951"/>
              <a:ext cx="1096002" cy="190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/>
          </p:nvSpPr>
          <p:spPr>
            <a:xfrm>
              <a:off x="5988483" y="2644751"/>
              <a:ext cx="1096002" cy="190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714550" y="1900207"/>
              <a:ext cx="133241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 smtClean="0"/>
                <a:t>参数</a:t>
              </a:r>
              <a:r>
                <a:rPr lang="en-US" altLang="zh-CN" sz="2000" dirty="0" smtClean="0"/>
                <a:t>/</a:t>
              </a:r>
              <a:r>
                <a:rPr lang="zh-CN" altLang="en-US" sz="2000" dirty="0" smtClean="0"/>
                <a:t>梯度</a:t>
              </a:r>
              <a:endParaRPr lang="zh-CN" altLang="en-US" sz="2000" dirty="0"/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2388883" y="1900207"/>
              <a:ext cx="133241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 smtClean="0"/>
                <a:t>参数</a:t>
              </a:r>
              <a:r>
                <a:rPr lang="en-US" altLang="zh-CN" sz="2000" dirty="0" smtClean="0"/>
                <a:t>/</a:t>
              </a:r>
              <a:r>
                <a:rPr lang="zh-CN" altLang="en-US" sz="2000" dirty="0" smtClean="0"/>
                <a:t>梯度</a:t>
              </a:r>
              <a:endParaRPr lang="zh-CN" altLang="en-US" sz="2000" dirty="0"/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4151944" y="1900207"/>
              <a:ext cx="133241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 smtClean="0"/>
                <a:t>参数</a:t>
              </a:r>
              <a:r>
                <a:rPr lang="en-US" altLang="zh-CN" sz="2000" dirty="0" smtClean="0"/>
                <a:t>/</a:t>
              </a:r>
              <a:r>
                <a:rPr lang="zh-CN" altLang="en-US" sz="2000" dirty="0" smtClean="0"/>
                <a:t>梯度</a:t>
              </a:r>
              <a:endParaRPr lang="zh-CN" altLang="en-US" sz="2000" dirty="0"/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5840621" y="1900207"/>
              <a:ext cx="133241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 smtClean="0"/>
                <a:t>参数</a:t>
              </a:r>
              <a:r>
                <a:rPr lang="en-US" altLang="zh-CN" sz="2000" dirty="0" smtClean="0"/>
                <a:t>/</a:t>
              </a:r>
              <a:r>
                <a:rPr lang="zh-CN" altLang="en-US" sz="2000" dirty="0" smtClean="0"/>
                <a:t>梯度</a:t>
              </a:r>
              <a:endParaRPr lang="zh-CN" altLang="en-US" sz="2000" dirty="0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1280378" y="1234106"/>
              <a:ext cx="69762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 smtClean="0"/>
                <a:t>通信</a:t>
              </a:r>
              <a:endParaRPr lang="zh-CN" altLang="en-US" sz="2000" dirty="0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2521657" y="5116252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小批量</a:t>
              </a:r>
              <a:r>
                <a:rPr lang="zh-CN" altLang="en-US" dirty="0" smtClean="0"/>
                <a:t>数据</a:t>
              </a:r>
              <a:endParaRPr lang="zh-CN" altLang="en-US" dirty="0"/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4236771" y="5116252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小批量</a:t>
              </a:r>
              <a:r>
                <a:rPr lang="zh-CN" altLang="en-US" dirty="0" smtClean="0"/>
                <a:t>数据</a:t>
              </a:r>
              <a:endParaRPr lang="zh-CN" altLang="en-US" dirty="0"/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5973320" y="5103881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小批量</a:t>
              </a:r>
              <a:r>
                <a:rPr lang="zh-CN" altLang="en-US" dirty="0" smtClean="0"/>
                <a:t>数据</a:t>
              </a:r>
              <a:endParaRPr lang="zh-CN" altLang="en-US" dirty="0"/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943391" y="2570724"/>
              <a:ext cx="13716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 smtClean="0"/>
                <a:t>节点</a:t>
              </a:r>
              <a:r>
                <a:rPr lang="en-US" altLang="zh-CN" sz="1600" dirty="0" smtClean="0"/>
                <a:t>1</a:t>
              </a:r>
              <a:endParaRPr lang="zh-CN" altLang="en-US" sz="1600" dirty="0"/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2718620" y="2570724"/>
              <a:ext cx="13716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 smtClean="0"/>
                <a:t>节点</a:t>
              </a:r>
              <a:r>
                <a:rPr lang="en-US" altLang="zh-CN" sz="1600" dirty="0" smtClean="0"/>
                <a:t>2</a:t>
              </a:r>
              <a:endParaRPr lang="zh-CN" altLang="en-US" sz="1600" dirty="0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4462013" y="2570724"/>
              <a:ext cx="13716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 smtClean="0"/>
                <a:t>节点</a:t>
              </a:r>
              <a:r>
                <a:rPr lang="en-US" altLang="zh-CN" sz="1600" dirty="0"/>
                <a:t>3</a:t>
              </a:r>
              <a:endParaRPr lang="zh-CN" altLang="en-US" sz="1600" dirty="0"/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6176831" y="2570724"/>
              <a:ext cx="13716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 smtClean="0"/>
                <a:t>节点</a:t>
              </a:r>
              <a:r>
                <a:rPr lang="en-US" altLang="zh-CN" sz="1600" dirty="0" smtClean="0"/>
                <a:t>4</a:t>
              </a:r>
              <a:endParaRPr lang="zh-CN" altLang="en-US" sz="1600" dirty="0"/>
            </a:p>
          </p:txBody>
        </p:sp>
        <p:sp>
          <p:nvSpPr>
            <p:cNvPr id="33" name="矩形 32"/>
            <p:cNvSpPr/>
            <p:nvPr/>
          </p:nvSpPr>
          <p:spPr>
            <a:xfrm>
              <a:off x="7619718" y="4333874"/>
              <a:ext cx="960120" cy="2571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矩形 33"/>
            <p:cNvSpPr/>
            <p:nvPr/>
          </p:nvSpPr>
          <p:spPr>
            <a:xfrm>
              <a:off x="6848193" y="4676774"/>
              <a:ext cx="960120" cy="2571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矩形 34"/>
            <p:cNvSpPr/>
            <p:nvPr/>
          </p:nvSpPr>
          <p:spPr>
            <a:xfrm>
              <a:off x="7152993" y="4695824"/>
              <a:ext cx="960120" cy="2571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7301352" y="4325837"/>
              <a:ext cx="12105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 smtClean="0"/>
                <a:t>参数更新</a:t>
              </a:r>
              <a:endParaRPr lang="zh-CN" altLang="en-US" sz="2000" dirty="0"/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2715313" y="5665209"/>
              <a:ext cx="264687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 smtClean="0"/>
                <a:t>数据并行训练方式</a:t>
              </a:r>
              <a:endParaRPr lang="zh-CN" altLang="en-US" sz="2400" b="1" dirty="0"/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9725888" y="0"/>
            <a:ext cx="7486650" cy="6416434"/>
            <a:chOff x="8548406" y="-289560"/>
            <a:chExt cx="7486650" cy="6416434"/>
          </a:xfrm>
        </p:grpSpPr>
        <p:grpSp>
          <p:nvGrpSpPr>
            <p:cNvPr id="4" name="组合 3"/>
            <p:cNvGrpSpPr/>
            <p:nvPr/>
          </p:nvGrpSpPr>
          <p:grpSpPr>
            <a:xfrm>
              <a:off x="8548406" y="-289560"/>
              <a:ext cx="7486650" cy="6416434"/>
              <a:chOff x="8548406" y="-289560"/>
              <a:chExt cx="7486650" cy="6416434"/>
            </a:xfrm>
          </p:grpSpPr>
          <p:pic>
            <p:nvPicPr>
              <p:cNvPr id="37" name="图片 36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48406" y="-289560"/>
                <a:ext cx="7486650" cy="5945280"/>
              </a:xfrm>
              <a:prstGeom prst="rect">
                <a:avLst/>
              </a:prstGeom>
            </p:spPr>
          </p:pic>
          <p:sp>
            <p:nvSpPr>
              <p:cNvPr id="38" name="矩形 37"/>
              <p:cNvSpPr/>
              <p:nvPr/>
            </p:nvSpPr>
            <p:spPr>
              <a:xfrm>
                <a:off x="8672229" y="-198232"/>
                <a:ext cx="1114426" cy="599122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流程图: 终止 38"/>
              <p:cNvSpPr/>
              <p:nvPr/>
            </p:nvSpPr>
            <p:spPr>
              <a:xfrm>
                <a:off x="10158130" y="5259593"/>
                <a:ext cx="914400" cy="228600"/>
              </a:xfrm>
              <a:prstGeom prst="flowChartTerminator">
                <a:avLst/>
              </a:prstGeom>
              <a:solidFill>
                <a:srgbClr val="A5A5A5"/>
              </a:solidFill>
              <a:ln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流程图: 终止 39"/>
              <p:cNvSpPr/>
              <p:nvPr/>
            </p:nvSpPr>
            <p:spPr>
              <a:xfrm>
                <a:off x="11444005" y="5259593"/>
                <a:ext cx="914400" cy="228600"/>
              </a:xfrm>
              <a:prstGeom prst="flowChartTerminator">
                <a:avLst/>
              </a:prstGeom>
              <a:solidFill>
                <a:srgbClr val="A5A5A5"/>
              </a:solidFill>
              <a:ln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流程图: 终止 40"/>
              <p:cNvSpPr/>
              <p:nvPr/>
            </p:nvSpPr>
            <p:spPr>
              <a:xfrm>
                <a:off x="12729880" y="5259593"/>
                <a:ext cx="914400" cy="228600"/>
              </a:xfrm>
              <a:prstGeom prst="flowChartTerminator">
                <a:avLst/>
              </a:prstGeom>
              <a:solidFill>
                <a:srgbClr val="A5A5A5"/>
              </a:solidFill>
              <a:ln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" name="流程图: 终止 41"/>
              <p:cNvSpPr/>
              <p:nvPr/>
            </p:nvSpPr>
            <p:spPr>
              <a:xfrm>
                <a:off x="14015755" y="5259593"/>
                <a:ext cx="914400" cy="228600"/>
              </a:xfrm>
              <a:prstGeom prst="flowChartTerminator">
                <a:avLst/>
              </a:prstGeom>
              <a:solidFill>
                <a:srgbClr val="A5A5A5"/>
              </a:solidFill>
              <a:ln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" name="文本框 42"/>
              <p:cNvSpPr txBox="1"/>
              <p:nvPr/>
            </p:nvSpPr>
            <p:spPr>
              <a:xfrm>
                <a:off x="10064630" y="5220004"/>
                <a:ext cx="108234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400" dirty="0"/>
                  <a:t>小批量</a:t>
                </a:r>
                <a:r>
                  <a:rPr lang="zh-CN" altLang="en-US" sz="1400" dirty="0" smtClean="0"/>
                  <a:t>数据</a:t>
                </a:r>
                <a:endParaRPr lang="zh-CN" altLang="en-US" sz="1400" dirty="0"/>
              </a:p>
            </p:txBody>
          </p:sp>
          <p:sp>
            <p:nvSpPr>
              <p:cNvPr id="44" name="文本框 43"/>
              <p:cNvSpPr txBox="1"/>
              <p:nvPr/>
            </p:nvSpPr>
            <p:spPr>
              <a:xfrm>
                <a:off x="11397255" y="5220004"/>
                <a:ext cx="108234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400" dirty="0"/>
                  <a:t>小批量</a:t>
                </a:r>
                <a:r>
                  <a:rPr lang="zh-CN" altLang="en-US" sz="1400" dirty="0" smtClean="0"/>
                  <a:t>数据</a:t>
                </a:r>
                <a:endParaRPr lang="zh-CN" altLang="en-US" sz="1400" dirty="0"/>
              </a:p>
            </p:txBody>
          </p:sp>
          <p:sp>
            <p:nvSpPr>
              <p:cNvPr id="45" name="文本框 44"/>
              <p:cNvSpPr txBox="1"/>
              <p:nvPr/>
            </p:nvSpPr>
            <p:spPr>
              <a:xfrm>
                <a:off x="12645906" y="5220004"/>
                <a:ext cx="108234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400" dirty="0"/>
                  <a:t>小批量</a:t>
                </a:r>
                <a:r>
                  <a:rPr lang="zh-CN" altLang="en-US" sz="1400" dirty="0" smtClean="0"/>
                  <a:t>数据</a:t>
                </a:r>
                <a:endParaRPr lang="zh-CN" altLang="en-US" sz="1400" dirty="0"/>
              </a:p>
            </p:txBody>
          </p:sp>
          <p:sp>
            <p:nvSpPr>
              <p:cNvPr id="46" name="文本框 45"/>
              <p:cNvSpPr txBox="1"/>
              <p:nvPr/>
            </p:nvSpPr>
            <p:spPr>
              <a:xfrm>
                <a:off x="13931781" y="5220004"/>
                <a:ext cx="108234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400" dirty="0"/>
                  <a:t>小批量</a:t>
                </a:r>
                <a:r>
                  <a:rPr lang="zh-CN" altLang="en-US" sz="1400" dirty="0" smtClean="0"/>
                  <a:t>数据</a:t>
                </a:r>
                <a:endParaRPr lang="zh-CN" altLang="en-US" sz="1400" dirty="0"/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9212851" y="2611643"/>
                <a:ext cx="697627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000" dirty="0" smtClean="0"/>
                  <a:t>模型</a:t>
                </a:r>
                <a:endParaRPr lang="en-US" altLang="zh-CN" sz="2000" dirty="0" smtClean="0"/>
              </a:p>
              <a:p>
                <a:r>
                  <a:rPr lang="zh-CN" altLang="en-US" sz="2000" dirty="0" smtClean="0"/>
                  <a:t>划分</a:t>
                </a:r>
                <a:endParaRPr lang="zh-CN" altLang="en-US" sz="2000" dirty="0"/>
              </a:p>
            </p:txBody>
          </p:sp>
          <p:sp>
            <p:nvSpPr>
              <p:cNvPr id="48" name="文本框 47"/>
              <p:cNvSpPr txBox="1"/>
              <p:nvPr/>
            </p:nvSpPr>
            <p:spPr>
              <a:xfrm>
                <a:off x="14927060" y="3679930"/>
                <a:ext cx="110799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 smtClean="0"/>
                  <a:t>参数更新</a:t>
                </a:r>
                <a:endParaRPr lang="zh-CN" altLang="en-US" dirty="0"/>
              </a:p>
            </p:txBody>
          </p:sp>
          <p:sp>
            <p:nvSpPr>
              <p:cNvPr id="49" name="矩形 48"/>
              <p:cNvSpPr/>
              <p:nvPr/>
            </p:nvSpPr>
            <p:spPr>
              <a:xfrm>
                <a:off x="13082305" y="373268"/>
                <a:ext cx="1143000" cy="70485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矩形 49"/>
              <p:cNvSpPr/>
              <p:nvPr/>
            </p:nvSpPr>
            <p:spPr>
              <a:xfrm>
                <a:off x="9786655" y="1211468"/>
                <a:ext cx="1143000" cy="70485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矩形 50"/>
              <p:cNvSpPr/>
              <p:nvPr/>
            </p:nvSpPr>
            <p:spPr>
              <a:xfrm>
                <a:off x="10575479" y="1019480"/>
                <a:ext cx="1143000" cy="3048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矩形 51"/>
              <p:cNvSpPr/>
              <p:nvPr/>
            </p:nvSpPr>
            <p:spPr>
              <a:xfrm>
                <a:off x="12882280" y="989417"/>
                <a:ext cx="1143000" cy="31432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 52"/>
              <p:cNvSpPr/>
              <p:nvPr/>
            </p:nvSpPr>
            <p:spPr>
              <a:xfrm>
                <a:off x="13871129" y="1211468"/>
                <a:ext cx="1143000" cy="70485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文本框 53"/>
              <p:cNvSpPr txBox="1"/>
              <p:nvPr/>
            </p:nvSpPr>
            <p:spPr>
              <a:xfrm>
                <a:off x="12993485" y="397496"/>
                <a:ext cx="1800493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 smtClean="0"/>
                  <a:t>前向和反向传播</a:t>
                </a:r>
                <a:endParaRPr lang="zh-CN" altLang="en-US" dirty="0"/>
              </a:p>
            </p:txBody>
          </p:sp>
          <p:sp>
            <p:nvSpPr>
              <p:cNvPr id="55" name="文本框 54"/>
              <p:cNvSpPr txBox="1"/>
              <p:nvPr/>
            </p:nvSpPr>
            <p:spPr>
              <a:xfrm>
                <a:off x="10158130" y="1573418"/>
                <a:ext cx="768159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 smtClean="0"/>
                  <a:t>节点</a:t>
                </a:r>
                <a:r>
                  <a:rPr lang="en-US" altLang="zh-CN" dirty="0" smtClean="0"/>
                  <a:t>1</a:t>
                </a:r>
                <a:endParaRPr lang="zh-CN" altLang="en-US" dirty="0"/>
              </a:p>
            </p:txBody>
          </p:sp>
          <p:sp>
            <p:nvSpPr>
              <p:cNvPr id="56" name="文本框 55"/>
              <p:cNvSpPr txBox="1"/>
              <p:nvPr/>
            </p:nvSpPr>
            <p:spPr>
              <a:xfrm>
                <a:off x="11093194" y="904376"/>
                <a:ext cx="768159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 smtClean="0"/>
                  <a:t>节点</a:t>
                </a:r>
                <a:r>
                  <a:rPr lang="en-US" altLang="zh-CN" dirty="0" smtClean="0"/>
                  <a:t>2</a:t>
                </a:r>
                <a:endParaRPr lang="zh-CN" altLang="en-US" dirty="0"/>
              </a:p>
            </p:txBody>
          </p:sp>
          <p:sp>
            <p:nvSpPr>
              <p:cNvPr id="57" name="文本框 56"/>
              <p:cNvSpPr txBox="1"/>
              <p:nvPr/>
            </p:nvSpPr>
            <p:spPr>
              <a:xfrm>
                <a:off x="12850202" y="907500"/>
                <a:ext cx="768159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 smtClean="0"/>
                  <a:t>节点</a:t>
                </a:r>
                <a:r>
                  <a:rPr lang="en-US" altLang="zh-CN" dirty="0" smtClean="0"/>
                  <a:t>3</a:t>
                </a:r>
                <a:endParaRPr lang="zh-CN" altLang="en-US" dirty="0"/>
              </a:p>
            </p:txBody>
          </p:sp>
          <p:sp>
            <p:nvSpPr>
              <p:cNvPr id="58" name="文本框 57"/>
              <p:cNvSpPr txBox="1"/>
              <p:nvPr/>
            </p:nvSpPr>
            <p:spPr>
              <a:xfrm>
                <a:off x="14015755" y="1543355"/>
                <a:ext cx="768159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 smtClean="0"/>
                  <a:t>节点</a:t>
                </a:r>
                <a:r>
                  <a:rPr lang="en-US" altLang="zh-CN" dirty="0" smtClean="0"/>
                  <a:t>4</a:t>
                </a:r>
                <a:endParaRPr lang="zh-CN" altLang="en-US" dirty="0"/>
              </a:p>
            </p:txBody>
          </p:sp>
          <p:pic>
            <p:nvPicPr>
              <p:cNvPr id="59" name="图片 58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755339" y="4714435"/>
                <a:ext cx="1257300" cy="323850"/>
              </a:xfrm>
              <a:prstGeom prst="rect">
                <a:avLst/>
              </a:prstGeom>
            </p:spPr>
          </p:pic>
          <p:sp>
            <p:nvSpPr>
              <p:cNvPr id="61" name="文本框 60"/>
              <p:cNvSpPr txBox="1"/>
              <p:nvPr/>
            </p:nvSpPr>
            <p:spPr>
              <a:xfrm>
                <a:off x="11284903" y="5665209"/>
                <a:ext cx="272222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400" b="1" dirty="0" smtClean="0"/>
                  <a:t>模型并行训练方式</a:t>
                </a:r>
                <a:endParaRPr lang="zh-CN" altLang="en-US" sz="2400" b="1" dirty="0"/>
              </a:p>
            </p:txBody>
          </p:sp>
        </p:grpSp>
        <p:sp>
          <p:nvSpPr>
            <p:cNvPr id="62" name="文本框 61"/>
            <p:cNvSpPr txBox="1"/>
            <p:nvPr/>
          </p:nvSpPr>
          <p:spPr>
            <a:xfrm>
              <a:off x="9895544" y="-124658"/>
              <a:ext cx="1088760" cy="400110"/>
            </a:xfrm>
            <a:prstGeom prst="rect">
              <a:avLst/>
            </a:prstGeom>
            <a:solidFill>
              <a:srgbClr val="C4D6A0"/>
            </a:solidFill>
          </p:spPr>
          <p:txBody>
            <a:bodyPr wrap="none" rtlCol="0">
              <a:spAutoFit/>
            </a:bodyPr>
            <a:lstStyle/>
            <a:p>
              <a:r>
                <a:rPr lang="zh-CN" altLang="en-US" sz="2000" dirty="0" smtClean="0"/>
                <a:t>子模型</a:t>
              </a:r>
              <a:r>
                <a:rPr lang="en-US" altLang="zh-CN" sz="2000" dirty="0" smtClean="0"/>
                <a:t>1</a:t>
              </a:r>
              <a:endParaRPr lang="zh-CN" altLang="en-US" sz="2000" dirty="0"/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11182237" y="-129862"/>
              <a:ext cx="1088760" cy="400110"/>
            </a:xfrm>
            <a:prstGeom prst="rect">
              <a:avLst/>
            </a:prstGeom>
            <a:solidFill>
              <a:srgbClr val="D9958F"/>
            </a:solidFill>
          </p:spPr>
          <p:txBody>
            <a:bodyPr wrap="none" rtlCol="0">
              <a:spAutoFit/>
            </a:bodyPr>
            <a:lstStyle/>
            <a:p>
              <a:r>
                <a:rPr lang="zh-CN" altLang="en-US" sz="2000" dirty="0" smtClean="0"/>
                <a:t>子模型</a:t>
              </a:r>
              <a:r>
                <a:rPr lang="en-US" altLang="zh-CN" sz="2000" dirty="0" smtClean="0"/>
                <a:t>2</a:t>
              </a:r>
              <a:endParaRPr lang="zh-CN" altLang="en-US" sz="2000" dirty="0"/>
            </a:p>
          </p:txBody>
        </p:sp>
        <p:sp>
          <p:nvSpPr>
            <p:cNvPr id="64" name="文本框 63"/>
            <p:cNvSpPr txBox="1"/>
            <p:nvPr/>
          </p:nvSpPr>
          <p:spPr>
            <a:xfrm>
              <a:off x="12466351" y="-129346"/>
              <a:ext cx="1088760" cy="400110"/>
            </a:xfrm>
            <a:prstGeom prst="rect">
              <a:avLst/>
            </a:prstGeom>
            <a:solidFill>
              <a:srgbClr val="FCB803"/>
            </a:solidFill>
          </p:spPr>
          <p:txBody>
            <a:bodyPr wrap="none" rtlCol="0">
              <a:spAutoFit/>
            </a:bodyPr>
            <a:lstStyle/>
            <a:p>
              <a:r>
                <a:rPr lang="zh-CN" altLang="en-US" sz="2000" dirty="0" smtClean="0"/>
                <a:t>子模型</a:t>
              </a:r>
              <a:r>
                <a:rPr lang="en-US" altLang="zh-CN" sz="2000" dirty="0" smtClean="0"/>
                <a:t>3</a:t>
              </a:r>
              <a:endParaRPr lang="zh-CN" altLang="en-US" sz="2000" dirty="0"/>
            </a:p>
          </p:txBody>
        </p:sp>
        <p:sp>
          <p:nvSpPr>
            <p:cNvPr id="65" name="文本框 64"/>
            <p:cNvSpPr txBox="1"/>
            <p:nvPr/>
          </p:nvSpPr>
          <p:spPr>
            <a:xfrm>
              <a:off x="13728254" y="-122420"/>
              <a:ext cx="1088760" cy="400110"/>
            </a:xfrm>
            <a:prstGeom prst="rect">
              <a:avLst/>
            </a:prstGeom>
            <a:solidFill>
              <a:srgbClr val="8CB3F2"/>
            </a:solidFill>
          </p:spPr>
          <p:txBody>
            <a:bodyPr wrap="none" rtlCol="0">
              <a:spAutoFit/>
            </a:bodyPr>
            <a:lstStyle/>
            <a:p>
              <a:r>
                <a:rPr lang="zh-CN" altLang="en-US" sz="2000" dirty="0" smtClean="0"/>
                <a:t>子模型</a:t>
              </a:r>
              <a:r>
                <a:rPr lang="en-US" altLang="zh-CN" sz="2000" dirty="0" smtClean="0"/>
                <a:t>4</a:t>
              </a:r>
              <a:endParaRPr lang="zh-CN" altLang="en-U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910151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组合 106"/>
          <p:cNvGrpSpPr/>
          <p:nvPr/>
        </p:nvGrpSpPr>
        <p:grpSpPr>
          <a:xfrm>
            <a:off x="276028" y="0"/>
            <a:ext cx="11679997" cy="6641479"/>
            <a:chOff x="276028" y="0"/>
            <a:chExt cx="11679997" cy="6641479"/>
          </a:xfrm>
        </p:grpSpPr>
        <p:pic>
          <p:nvPicPr>
            <p:cNvPr id="68" name="图片 6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0117" y="0"/>
              <a:ext cx="11525908" cy="6641479"/>
            </a:xfrm>
            <a:prstGeom prst="rect">
              <a:avLst/>
            </a:prstGeom>
          </p:spPr>
        </p:pic>
        <p:sp>
          <p:nvSpPr>
            <p:cNvPr id="73" name="圆角矩形 72"/>
            <p:cNvSpPr/>
            <p:nvPr/>
          </p:nvSpPr>
          <p:spPr>
            <a:xfrm>
              <a:off x="1530086" y="5993236"/>
              <a:ext cx="1612490" cy="403123"/>
            </a:xfrm>
            <a:prstGeom prst="roundRect">
              <a:avLst/>
            </a:prstGeom>
            <a:solidFill>
              <a:srgbClr val="C4D6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1464725" y="5958025"/>
              <a:ext cx="182243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小批量</a:t>
              </a:r>
              <a:r>
                <a:rPr lang="zh-CN" altLang="en-US" sz="2400" b="1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数据</a:t>
              </a:r>
              <a:endPara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74" name="圆角矩形 73"/>
            <p:cNvSpPr/>
            <p:nvPr/>
          </p:nvSpPr>
          <p:spPr>
            <a:xfrm>
              <a:off x="3924241" y="5993236"/>
              <a:ext cx="1612490" cy="403123"/>
            </a:xfrm>
            <a:prstGeom prst="roundRect">
              <a:avLst/>
            </a:prstGeom>
            <a:solidFill>
              <a:srgbClr val="D9958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75" name="文本框 74"/>
            <p:cNvSpPr txBox="1"/>
            <p:nvPr/>
          </p:nvSpPr>
          <p:spPr>
            <a:xfrm>
              <a:off x="3858880" y="5958025"/>
              <a:ext cx="182243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小批量</a:t>
              </a:r>
              <a:r>
                <a:rPr lang="zh-CN" altLang="en-US" sz="2400" b="1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数据</a:t>
              </a:r>
              <a:endPara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76" name="圆角矩形 75"/>
            <p:cNvSpPr/>
            <p:nvPr/>
          </p:nvSpPr>
          <p:spPr>
            <a:xfrm>
              <a:off x="6183997" y="5993236"/>
              <a:ext cx="1612490" cy="403123"/>
            </a:xfrm>
            <a:prstGeom prst="roundRect">
              <a:avLst/>
            </a:prstGeom>
            <a:solidFill>
              <a:srgbClr val="FCB8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77" name="文本框 76"/>
            <p:cNvSpPr txBox="1"/>
            <p:nvPr/>
          </p:nvSpPr>
          <p:spPr>
            <a:xfrm>
              <a:off x="6118636" y="5958025"/>
              <a:ext cx="182243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小批量</a:t>
              </a:r>
              <a:r>
                <a:rPr lang="zh-CN" altLang="en-US" sz="2400" b="1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数据</a:t>
              </a:r>
              <a:endPara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78" name="圆角矩形 77"/>
            <p:cNvSpPr/>
            <p:nvPr/>
          </p:nvSpPr>
          <p:spPr>
            <a:xfrm>
              <a:off x="8531342" y="5993185"/>
              <a:ext cx="1612490" cy="403123"/>
            </a:xfrm>
            <a:prstGeom prst="roundRect">
              <a:avLst/>
            </a:prstGeom>
            <a:solidFill>
              <a:srgbClr val="8CB3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79" name="文本框 78"/>
            <p:cNvSpPr txBox="1"/>
            <p:nvPr/>
          </p:nvSpPr>
          <p:spPr>
            <a:xfrm>
              <a:off x="8465981" y="5957974"/>
              <a:ext cx="182243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小批量</a:t>
              </a:r>
              <a:r>
                <a:rPr lang="zh-CN" altLang="en-US" sz="2400" b="1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数据</a:t>
              </a:r>
              <a:endPara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81" name="矩形 80"/>
            <p:cNvSpPr/>
            <p:nvPr/>
          </p:nvSpPr>
          <p:spPr>
            <a:xfrm>
              <a:off x="9578340" y="5448300"/>
              <a:ext cx="1341120" cy="26924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82" name="矩形 81"/>
            <p:cNvSpPr/>
            <p:nvPr/>
          </p:nvSpPr>
          <p:spPr>
            <a:xfrm>
              <a:off x="10005060" y="5466894"/>
              <a:ext cx="1341120" cy="26924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83" name="矩形 82"/>
            <p:cNvSpPr/>
            <p:nvPr/>
          </p:nvSpPr>
          <p:spPr>
            <a:xfrm>
              <a:off x="10614905" y="4917440"/>
              <a:ext cx="1341120" cy="327614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84" name="矩形 83"/>
            <p:cNvSpPr/>
            <p:nvPr/>
          </p:nvSpPr>
          <p:spPr>
            <a:xfrm>
              <a:off x="8450580" y="2651760"/>
              <a:ext cx="1341120" cy="22479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85" name="矩形 84"/>
            <p:cNvSpPr/>
            <p:nvPr/>
          </p:nvSpPr>
          <p:spPr>
            <a:xfrm>
              <a:off x="6118636" y="2651760"/>
              <a:ext cx="1341120" cy="22479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86" name="矩形 85"/>
            <p:cNvSpPr/>
            <p:nvPr/>
          </p:nvSpPr>
          <p:spPr>
            <a:xfrm>
              <a:off x="3858880" y="2651760"/>
              <a:ext cx="1341120" cy="22479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87" name="矩形 86"/>
            <p:cNvSpPr/>
            <p:nvPr/>
          </p:nvSpPr>
          <p:spPr>
            <a:xfrm>
              <a:off x="1599124" y="2651760"/>
              <a:ext cx="1341120" cy="22479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89" name="文本框 88"/>
            <p:cNvSpPr txBox="1"/>
            <p:nvPr/>
          </p:nvSpPr>
          <p:spPr>
            <a:xfrm>
              <a:off x="10401168" y="4917440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参数更新</a:t>
              </a:r>
              <a:endPara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90" name="文本框 89"/>
            <p:cNvSpPr txBox="1"/>
            <p:nvPr/>
          </p:nvSpPr>
          <p:spPr>
            <a:xfrm>
              <a:off x="1749276" y="2542466"/>
              <a:ext cx="83067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节点</a:t>
              </a:r>
              <a:r>
                <a:rPr lang="en-US" altLang="zh-CN" sz="2000" b="1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1</a:t>
              </a:r>
              <a:endPara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92" name="文本框 91"/>
            <p:cNvSpPr txBox="1"/>
            <p:nvPr/>
          </p:nvSpPr>
          <p:spPr>
            <a:xfrm>
              <a:off x="4127945" y="2533321"/>
              <a:ext cx="83067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节点</a:t>
              </a:r>
              <a:r>
                <a:rPr lang="en-US" altLang="zh-CN" sz="2000" b="1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2</a:t>
              </a:r>
              <a:endPara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93" name="文本框 92"/>
            <p:cNvSpPr txBox="1"/>
            <p:nvPr/>
          </p:nvSpPr>
          <p:spPr>
            <a:xfrm>
              <a:off x="6421558" y="2542466"/>
              <a:ext cx="83067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节点</a:t>
              </a:r>
              <a:r>
                <a:rPr lang="en-US" altLang="zh-CN" sz="2000" b="1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3</a:t>
              </a:r>
              <a:endPara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94" name="文本框 93"/>
            <p:cNvSpPr txBox="1"/>
            <p:nvPr/>
          </p:nvSpPr>
          <p:spPr>
            <a:xfrm>
              <a:off x="8747579" y="2533321"/>
              <a:ext cx="83067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节点</a:t>
              </a:r>
              <a:r>
                <a:rPr lang="en-US" altLang="zh-CN" sz="2000" b="1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4</a:t>
              </a:r>
              <a:endPara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96" name="矩形 95"/>
            <p:cNvSpPr/>
            <p:nvPr/>
          </p:nvSpPr>
          <p:spPr>
            <a:xfrm>
              <a:off x="8342088" y="1674568"/>
              <a:ext cx="1662972" cy="489511"/>
            </a:xfrm>
            <a:prstGeom prst="rect">
              <a:avLst/>
            </a:prstGeom>
            <a:solidFill>
              <a:srgbClr val="8CB3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97" name="矩形 96"/>
            <p:cNvSpPr/>
            <p:nvPr/>
          </p:nvSpPr>
          <p:spPr>
            <a:xfrm>
              <a:off x="6025294" y="1674568"/>
              <a:ext cx="1662972" cy="489511"/>
            </a:xfrm>
            <a:prstGeom prst="rect">
              <a:avLst/>
            </a:prstGeom>
            <a:solidFill>
              <a:srgbClr val="FCB8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98" name="矩形 97"/>
            <p:cNvSpPr/>
            <p:nvPr/>
          </p:nvSpPr>
          <p:spPr>
            <a:xfrm>
              <a:off x="3697953" y="1661789"/>
              <a:ext cx="1662972" cy="489511"/>
            </a:xfrm>
            <a:prstGeom prst="rect">
              <a:avLst/>
            </a:prstGeom>
            <a:solidFill>
              <a:srgbClr val="D9958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99" name="矩形 98"/>
            <p:cNvSpPr/>
            <p:nvPr/>
          </p:nvSpPr>
          <p:spPr>
            <a:xfrm>
              <a:off x="1438198" y="1674568"/>
              <a:ext cx="1662972" cy="489511"/>
            </a:xfrm>
            <a:prstGeom prst="rect">
              <a:avLst/>
            </a:prstGeom>
            <a:solidFill>
              <a:srgbClr val="C4D6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95" name="文本框 94"/>
            <p:cNvSpPr txBox="1"/>
            <p:nvPr/>
          </p:nvSpPr>
          <p:spPr>
            <a:xfrm>
              <a:off x="8354744" y="1675711"/>
              <a:ext cx="156966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参数</a:t>
              </a:r>
              <a:r>
                <a:rPr lang="en-US" altLang="zh-CN" sz="2400" b="1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/</a:t>
              </a:r>
              <a:r>
                <a:rPr lang="zh-CN" altLang="en-US" sz="2400" b="1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梯度</a:t>
              </a:r>
              <a:endPara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00" name="文本框 99"/>
            <p:cNvSpPr txBox="1"/>
            <p:nvPr/>
          </p:nvSpPr>
          <p:spPr>
            <a:xfrm>
              <a:off x="6085110" y="1675711"/>
              <a:ext cx="156966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参数</a:t>
              </a:r>
              <a:r>
                <a:rPr lang="en-US" altLang="zh-CN" sz="2400" b="1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/</a:t>
              </a:r>
              <a:r>
                <a:rPr lang="zh-CN" altLang="en-US" sz="2400" b="1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梯度</a:t>
              </a:r>
              <a:endPara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01" name="文本框 100"/>
            <p:cNvSpPr txBox="1"/>
            <p:nvPr/>
          </p:nvSpPr>
          <p:spPr>
            <a:xfrm>
              <a:off x="3763043" y="1675711"/>
              <a:ext cx="156966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参数</a:t>
              </a:r>
              <a:r>
                <a:rPr lang="en-US" altLang="zh-CN" sz="2400" b="1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/</a:t>
              </a:r>
              <a:r>
                <a:rPr lang="zh-CN" altLang="en-US" sz="2400" b="1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梯度</a:t>
              </a:r>
              <a:endPara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02" name="文本框 101"/>
            <p:cNvSpPr txBox="1"/>
            <p:nvPr/>
          </p:nvSpPr>
          <p:spPr>
            <a:xfrm>
              <a:off x="1436303" y="1682800"/>
              <a:ext cx="156966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参数</a:t>
              </a:r>
              <a:r>
                <a:rPr lang="en-US" altLang="zh-CN" sz="2400" b="1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/</a:t>
              </a:r>
              <a:r>
                <a:rPr lang="zh-CN" altLang="en-US" sz="2400" b="1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梯度</a:t>
              </a:r>
              <a:endPara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04" name="矩形 103"/>
            <p:cNvSpPr/>
            <p:nvPr/>
          </p:nvSpPr>
          <p:spPr>
            <a:xfrm>
              <a:off x="276028" y="620166"/>
              <a:ext cx="2934531" cy="578714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03" name="文本框 102"/>
            <p:cNvSpPr txBox="1"/>
            <p:nvPr/>
          </p:nvSpPr>
          <p:spPr>
            <a:xfrm>
              <a:off x="1848743" y="880744"/>
              <a:ext cx="80021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通信</a:t>
              </a:r>
              <a:endPara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05" name="矩形 104"/>
            <p:cNvSpPr/>
            <p:nvPr/>
          </p:nvSpPr>
          <p:spPr>
            <a:xfrm>
              <a:off x="4214046" y="150252"/>
              <a:ext cx="3245710" cy="479708"/>
            </a:xfrm>
            <a:prstGeom prst="rect">
              <a:avLst/>
            </a:prstGeom>
            <a:solidFill>
              <a:srgbClr val="F7B1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06" name="文本框 105"/>
            <p:cNvSpPr txBox="1"/>
            <p:nvPr/>
          </p:nvSpPr>
          <p:spPr>
            <a:xfrm>
              <a:off x="5051282" y="168295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400" b="1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数据平均</a:t>
              </a:r>
              <a:endPara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40221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组合 35"/>
          <p:cNvGrpSpPr/>
          <p:nvPr/>
        </p:nvGrpSpPr>
        <p:grpSpPr>
          <a:xfrm>
            <a:off x="1613127" y="0"/>
            <a:ext cx="8655044" cy="6858000"/>
            <a:chOff x="8548406" y="-289560"/>
            <a:chExt cx="7526125" cy="5963478"/>
          </a:xfrm>
        </p:grpSpPr>
        <p:grpSp>
          <p:nvGrpSpPr>
            <p:cNvPr id="37" name="组合 36"/>
            <p:cNvGrpSpPr/>
            <p:nvPr/>
          </p:nvGrpSpPr>
          <p:grpSpPr>
            <a:xfrm>
              <a:off x="8548406" y="-289560"/>
              <a:ext cx="7526125" cy="5963478"/>
              <a:chOff x="8548406" y="-289560"/>
              <a:chExt cx="7526125" cy="5963478"/>
            </a:xfrm>
          </p:grpSpPr>
          <p:pic>
            <p:nvPicPr>
              <p:cNvPr id="42" name="图片 41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48406" y="-289560"/>
                <a:ext cx="7486650" cy="5945280"/>
              </a:xfrm>
              <a:prstGeom prst="rect">
                <a:avLst/>
              </a:prstGeom>
            </p:spPr>
          </p:pic>
          <p:sp>
            <p:nvSpPr>
              <p:cNvPr id="43" name="矩形 42"/>
              <p:cNvSpPr/>
              <p:nvPr/>
            </p:nvSpPr>
            <p:spPr>
              <a:xfrm>
                <a:off x="8672229" y="-198232"/>
                <a:ext cx="1114426" cy="587215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44" name="流程图: 终止 43"/>
              <p:cNvSpPr/>
              <p:nvPr/>
            </p:nvSpPr>
            <p:spPr>
              <a:xfrm>
                <a:off x="10158130" y="5259593"/>
                <a:ext cx="914400" cy="228600"/>
              </a:xfrm>
              <a:prstGeom prst="flowChartTerminator">
                <a:avLst/>
              </a:prstGeom>
              <a:solidFill>
                <a:srgbClr val="A5A5A5"/>
              </a:solidFill>
              <a:ln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45" name="流程图: 终止 44"/>
              <p:cNvSpPr/>
              <p:nvPr/>
            </p:nvSpPr>
            <p:spPr>
              <a:xfrm>
                <a:off x="11444005" y="5259593"/>
                <a:ext cx="914400" cy="228600"/>
              </a:xfrm>
              <a:prstGeom prst="flowChartTerminator">
                <a:avLst/>
              </a:prstGeom>
              <a:solidFill>
                <a:srgbClr val="A5A5A5"/>
              </a:solidFill>
              <a:ln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46" name="流程图: 终止 45"/>
              <p:cNvSpPr/>
              <p:nvPr/>
            </p:nvSpPr>
            <p:spPr>
              <a:xfrm>
                <a:off x="12729880" y="5259593"/>
                <a:ext cx="914400" cy="228600"/>
              </a:xfrm>
              <a:prstGeom prst="flowChartTerminator">
                <a:avLst/>
              </a:prstGeom>
              <a:solidFill>
                <a:srgbClr val="A5A5A5"/>
              </a:solidFill>
              <a:ln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47" name="流程图: 终止 46"/>
              <p:cNvSpPr/>
              <p:nvPr/>
            </p:nvSpPr>
            <p:spPr>
              <a:xfrm>
                <a:off x="14015755" y="5259593"/>
                <a:ext cx="914400" cy="228600"/>
              </a:xfrm>
              <a:prstGeom prst="flowChartTerminator">
                <a:avLst/>
              </a:prstGeom>
              <a:solidFill>
                <a:srgbClr val="A5A5A5"/>
              </a:solidFill>
              <a:ln>
                <a:solidFill>
                  <a:srgbClr val="A5A5A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48" name="文本框 47"/>
              <p:cNvSpPr txBox="1"/>
              <p:nvPr/>
            </p:nvSpPr>
            <p:spPr>
              <a:xfrm>
                <a:off x="10045450" y="5198141"/>
                <a:ext cx="1171169" cy="32115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小批量</a:t>
                </a:r>
                <a:r>
                  <a:rPr lang="zh-CN" altLang="en-US" b="1" dirty="0" smtClean="0">
                    <a:latin typeface="宋体" panose="02010600030101010101" pitchFamily="2" charset="-122"/>
                    <a:ea typeface="宋体" panose="02010600030101010101" pitchFamily="2" charset="-122"/>
                  </a:rPr>
                  <a:t>数据</a:t>
                </a:r>
                <a:endParaRPr lang="zh-CN" altLang="en-US" b="1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49" name="文本框 48"/>
              <p:cNvSpPr txBox="1"/>
              <p:nvPr/>
            </p:nvSpPr>
            <p:spPr>
              <a:xfrm>
                <a:off x="11344788" y="5198141"/>
                <a:ext cx="1171169" cy="32115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小批量</a:t>
                </a:r>
                <a:r>
                  <a:rPr lang="zh-CN" altLang="en-US" b="1" dirty="0" smtClean="0">
                    <a:latin typeface="宋体" panose="02010600030101010101" pitchFamily="2" charset="-122"/>
                    <a:ea typeface="宋体" panose="02010600030101010101" pitchFamily="2" charset="-122"/>
                  </a:rPr>
                  <a:t>数据</a:t>
                </a:r>
                <a:endParaRPr lang="zh-CN" altLang="en-US" b="1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50" name="文本框 49"/>
              <p:cNvSpPr txBox="1"/>
              <p:nvPr/>
            </p:nvSpPr>
            <p:spPr>
              <a:xfrm>
                <a:off x="12617278" y="5198142"/>
                <a:ext cx="1171169" cy="32115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小批量</a:t>
                </a:r>
                <a:r>
                  <a:rPr lang="zh-CN" altLang="en-US" b="1" dirty="0" smtClean="0">
                    <a:latin typeface="宋体" panose="02010600030101010101" pitchFamily="2" charset="-122"/>
                    <a:ea typeface="宋体" panose="02010600030101010101" pitchFamily="2" charset="-122"/>
                  </a:rPr>
                  <a:t>数据</a:t>
                </a:r>
                <a:endParaRPr lang="zh-CN" altLang="en-US" b="1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51" name="文本框 50"/>
              <p:cNvSpPr txBox="1"/>
              <p:nvPr/>
            </p:nvSpPr>
            <p:spPr>
              <a:xfrm>
                <a:off x="13911073" y="5198142"/>
                <a:ext cx="1171169" cy="32115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小批量</a:t>
                </a:r>
                <a:r>
                  <a:rPr lang="zh-CN" altLang="en-US" b="1" dirty="0" smtClean="0">
                    <a:latin typeface="宋体" panose="02010600030101010101" pitchFamily="2" charset="-122"/>
                    <a:ea typeface="宋体" panose="02010600030101010101" pitchFamily="2" charset="-122"/>
                  </a:rPr>
                  <a:t>数据</a:t>
                </a:r>
                <a:endParaRPr lang="zh-CN" altLang="en-US" b="1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52" name="文本框 51"/>
              <p:cNvSpPr txBox="1"/>
              <p:nvPr/>
            </p:nvSpPr>
            <p:spPr>
              <a:xfrm>
                <a:off x="9212851" y="2611643"/>
                <a:ext cx="654025" cy="6690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200" b="1" dirty="0" smtClean="0">
                    <a:latin typeface="宋体" panose="02010600030101010101" pitchFamily="2" charset="-122"/>
                    <a:ea typeface="宋体" panose="02010600030101010101" pitchFamily="2" charset="-122"/>
                  </a:rPr>
                  <a:t>模型</a:t>
                </a:r>
                <a:endParaRPr lang="en-US" altLang="zh-CN" sz="2200" b="1" dirty="0" smtClean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r>
                  <a:rPr lang="zh-CN" altLang="en-US" sz="2200" b="1" dirty="0" smtClean="0">
                    <a:latin typeface="宋体" panose="02010600030101010101" pitchFamily="2" charset="-122"/>
                    <a:ea typeface="宋体" panose="02010600030101010101" pitchFamily="2" charset="-122"/>
                  </a:rPr>
                  <a:t>划分</a:t>
                </a:r>
                <a:endParaRPr lang="zh-CN" altLang="en-US" sz="2200" b="1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53" name="文本框 52"/>
              <p:cNvSpPr txBox="1"/>
              <p:nvPr/>
            </p:nvSpPr>
            <p:spPr>
              <a:xfrm>
                <a:off x="14927060" y="3679930"/>
                <a:ext cx="1147471" cy="37468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200" b="1" dirty="0" smtClean="0">
                    <a:latin typeface="宋体" panose="02010600030101010101" pitchFamily="2" charset="-122"/>
                    <a:ea typeface="宋体" panose="02010600030101010101" pitchFamily="2" charset="-122"/>
                  </a:rPr>
                  <a:t>参数更新</a:t>
                </a:r>
                <a:endParaRPr lang="zh-CN" altLang="en-US" sz="2200" b="1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54" name="矩形 53"/>
              <p:cNvSpPr/>
              <p:nvPr/>
            </p:nvSpPr>
            <p:spPr>
              <a:xfrm>
                <a:off x="13082305" y="373268"/>
                <a:ext cx="1143000" cy="70485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55" name="矩形 54"/>
              <p:cNvSpPr/>
              <p:nvPr/>
            </p:nvSpPr>
            <p:spPr>
              <a:xfrm>
                <a:off x="9786655" y="1211468"/>
                <a:ext cx="1143000" cy="70485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56" name="矩形 55"/>
              <p:cNvSpPr/>
              <p:nvPr/>
            </p:nvSpPr>
            <p:spPr>
              <a:xfrm>
                <a:off x="10575479" y="1019480"/>
                <a:ext cx="1143000" cy="3048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57" name="矩形 56"/>
              <p:cNvSpPr/>
              <p:nvPr/>
            </p:nvSpPr>
            <p:spPr>
              <a:xfrm>
                <a:off x="12882280" y="989417"/>
                <a:ext cx="1143000" cy="31432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58" name="矩形 57"/>
              <p:cNvSpPr/>
              <p:nvPr/>
            </p:nvSpPr>
            <p:spPr>
              <a:xfrm>
                <a:off x="13871129" y="1211468"/>
                <a:ext cx="1143000" cy="70485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59" name="文本框 58"/>
              <p:cNvSpPr txBox="1"/>
              <p:nvPr/>
            </p:nvSpPr>
            <p:spPr>
              <a:xfrm>
                <a:off x="12993485" y="397496"/>
                <a:ext cx="1887641" cy="37468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200" b="1" dirty="0" smtClean="0">
                    <a:latin typeface="宋体" panose="02010600030101010101" pitchFamily="2" charset="-122"/>
                    <a:ea typeface="宋体" panose="02010600030101010101" pitchFamily="2" charset="-122"/>
                  </a:rPr>
                  <a:t>前向和反向传播</a:t>
                </a:r>
                <a:endParaRPr lang="zh-CN" altLang="en-US" sz="2200" b="1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60" name="文本框 59"/>
              <p:cNvSpPr txBox="1"/>
              <p:nvPr/>
            </p:nvSpPr>
            <p:spPr>
              <a:xfrm>
                <a:off x="10158130" y="1573418"/>
                <a:ext cx="722328" cy="34792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000" b="1" dirty="0" smtClean="0">
                    <a:latin typeface="宋体" panose="02010600030101010101" pitchFamily="2" charset="-122"/>
                    <a:ea typeface="宋体" panose="02010600030101010101" pitchFamily="2" charset="-122"/>
                  </a:rPr>
                  <a:t>节点</a:t>
                </a:r>
                <a:r>
                  <a:rPr lang="en-US" altLang="zh-CN" sz="2000" b="1" dirty="0" smtClean="0">
                    <a:latin typeface="宋体" panose="02010600030101010101" pitchFamily="2" charset="-122"/>
                    <a:ea typeface="宋体" panose="02010600030101010101" pitchFamily="2" charset="-122"/>
                  </a:rPr>
                  <a:t>1</a:t>
                </a:r>
                <a:endParaRPr lang="zh-CN" altLang="en-US" sz="2000" b="1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61" name="文本框 60"/>
              <p:cNvSpPr txBox="1"/>
              <p:nvPr/>
            </p:nvSpPr>
            <p:spPr>
              <a:xfrm>
                <a:off x="11093194" y="904376"/>
                <a:ext cx="722328" cy="34792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000" b="1" dirty="0" smtClean="0">
                    <a:latin typeface="宋体" panose="02010600030101010101" pitchFamily="2" charset="-122"/>
                    <a:ea typeface="宋体" panose="02010600030101010101" pitchFamily="2" charset="-122"/>
                  </a:rPr>
                  <a:t>节点</a:t>
                </a:r>
                <a:r>
                  <a:rPr lang="en-US" altLang="zh-CN" sz="2000" b="1" dirty="0" smtClean="0">
                    <a:latin typeface="宋体" panose="02010600030101010101" pitchFamily="2" charset="-122"/>
                    <a:ea typeface="宋体" panose="02010600030101010101" pitchFamily="2" charset="-122"/>
                  </a:rPr>
                  <a:t>2</a:t>
                </a:r>
                <a:endParaRPr lang="zh-CN" altLang="en-US" sz="2000" b="1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62" name="文本框 61"/>
              <p:cNvSpPr txBox="1"/>
              <p:nvPr/>
            </p:nvSpPr>
            <p:spPr>
              <a:xfrm>
                <a:off x="12850202" y="907500"/>
                <a:ext cx="722328" cy="34792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000" b="1" dirty="0" smtClean="0">
                    <a:latin typeface="宋体" panose="02010600030101010101" pitchFamily="2" charset="-122"/>
                    <a:ea typeface="宋体" panose="02010600030101010101" pitchFamily="2" charset="-122"/>
                  </a:rPr>
                  <a:t>节点</a:t>
                </a:r>
                <a:r>
                  <a:rPr lang="en-US" altLang="zh-CN" sz="2000" b="1" dirty="0" smtClean="0">
                    <a:latin typeface="宋体" panose="02010600030101010101" pitchFamily="2" charset="-122"/>
                    <a:ea typeface="宋体" panose="02010600030101010101" pitchFamily="2" charset="-122"/>
                  </a:rPr>
                  <a:t>3</a:t>
                </a:r>
                <a:endParaRPr lang="zh-CN" altLang="en-US" sz="2000" b="1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63" name="文本框 62"/>
              <p:cNvSpPr txBox="1"/>
              <p:nvPr/>
            </p:nvSpPr>
            <p:spPr>
              <a:xfrm>
                <a:off x="14015755" y="1543355"/>
                <a:ext cx="722328" cy="34792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000" b="1" dirty="0" smtClean="0">
                    <a:latin typeface="宋体" panose="02010600030101010101" pitchFamily="2" charset="-122"/>
                    <a:ea typeface="宋体" panose="02010600030101010101" pitchFamily="2" charset="-122"/>
                  </a:rPr>
                  <a:t>节点</a:t>
                </a:r>
                <a:r>
                  <a:rPr lang="en-US" altLang="zh-CN" sz="2000" b="1" dirty="0" smtClean="0">
                    <a:latin typeface="宋体" panose="02010600030101010101" pitchFamily="2" charset="-122"/>
                    <a:ea typeface="宋体" panose="02010600030101010101" pitchFamily="2" charset="-122"/>
                  </a:rPr>
                  <a:t>4</a:t>
                </a:r>
                <a:endParaRPr lang="zh-CN" altLang="en-US" sz="2000" b="1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pic>
            <p:nvPicPr>
              <p:cNvPr id="64" name="图片 63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755339" y="4714435"/>
                <a:ext cx="1257300" cy="323850"/>
              </a:xfrm>
              <a:prstGeom prst="rect">
                <a:avLst/>
              </a:prstGeom>
            </p:spPr>
          </p:pic>
        </p:grpSp>
        <p:sp>
          <p:nvSpPr>
            <p:cNvPr id="38" name="文本框 37"/>
            <p:cNvSpPr txBox="1"/>
            <p:nvPr/>
          </p:nvSpPr>
          <p:spPr>
            <a:xfrm>
              <a:off x="9927521" y="-113282"/>
              <a:ext cx="1024807" cy="374684"/>
            </a:xfrm>
            <a:prstGeom prst="rect">
              <a:avLst/>
            </a:prstGeom>
            <a:solidFill>
              <a:srgbClr val="C4D6A0"/>
            </a:solidFill>
          </p:spPr>
          <p:txBody>
            <a:bodyPr wrap="none" rtlCol="0">
              <a:spAutoFit/>
            </a:bodyPr>
            <a:lstStyle/>
            <a:p>
              <a:r>
                <a:rPr lang="zh-CN" altLang="en-US" sz="2200" b="1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子模型</a:t>
              </a:r>
              <a:r>
                <a:rPr lang="en-US" altLang="zh-CN" sz="2200" b="1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1</a:t>
              </a:r>
              <a:endPara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11198745" y="-113282"/>
              <a:ext cx="1024807" cy="374684"/>
            </a:xfrm>
            <a:prstGeom prst="rect">
              <a:avLst/>
            </a:prstGeom>
            <a:solidFill>
              <a:srgbClr val="D9958F"/>
            </a:solidFill>
          </p:spPr>
          <p:txBody>
            <a:bodyPr wrap="none" rtlCol="0">
              <a:spAutoFit/>
            </a:bodyPr>
            <a:lstStyle/>
            <a:p>
              <a:r>
                <a:rPr lang="zh-CN" altLang="en-US" sz="2200" b="1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子模型</a:t>
              </a:r>
              <a:r>
                <a:rPr lang="en-US" altLang="zh-CN" sz="2200" b="1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2</a:t>
              </a:r>
              <a:endPara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12469969" y="-113282"/>
              <a:ext cx="1024807" cy="374684"/>
            </a:xfrm>
            <a:prstGeom prst="rect">
              <a:avLst/>
            </a:prstGeom>
            <a:solidFill>
              <a:srgbClr val="FCB803"/>
            </a:solidFill>
          </p:spPr>
          <p:txBody>
            <a:bodyPr wrap="none" rtlCol="0">
              <a:spAutoFit/>
            </a:bodyPr>
            <a:lstStyle/>
            <a:p>
              <a:r>
                <a:rPr lang="zh-CN" altLang="en-US" sz="2200" b="1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子模型</a:t>
              </a:r>
              <a:r>
                <a:rPr lang="en-US" altLang="zh-CN" sz="2200" b="1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3</a:t>
              </a:r>
              <a:endPara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13741194" y="-109809"/>
              <a:ext cx="1024807" cy="374684"/>
            </a:xfrm>
            <a:prstGeom prst="rect">
              <a:avLst/>
            </a:prstGeom>
            <a:solidFill>
              <a:srgbClr val="8CB3F2"/>
            </a:solidFill>
          </p:spPr>
          <p:txBody>
            <a:bodyPr wrap="none" rtlCol="0">
              <a:spAutoFit/>
            </a:bodyPr>
            <a:lstStyle/>
            <a:p>
              <a:r>
                <a:rPr lang="zh-CN" altLang="en-US" sz="2200" b="1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子模型</a:t>
              </a:r>
              <a:r>
                <a:rPr lang="en-US" altLang="zh-CN" sz="2200" b="1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4</a:t>
              </a:r>
              <a:endPara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03947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组合 83"/>
          <p:cNvGrpSpPr/>
          <p:nvPr/>
        </p:nvGrpSpPr>
        <p:grpSpPr>
          <a:xfrm>
            <a:off x="493776" y="1115568"/>
            <a:ext cx="11091672" cy="3355848"/>
            <a:chOff x="493776" y="1115568"/>
            <a:chExt cx="11091672" cy="3355848"/>
          </a:xfrm>
        </p:grpSpPr>
        <p:sp>
          <p:nvSpPr>
            <p:cNvPr id="2" name="圆角矩形 1"/>
            <p:cNvSpPr/>
            <p:nvPr/>
          </p:nvSpPr>
          <p:spPr>
            <a:xfrm>
              <a:off x="493776" y="1115568"/>
              <a:ext cx="11091672" cy="3355848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3177298" y="1263543"/>
              <a:ext cx="572464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400" b="1" dirty="0" smtClean="0"/>
                <a:t>基于性能预测的分布式深度学习架构优化</a:t>
              </a:r>
              <a:endParaRPr lang="zh-CN" altLang="en-US" sz="2400" b="1" dirty="0"/>
            </a:p>
          </p:txBody>
        </p:sp>
        <p:sp>
          <p:nvSpPr>
            <p:cNvPr id="4" name="矩形 3"/>
            <p:cNvSpPr/>
            <p:nvPr/>
          </p:nvSpPr>
          <p:spPr>
            <a:xfrm>
              <a:off x="937983" y="2367181"/>
              <a:ext cx="2569107" cy="1656179"/>
            </a:xfrm>
            <a:prstGeom prst="rect">
              <a:avLst/>
            </a:prstGeom>
            <a:noFill/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b="1" dirty="0">
                <a:solidFill>
                  <a:schemeClr val="tx1"/>
                </a:solidFill>
              </a:endParaRPr>
            </a:p>
          </p:txBody>
        </p:sp>
        <p:sp>
          <p:nvSpPr>
            <p:cNvPr id="62" name="文本框 61"/>
            <p:cNvSpPr txBox="1"/>
            <p:nvPr/>
          </p:nvSpPr>
          <p:spPr>
            <a:xfrm>
              <a:off x="1553121" y="1892808"/>
              <a:ext cx="146706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 smtClean="0"/>
                <a:t>研究内容一</a:t>
              </a:r>
              <a:endParaRPr lang="zh-CN" altLang="en-US" sz="2000" b="1" dirty="0"/>
            </a:p>
          </p:txBody>
        </p:sp>
        <p:sp>
          <p:nvSpPr>
            <p:cNvPr id="63" name="矩形 62"/>
            <p:cNvSpPr/>
            <p:nvPr/>
          </p:nvSpPr>
          <p:spPr>
            <a:xfrm>
              <a:off x="976041" y="2441334"/>
              <a:ext cx="2492991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000" b="1" dirty="0"/>
                <a:t>分布式训练性能预测</a:t>
              </a:r>
            </a:p>
          </p:txBody>
        </p:sp>
        <p:sp>
          <p:nvSpPr>
            <p:cNvPr id="64" name="矩形 63"/>
            <p:cNvSpPr/>
            <p:nvPr/>
          </p:nvSpPr>
          <p:spPr>
            <a:xfrm>
              <a:off x="1093654" y="2839766"/>
              <a:ext cx="2236510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000" dirty="0" smtClean="0"/>
                <a:t>计算时间预测模型</a:t>
              </a:r>
              <a:endParaRPr lang="zh-CN" altLang="en-US" sz="2000" dirty="0"/>
            </a:p>
          </p:txBody>
        </p:sp>
        <p:sp>
          <p:nvSpPr>
            <p:cNvPr id="65" name="矩形 64"/>
            <p:cNvSpPr/>
            <p:nvPr/>
          </p:nvSpPr>
          <p:spPr>
            <a:xfrm>
              <a:off x="1104282" y="3529702"/>
              <a:ext cx="2236510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000" dirty="0"/>
                <a:t>通信</a:t>
              </a:r>
              <a:r>
                <a:rPr lang="zh-CN" altLang="en-US" sz="2000" dirty="0" smtClean="0"/>
                <a:t>时间预测模型</a:t>
              </a:r>
              <a:endParaRPr lang="zh-CN" altLang="en-US" sz="2000" dirty="0"/>
            </a:p>
          </p:txBody>
        </p:sp>
        <p:sp>
          <p:nvSpPr>
            <p:cNvPr id="66" name="加号 65"/>
            <p:cNvSpPr/>
            <p:nvPr/>
          </p:nvSpPr>
          <p:spPr>
            <a:xfrm>
              <a:off x="2073946" y="3231302"/>
              <a:ext cx="297180" cy="294721"/>
            </a:xfrm>
            <a:prstGeom prst="mathPlus">
              <a:avLst>
                <a:gd name="adj1" fmla="val 15103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67" name="矩形 66"/>
            <p:cNvSpPr/>
            <p:nvPr/>
          </p:nvSpPr>
          <p:spPr>
            <a:xfrm>
              <a:off x="4714906" y="2367181"/>
              <a:ext cx="2569107" cy="1656179"/>
            </a:xfrm>
            <a:prstGeom prst="rect">
              <a:avLst/>
            </a:prstGeom>
            <a:noFill/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b="1" dirty="0">
                <a:solidFill>
                  <a:schemeClr val="tx1"/>
                </a:solidFill>
              </a:endParaRPr>
            </a:p>
          </p:txBody>
        </p:sp>
        <p:sp>
          <p:nvSpPr>
            <p:cNvPr id="68" name="文本框 67"/>
            <p:cNvSpPr txBox="1"/>
            <p:nvPr/>
          </p:nvSpPr>
          <p:spPr>
            <a:xfrm>
              <a:off x="5330044" y="1892808"/>
              <a:ext cx="146706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 smtClean="0"/>
                <a:t>研究内容二</a:t>
              </a:r>
              <a:endParaRPr lang="zh-CN" altLang="en-US" sz="2000" b="1" dirty="0"/>
            </a:p>
          </p:txBody>
        </p:sp>
        <p:sp>
          <p:nvSpPr>
            <p:cNvPr id="69" name="矩形 68"/>
            <p:cNvSpPr/>
            <p:nvPr/>
          </p:nvSpPr>
          <p:spPr>
            <a:xfrm>
              <a:off x="4881208" y="2441334"/>
              <a:ext cx="2236510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000" b="1" dirty="0" smtClean="0"/>
                <a:t>神经网络结构优化</a:t>
              </a:r>
              <a:endParaRPr lang="zh-CN" altLang="en-US" sz="2000" b="1" dirty="0"/>
            </a:p>
          </p:txBody>
        </p:sp>
        <p:sp>
          <p:nvSpPr>
            <p:cNvPr id="70" name="矩形 69"/>
            <p:cNvSpPr/>
            <p:nvPr/>
          </p:nvSpPr>
          <p:spPr>
            <a:xfrm>
              <a:off x="5122665" y="2838997"/>
              <a:ext cx="1723550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000" dirty="0" smtClean="0"/>
                <a:t>结构搜索空间</a:t>
              </a:r>
              <a:endParaRPr lang="zh-CN" altLang="en-US" sz="2000" dirty="0"/>
            </a:p>
          </p:txBody>
        </p:sp>
        <p:sp>
          <p:nvSpPr>
            <p:cNvPr id="71" name="矩形 70"/>
            <p:cNvSpPr/>
            <p:nvPr/>
          </p:nvSpPr>
          <p:spPr>
            <a:xfrm>
              <a:off x="5394163" y="3529702"/>
              <a:ext cx="1210589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000" dirty="0" smtClean="0"/>
                <a:t>优化策略</a:t>
              </a:r>
              <a:endParaRPr lang="zh-CN" altLang="en-US" sz="2000" dirty="0"/>
            </a:p>
          </p:txBody>
        </p:sp>
        <p:sp>
          <p:nvSpPr>
            <p:cNvPr id="72" name="加号 71"/>
            <p:cNvSpPr/>
            <p:nvPr/>
          </p:nvSpPr>
          <p:spPr>
            <a:xfrm>
              <a:off x="5850867" y="3239876"/>
              <a:ext cx="297180" cy="294721"/>
            </a:xfrm>
            <a:prstGeom prst="mathPlus">
              <a:avLst>
                <a:gd name="adj1" fmla="val 15103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73" name="矩形 72"/>
            <p:cNvSpPr/>
            <p:nvPr/>
          </p:nvSpPr>
          <p:spPr>
            <a:xfrm>
              <a:off x="8491829" y="2367181"/>
              <a:ext cx="2569107" cy="1656179"/>
            </a:xfrm>
            <a:prstGeom prst="rect">
              <a:avLst/>
            </a:prstGeom>
            <a:noFill/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b="1" dirty="0">
                <a:solidFill>
                  <a:schemeClr val="tx1"/>
                </a:solidFill>
              </a:endParaRPr>
            </a:p>
          </p:txBody>
        </p:sp>
        <p:sp>
          <p:nvSpPr>
            <p:cNvPr id="74" name="文本框 73"/>
            <p:cNvSpPr txBox="1"/>
            <p:nvPr/>
          </p:nvSpPr>
          <p:spPr>
            <a:xfrm>
              <a:off x="9106967" y="1892808"/>
              <a:ext cx="146706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 smtClean="0"/>
                <a:t>研究内容三</a:t>
              </a:r>
              <a:endParaRPr lang="zh-CN" altLang="en-US" sz="2000" b="1" dirty="0"/>
            </a:p>
          </p:txBody>
        </p:sp>
        <p:sp>
          <p:nvSpPr>
            <p:cNvPr id="75" name="矩形 74"/>
            <p:cNvSpPr/>
            <p:nvPr/>
          </p:nvSpPr>
          <p:spPr>
            <a:xfrm>
              <a:off x="8658130" y="2441334"/>
              <a:ext cx="2236510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000" b="1" dirty="0" smtClean="0"/>
                <a:t>通信拓扑结构优化</a:t>
              </a:r>
              <a:endParaRPr lang="zh-CN" altLang="en-US" sz="2000" b="1" dirty="0"/>
            </a:p>
          </p:txBody>
        </p:sp>
        <p:sp>
          <p:nvSpPr>
            <p:cNvPr id="76" name="矩形 75"/>
            <p:cNvSpPr/>
            <p:nvPr/>
          </p:nvSpPr>
          <p:spPr>
            <a:xfrm>
              <a:off x="8816823" y="2838997"/>
              <a:ext cx="191911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000" dirty="0" smtClean="0"/>
                <a:t>All-Reduce</a:t>
              </a:r>
              <a:r>
                <a:rPr lang="zh-CN" altLang="en-US" sz="2000" dirty="0" smtClean="0"/>
                <a:t>架构</a:t>
              </a:r>
              <a:endParaRPr lang="zh-CN" altLang="en-US" sz="2000" dirty="0"/>
            </a:p>
          </p:txBody>
        </p:sp>
        <p:sp>
          <p:nvSpPr>
            <p:cNvPr id="77" name="矩形 76"/>
            <p:cNvSpPr/>
            <p:nvPr/>
          </p:nvSpPr>
          <p:spPr>
            <a:xfrm>
              <a:off x="8786366" y="3529702"/>
              <a:ext cx="1980030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000" dirty="0" smtClean="0"/>
                <a:t>稀疏连通拓扑图</a:t>
              </a:r>
              <a:endParaRPr lang="zh-CN" altLang="en-US" sz="2000" dirty="0"/>
            </a:p>
          </p:txBody>
        </p:sp>
        <p:sp>
          <p:nvSpPr>
            <p:cNvPr id="78" name="加号 77"/>
            <p:cNvSpPr/>
            <p:nvPr/>
          </p:nvSpPr>
          <p:spPr>
            <a:xfrm>
              <a:off x="9627791" y="3239875"/>
              <a:ext cx="297180" cy="294721"/>
            </a:xfrm>
            <a:prstGeom prst="mathPlus">
              <a:avLst>
                <a:gd name="adj1" fmla="val 15103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82" name="右箭头 81"/>
            <p:cNvSpPr/>
            <p:nvPr/>
          </p:nvSpPr>
          <p:spPr>
            <a:xfrm>
              <a:off x="3875491" y="2986084"/>
              <a:ext cx="493578" cy="250788"/>
            </a:xfrm>
            <a:prstGeom prst="rightArrow">
              <a:avLst>
                <a:gd name="adj1" fmla="val 36119"/>
                <a:gd name="adj2" fmla="val 53470"/>
              </a:avLst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83" name="右箭头 82"/>
            <p:cNvSpPr/>
            <p:nvPr/>
          </p:nvSpPr>
          <p:spPr>
            <a:xfrm>
              <a:off x="7641132" y="2980514"/>
              <a:ext cx="493578" cy="250788"/>
            </a:xfrm>
            <a:prstGeom prst="rightArrow">
              <a:avLst>
                <a:gd name="adj1" fmla="val 36119"/>
                <a:gd name="adj2" fmla="val 53470"/>
              </a:avLst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</p:grpSp>
    </p:spTree>
    <p:extLst>
      <p:ext uri="{BB962C8B-B14F-4D97-AF65-F5344CB8AC3E}">
        <p14:creationId xmlns:p14="http://schemas.microsoft.com/office/powerpoint/2010/main" val="905719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792480" y="159401"/>
            <a:ext cx="10607040" cy="5488364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379113" y="314693"/>
            <a:ext cx="9370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/>
              <a:t>面向分布式深度学习的</a:t>
            </a:r>
            <a:r>
              <a:rPr lang="zh-CN" altLang="en-US" sz="2400" b="1" dirty="0" smtClean="0"/>
              <a:t>训练时间</a:t>
            </a:r>
            <a:r>
              <a:rPr lang="zh-CN" altLang="en-US" sz="2400" b="1" dirty="0"/>
              <a:t>预测与优化</a:t>
            </a:r>
          </a:p>
        </p:txBody>
      </p:sp>
      <p:sp>
        <p:nvSpPr>
          <p:cNvPr id="4" name="矩形 3"/>
          <p:cNvSpPr/>
          <p:nvPr/>
        </p:nvSpPr>
        <p:spPr>
          <a:xfrm>
            <a:off x="3411816" y="1290144"/>
            <a:ext cx="5395634" cy="1300401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 dirty="0">
              <a:solidFill>
                <a:schemeClr val="tx1"/>
              </a:solidFill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5363478" y="800801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 smtClean="0"/>
              <a:t>研究内容一</a:t>
            </a:r>
            <a:endParaRPr lang="zh-CN" altLang="en-US" sz="2000" b="1" dirty="0"/>
          </a:p>
        </p:txBody>
      </p:sp>
      <p:sp>
        <p:nvSpPr>
          <p:cNvPr id="63" name="矩形 62"/>
          <p:cNvSpPr/>
          <p:nvPr/>
        </p:nvSpPr>
        <p:spPr>
          <a:xfrm>
            <a:off x="4292467" y="1419274"/>
            <a:ext cx="36070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b="1" dirty="0" smtClean="0"/>
              <a:t>面向一般拓扑的训练时间预测</a:t>
            </a:r>
            <a:endParaRPr lang="zh-CN" altLang="en-US" sz="2000" b="1" dirty="0"/>
          </a:p>
        </p:txBody>
      </p:sp>
      <p:sp>
        <p:nvSpPr>
          <p:cNvPr id="64" name="矩形 63"/>
          <p:cNvSpPr/>
          <p:nvPr/>
        </p:nvSpPr>
        <p:spPr>
          <a:xfrm>
            <a:off x="3619046" y="1926191"/>
            <a:ext cx="22365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dirty="0" smtClean="0"/>
              <a:t>计算时间预测模型</a:t>
            </a:r>
            <a:endParaRPr lang="zh-CN" altLang="en-US" sz="2000" dirty="0"/>
          </a:p>
        </p:txBody>
      </p:sp>
      <p:sp>
        <p:nvSpPr>
          <p:cNvPr id="65" name="矩形 64"/>
          <p:cNvSpPr/>
          <p:nvPr/>
        </p:nvSpPr>
        <p:spPr>
          <a:xfrm>
            <a:off x="6338470" y="1918715"/>
            <a:ext cx="22365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dirty="0"/>
              <a:t>通信</a:t>
            </a:r>
            <a:r>
              <a:rPr lang="zh-CN" altLang="en-US" sz="2000" dirty="0" smtClean="0"/>
              <a:t>时间预测模型</a:t>
            </a:r>
            <a:endParaRPr lang="zh-CN" altLang="en-US" sz="2000" dirty="0"/>
          </a:p>
        </p:txBody>
      </p:sp>
      <p:sp>
        <p:nvSpPr>
          <p:cNvPr id="66" name="加号 65"/>
          <p:cNvSpPr/>
          <p:nvPr/>
        </p:nvSpPr>
        <p:spPr>
          <a:xfrm>
            <a:off x="5948423" y="1971410"/>
            <a:ext cx="297180" cy="294721"/>
          </a:xfrm>
          <a:prstGeom prst="mathPlus">
            <a:avLst>
              <a:gd name="adj1" fmla="val 1510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68" name="文本框 67"/>
          <p:cNvSpPr txBox="1"/>
          <p:nvPr/>
        </p:nvSpPr>
        <p:spPr>
          <a:xfrm>
            <a:off x="2671933" y="3589995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 smtClean="0"/>
              <a:t>研究内容二</a:t>
            </a:r>
            <a:endParaRPr lang="zh-CN" altLang="en-US" sz="2000" b="1" dirty="0"/>
          </a:p>
        </p:txBody>
      </p:sp>
      <p:sp>
        <p:nvSpPr>
          <p:cNvPr id="69" name="矩形 68"/>
          <p:cNvSpPr/>
          <p:nvPr/>
        </p:nvSpPr>
        <p:spPr>
          <a:xfrm>
            <a:off x="1389530" y="4133122"/>
            <a:ext cx="403187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b="1" dirty="0"/>
              <a:t>计及训练时间的神经网络结构优化</a:t>
            </a:r>
          </a:p>
        </p:txBody>
      </p:sp>
      <p:sp>
        <p:nvSpPr>
          <p:cNvPr id="70" name="矩形 69"/>
          <p:cNvSpPr/>
          <p:nvPr/>
        </p:nvSpPr>
        <p:spPr>
          <a:xfrm>
            <a:off x="1535218" y="4612784"/>
            <a:ext cx="17235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dirty="0" smtClean="0"/>
              <a:t>结构搜索空间</a:t>
            </a:r>
            <a:endParaRPr lang="zh-CN" altLang="en-US" sz="2000" dirty="0"/>
          </a:p>
        </p:txBody>
      </p:sp>
      <p:sp>
        <p:nvSpPr>
          <p:cNvPr id="71" name="矩形 70"/>
          <p:cNvSpPr/>
          <p:nvPr/>
        </p:nvSpPr>
        <p:spPr>
          <a:xfrm>
            <a:off x="3554057" y="4611305"/>
            <a:ext cx="121058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dirty="0" smtClean="0"/>
              <a:t>优化策略</a:t>
            </a:r>
            <a:endParaRPr lang="zh-CN" altLang="en-US" sz="2000" dirty="0"/>
          </a:p>
        </p:txBody>
      </p:sp>
      <p:sp>
        <p:nvSpPr>
          <p:cNvPr id="72" name="加号 71"/>
          <p:cNvSpPr/>
          <p:nvPr/>
        </p:nvSpPr>
        <p:spPr>
          <a:xfrm>
            <a:off x="3256877" y="4660190"/>
            <a:ext cx="297180" cy="294721"/>
          </a:xfrm>
          <a:prstGeom prst="mathPlus">
            <a:avLst>
              <a:gd name="adj1" fmla="val 1510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73" name="矩形 72"/>
          <p:cNvSpPr/>
          <p:nvPr/>
        </p:nvSpPr>
        <p:spPr>
          <a:xfrm>
            <a:off x="6562165" y="4064368"/>
            <a:ext cx="4477871" cy="1128921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 dirty="0">
              <a:solidFill>
                <a:schemeClr val="tx1"/>
              </a:solidFill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8067566" y="3589995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 smtClean="0"/>
              <a:t>研究内容三</a:t>
            </a:r>
            <a:endParaRPr lang="zh-CN" altLang="en-US" sz="2000" b="1" dirty="0"/>
          </a:p>
        </p:txBody>
      </p:sp>
      <p:sp>
        <p:nvSpPr>
          <p:cNvPr id="75" name="矩形 74"/>
          <p:cNvSpPr/>
          <p:nvPr/>
        </p:nvSpPr>
        <p:spPr>
          <a:xfrm>
            <a:off x="6785163" y="4133122"/>
            <a:ext cx="403187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b="1" dirty="0"/>
              <a:t>面向高效通信的参数同步拓扑优化</a:t>
            </a:r>
          </a:p>
        </p:txBody>
      </p:sp>
      <p:sp>
        <p:nvSpPr>
          <p:cNvPr id="76" name="矩形 75"/>
          <p:cNvSpPr/>
          <p:nvPr/>
        </p:nvSpPr>
        <p:spPr>
          <a:xfrm>
            <a:off x="6599471" y="4612784"/>
            <a:ext cx="191911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000" dirty="0" smtClean="0"/>
              <a:t>All-Reduce</a:t>
            </a:r>
            <a:r>
              <a:rPr lang="zh-CN" altLang="en-US" sz="2000" dirty="0" smtClean="0"/>
              <a:t>架构</a:t>
            </a:r>
            <a:endParaRPr lang="zh-CN" altLang="en-US" sz="2000" dirty="0"/>
          </a:p>
        </p:txBody>
      </p:sp>
      <p:sp>
        <p:nvSpPr>
          <p:cNvPr id="77" name="矩形 76"/>
          <p:cNvSpPr/>
          <p:nvPr/>
        </p:nvSpPr>
        <p:spPr>
          <a:xfrm>
            <a:off x="8961907" y="4607495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dirty="0" smtClean="0"/>
              <a:t>稀疏连通拓扑图</a:t>
            </a:r>
            <a:endParaRPr lang="zh-CN" altLang="en-US" sz="2000" dirty="0"/>
          </a:p>
        </p:txBody>
      </p:sp>
      <p:sp>
        <p:nvSpPr>
          <p:cNvPr id="78" name="加号 77"/>
          <p:cNvSpPr/>
          <p:nvPr/>
        </p:nvSpPr>
        <p:spPr>
          <a:xfrm>
            <a:off x="8591657" y="4660190"/>
            <a:ext cx="297180" cy="294721"/>
          </a:xfrm>
          <a:prstGeom prst="mathPlus">
            <a:avLst>
              <a:gd name="adj1" fmla="val 1510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cxnSp>
        <p:nvCxnSpPr>
          <p:cNvPr id="6" name="肘形连接符 5"/>
          <p:cNvCxnSpPr>
            <a:stCxn id="68" idx="0"/>
            <a:endCxn id="74" idx="0"/>
          </p:cNvCxnSpPr>
          <p:nvPr/>
        </p:nvCxnSpPr>
        <p:spPr>
          <a:xfrm rot="5400000" flipH="1" flipV="1">
            <a:off x="6103283" y="892179"/>
            <a:ext cx="12700" cy="5395633"/>
          </a:xfrm>
          <a:prstGeom prst="bentConnector3">
            <a:avLst>
              <a:gd name="adj1" fmla="val 3282354"/>
            </a:avLst>
          </a:prstGeom>
          <a:ln w="28575"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/>
          <p:cNvCxnSpPr>
            <a:stCxn id="4" idx="2"/>
          </p:cNvCxnSpPr>
          <p:nvPr/>
        </p:nvCxnSpPr>
        <p:spPr>
          <a:xfrm>
            <a:off x="6109633" y="2590545"/>
            <a:ext cx="0" cy="58294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3891444" y="2804160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 smtClean="0"/>
              <a:t>计算时间优化</a:t>
            </a:r>
            <a:endParaRPr lang="zh-CN" altLang="en-US" b="1" dirty="0"/>
          </a:p>
        </p:txBody>
      </p:sp>
      <p:sp>
        <p:nvSpPr>
          <p:cNvPr id="32" name="文本框 31"/>
          <p:cNvSpPr txBox="1"/>
          <p:nvPr/>
        </p:nvSpPr>
        <p:spPr>
          <a:xfrm>
            <a:off x="6825570" y="2804160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 smtClean="0"/>
              <a:t>通信时间优化</a:t>
            </a:r>
            <a:endParaRPr lang="zh-CN" altLang="en-US" b="1" dirty="0"/>
          </a:p>
        </p:txBody>
      </p:sp>
      <p:sp>
        <p:nvSpPr>
          <p:cNvPr id="30" name="矩形 29"/>
          <p:cNvSpPr/>
          <p:nvPr/>
        </p:nvSpPr>
        <p:spPr>
          <a:xfrm>
            <a:off x="1166531" y="4064368"/>
            <a:ext cx="4477871" cy="1128921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6402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66636" y="810084"/>
            <a:ext cx="3607078" cy="56913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66636" y="810084"/>
            <a:ext cx="3607078" cy="262653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200759" y="900591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研究内容一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277430" y="1536187"/>
            <a:ext cx="31854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面向一般拓扑的训练时间预测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4307166" y="810084"/>
            <a:ext cx="3607078" cy="56913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4307166" y="810084"/>
            <a:ext cx="3607078" cy="262653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5377171" y="900591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研究内容二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4677859" y="1397688"/>
            <a:ext cx="289757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面向高效通信的参数同步拓扑优化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4507513" y="2062487"/>
            <a:ext cx="3206384" cy="33855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基于通信约束的优化问题设计</a:t>
            </a:r>
            <a:endParaRPr lang="zh-CN" alt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4507513" y="2875281"/>
            <a:ext cx="3206384" cy="33855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参数同步拓扑优化问题求解框架</a:t>
            </a:r>
            <a:endParaRPr lang="zh-CN" alt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2" name="加号 41"/>
          <p:cNvSpPr/>
          <p:nvPr/>
        </p:nvSpPr>
        <p:spPr>
          <a:xfrm>
            <a:off x="5996405" y="2528995"/>
            <a:ext cx="228600" cy="236380"/>
          </a:xfrm>
          <a:prstGeom prst="mathPlus">
            <a:avLst>
              <a:gd name="adj1" fmla="val 1229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347161" y="2067246"/>
            <a:ext cx="3046021" cy="33855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基于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MLP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的计算时间预测</a:t>
            </a:r>
            <a:endParaRPr lang="zh-CN" alt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347162" y="2875281"/>
            <a:ext cx="3046021" cy="33855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基于分析模型的通信时间预测</a:t>
            </a:r>
            <a:endParaRPr lang="zh-CN" alt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8" name="加号 47"/>
          <p:cNvSpPr/>
          <p:nvPr/>
        </p:nvSpPr>
        <p:spPr>
          <a:xfrm>
            <a:off x="1755874" y="2535049"/>
            <a:ext cx="228600" cy="236380"/>
          </a:xfrm>
          <a:prstGeom prst="mathPlus">
            <a:avLst>
              <a:gd name="adj1" fmla="val 1229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8547696" y="810084"/>
            <a:ext cx="3607078" cy="56913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8547696" y="810084"/>
            <a:ext cx="3607078" cy="262653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9617701" y="900591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研究内容三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8547696" y="1536187"/>
            <a:ext cx="36070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带宽自适应的通信数据压缩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8656320" y="2067246"/>
            <a:ext cx="3413760" cy="33855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基于数据映射的量化策略</a:t>
            </a:r>
            <a:endParaRPr lang="zh-CN" alt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8656320" y="2867921"/>
            <a:ext cx="3413760" cy="33855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带宽自适应量化分布式训练算法</a:t>
            </a:r>
            <a:endParaRPr lang="zh-CN" alt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5" name="加号 54"/>
          <p:cNvSpPr/>
          <p:nvPr/>
        </p:nvSpPr>
        <p:spPr>
          <a:xfrm>
            <a:off x="10268824" y="2528995"/>
            <a:ext cx="228600" cy="236380"/>
          </a:xfrm>
          <a:prstGeom prst="mathPlus">
            <a:avLst>
              <a:gd name="adj1" fmla="val 1229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4507513" y="4930003"/>
            <a:ext cx="3206384" cy="525780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4528410" y="5008227"/>
            <a:ext cx="3185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提高分布式深度学习训练效率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0" name="任意多边形 109"/>
          <p:cNvSpPr/>
          <p:nvPr/>
        </p:nvSpPr>
        <p:spPr>
          <a:xfrm>
            <a:off x="1834174" y="3436620"/>
            <a:ext cx="8584950" cy="1445627"/>
          </a:xfrm>
          <a:custGeom>
            <a:avLst/>
            <a:gdLst>
              <a:gd name="connsiteX0" fmla="*/ 0 w 8584950"/>
              <a:gd name="connsiteY0" fmla="*/ 0 h 1445627"/>
              <a:gd name="connsiteX1" fmla="*/ 72000 w 8584950"/>
              <a:gd name="connsiteY1" fmla="*/ 0 h 1445627"/>
              <a:gd name="connsiteX2" fmla="*/ 72000 w 8584950"/>
              <a:gd name="connsiteY2" fmla="*/ 900000 h 1445627"/>
              <a:gd name="connsiteX3" fmla="*/ 4244145 w 8584950"/>
              <a:gd name="connsiteY3" fmla="*/ 900000 h 1445627"/>
              <a:gd name="connsiteX4" fmla="*/ 4244145 w 8584950"/>
              <a:gd name="connsiteY4" fmla="*/ 5447 h 1445627"/>
              <a:gd name="connsiteX5" fmla="*/ 4324155 w 8584950"/>
              <a:gd name="connsiteY5" fmla="*/ 5447 h 1445627"/>
              <a:gd name="connsiteX6" fmla="*/ 4324155 w 8584950"/>
              <a:gd name="connsiteY6" fmla="*/ 900000 h 1445627"/>
              <a:gd name="connsiteX7" fmla="*/ 8512950 w 8584950"/>
              <a:gd name="connsiteY7" fmla="*/ 900000 h 1445627"/>
              <a:gd name="connsiteX8" fmla="*/ 8512950 w 8584950"/>
              <a:gd name="connsiteY8" fmla="*/ 0 h 1445627"/>
              <a:gd name="connsiteX9" fmla="*/ 8584950 w 8584950"/>
              <a:gd name="connsiteY9" fmla="*/ 0 h 1445627"/>
              <a:gd name="connsiteX10" fmla="*/ 8584950 w 8584950"/>
              <a:gd name="connsiteY10" fmla="*/ 900000 h 1445627"/>
              <a:gd name="connsiteX11" fmla="*/ 8584950 w 8584950"/>
              <a:gd name="connsiteY11" fmla="*/ 972000 h 1445627"/>
              <a:gd name="connsiteX12" fmla="*/ 4324155 w 8584950"/>
              <a:gd name="connsiteY12" fmla="*/ 972000 h 1445627"/>
              <a:gd name="connsiteX13" fmla="*/ 4324155 w 8584950"/>
              <a:gd name="connsiteY13" fmla="*/ 1314503 h 1445627"/>
              <a:gd name="connsiteX14" fmla="*/ 4364160 w 8584950"/>
              <a:gd name="connsiteY14" fmla="*/ 1314503 h 1445627"/>
              <a:gd name="connsiteX15" fmla="*/ 4284150 w 8584950"/>
              <a:gd name="connsiteY15" fmla="*/ 1445627 h 1445627"/>
              <a:gd name="connsiteX16" fmla="*/ 4204140 w 8584950"/>
              <a:gd name="connsiteY16" fmla="*/ 1314503 h 1445627"/>
              <a:gd name="connsiteX17" fmla="*/ 4244145 w 8584950"/>
              <a:gd name="connsiteY17" fmla="*/ 1314503 h 1445627"/>
              <a:gd name="connsiteX18" fmla="*/ 4244145 w 8584950"/>
              <a:gd name="connsiteY18" fmla="*/ 972000 h 1445627"/>
              <a:gd name="connsiteX19" fmla="*/ 0 w 8584950"/>
              <a:gd name="connsiteY19" fmla="*/ 972000 h 1445627"/>
              <a:gd name="connsiteX20" fmla="*/ 0 w 8584950"/>
              <a:gd name="connsiteY20" fmla="*/ 900000 h 1445627"/>
              <a:gd name="connsiteX21" fmla="*/ 0 w 8584950"/>
              <a:gd name="connsiteY21" fmla="*/ 900000 h 1445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8584950" h="1445627">
                <a:moveTo>
                  <a:pt x="0" y="0"/>
                </a:moveTo>
                <a:lnTo>
                  <a:pt x="72000" y="0"/>
                </a:lnTo>
                <a:lnTo>
                  <a:pt x="72000" y="900000"/>
                </a:lnTo>
                <a:lnTo>
                  <a:pt x="4244145" y="900000"/>
                </a:lnTo>
                <a:lnTo>
                  <a:pt x="4244145" y="5447"/>
                </a:lnTo>
                <a:lnTo>
                  <a:pt x="4324155" y="5447"/>
                </a:lnTo>
                <a:lnTo>
                  <a:pt x="4324155" y="900000"/>
                </a:lnTo>
                <a:lnTo>
                  <a:pt x="8512950" y="900000"/>
                </a:lnTo>
                <a:lnTo>
                  <a:pt x="8512950" y="0"/>
                </a:lnTo>
                <a:lnTo>
                  <a:pt x="8584950" y="0"/>
                </a:lnTo>
                <a:lnTo>
                  <a:pt x="8584950" y="900000"/>
                </a:lnTo>
                <a:lnTo>
                  <a:pt x="8584950" y="972000"/>
                </a:lnTo>
                <a:lnTo>
                  <a:pt x="4324155" y="972000"/>
                </a:lnTo>
                <a:lnTo>
                  <a:pt x="4324155" y="1314503"/>
                </a:lnTo>
                <a:lnTo>
                  <a:pt x="4364160" y="1314503"/>
                </a:lnTo>
                <a:lnTo>
                  <a:pt x="4284150" y="1445627"/>
                </a:lnTo>
                <a:lnTo>
                  <a:pt x="4204140" y="1314503"/>
                </a:lnTo>
                <a:lnTo>
                  <a:pt x="4244145" y="1314503"/>
                </a:lnTo>
                <a:lnTo>
                  <a:pt x="4244145" y="972000"/>
                </a:lnTo>
                <a:lnTo>
                  <a:pt x="0" y="972000"/>
                </a:lnTo>
                <a:lnTo>
                  <a:pt x="0" y="900000"/>
                </a:lnTo>
                <a:lnTo>
                  <a:pt x="0" y="900000"/>
                </a:lnTo>
                <a:close/>
              </a:path>
            </a:pathLst>
          </a:cu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1" name="文本框 110"/>
          <p:cNvSpPr txBox="1"/>
          <p:nvPr/>
        </p:nvSpPr>
        <p:spPr>
          <a:xfrm>
            <a:off x="1923514" y="3536576"/>
            <a:ext cx="1826141" cy="6440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确定合适集群规模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分析性能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瓶颈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2" name="文本框 111"/>
          <p:cNvSpPr txBox="1"/>
          <p:nvPr/>
        </p:nvSpPr>
        <p:spPr>
          <a:xfrm>
            <a:off x="8791149" y="3536576"/>
            <a:ext cx="1620957" cy="6440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减少通信数据量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合理利用资源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3" name="文本框 112"/>
          <p:cNvSpPr txBox="1"/>
          <p:nvPr/>
        </p:nvSpPr>
        <p:spPr>
          <a:xfrm>
            <a:off x="6171664" y="3520161"/>
            <a:ext cx="1620957" cy="6440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提高一致性速度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减少通信开销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48653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5639435" y="1714500"/>
            <a:ext cx="3437888" cy="4286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5280836" y="3369679"/>
            <a:ext cx="2623359" cy="46699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4B1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5280836" y="2143125"/>
            <a:ext cx="2623359" cy="47625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4B1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5280836" y="1246444"/>
            <a:ext cx="2623359" cy="46070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4B1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2647952" y="3362326"/>
            <a:ext cx="2623359" cy="47625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4B1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2647952" y="2143126"/>
            <a:ext cx="2623359" cy="47625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4B1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2647952" y="1238252"/>
            <a:ext cx="2623359" cy="46889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4B1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2019298" y="3369679"/>
            <a:ext cx="619127" cy="4762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2019298" y="2143126"/>
            <a:ext cx="619127" cy="4762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019298" y="1238251"/>
            <a:ext cx="619127" cy="4762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019300" y="1238251"/>
            <a:ext cx="7058025" cy="47625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2019299" y="2143126"/>
            <a:ext cx="7058025" cy="47625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2019298" y="3362326"/>
            <a:ext cx="7058025" cy="47625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91825" y="1299903"/>
            <a:ext cx="845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GPU 0</a:t>
            </a:r>
            <a:endParaRPr lang="zh-CN" altLang="en-US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191825" y="2191714"/>
            <a:ext cx="845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GPU 1</a:t>
            </a:r>
            <a:endParaRPr lang="zh-CN" altLang="en-US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191825" y="3415785"/>
            <a:ext cx="857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GPU n</a:t>
            </a:r>
            <a:endParaRPr lang="zh-CN" altLang="en-US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694588" y="2729882"/>
            <a:ext cx="553998" cy="70788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AE" altLang="zh-CN" sz="24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……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2638426" y="1245604"/>
            <a:ext cx="0" cy="2600325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5271311" y="1245604"/>
            <a:ext cx="0" cy="2600325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左大括号 9"/>
          <p:cNvSpPr/>
          <p:nvPr/>
        </p:nvSpPr>
        <p:spPr>
          <a:xfrm rot="-5400000">
            <a:off x="5187696" y="1313537"/>
            <a:ext cx="176756" cy="5256241"/>
          </a:xfrm>
          <a:prstGeom prst="leftBrace">
            <a:avLst>
              <a:gd name="adj1" fmla="val 68208"/>
              <a:gd name="adj2" fmla="val 50000"/>
            </a:avLst>
          </a:prstGeom>
          <a:noFill/>
          <a:ln w="19050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9" name="左大括号 38"/>
          <p:cNvSpPr/>
          <p:nvPr/>
        </p:nvSpPr>
        <p:spPr>
          <a:xfrm rot="16200000">
            <a:off x="2245248" y="3627331"/>
            <a:ext cx="176757" cy="628652"/>
          </a:xfrm>
          <a:prstGeom prst="leftBrace">
            <a:avLst>
              <a:gd name="adj1" fmla="val 24871"/>
              <a:gd name="adj2" fmla="val 50000"/>
            </a:avLst>
          </a:prstGeom>
          <a:noFill/>
          <a:ln w="19050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5" name="左大括号 44"/>
          <p:cNvSpPr/>
          <p:nvPr/>
        </p:nvSpPr>
        <p:spPr>
          <a:xfrm rot="16200000">
            <a:off x="7270001" y="2222714"/>
            <a:ext cx="176758" cy="3437886"/>
          </a:xfrm>
          <a:prstGeom prst="leftBrace">
            <a:avLst>
              <a:gd name="adj1" fmla="val 68208"/>
              <a:gd name="adj2" fmla="val 50000"/>
            </a:avLst>
          </a:prstGeom>
          <a:noFill/>
          <a:ln w="19050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4268523"/>
              </p:ext>
            </p:extLst>
          </p:nvPr>
        </p:nvGraphicFramePr>
        <p:xfrm>
          <a:off x="2052436" y="4030036"/>
          <a:ext cx="562382" cy="4090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" name="AxMath" r:id="rId3" imgW="315000" imgH="228600" progId="Equation.AxMath">
                  <p:embed/>
                </p:oleObj>
              </mc:Choice>
              <mc:Fallback>
                <p:oleObj name="AxMath" r:id="rId3" imgW="315000" imgH="228600" progId="Equation.AxMath">
                  <p:embed/>
                  <p:pic>
                    <p:nvPicPr>
                      <p:cNvPr id="8" name="对象 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52436" y="4030036"/>
                        <a:ext cx="562382" cy="4090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1936131"/>
              </p:ext>
            </p:extLst>
          </p:nvPr>
        </p:nvGraphicFramePr>
        <p:xfrm>
          <a:off x="4968875" y="4030663"/>
          <a:ext cx="623888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" name="AxMath" r:id="rId5" imgW="347760" imgH="228600" progId="Equation.AxMath">
                  <p:embed/>
                </p:oleObj>
              </mc:Choice>
              <mc:Fallback>
                <p:oleObj name="AxMath" r:id="rId5" imgW="347760" imgH="228600" progId="Equation.AxMath">
                  <p:embed/>
                  <p:pic>
                    <p:nvPicPr>
                      <p:cNvPr id="33" name="对象 3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968875" y="4030663"/>
                        <a:ext cx="623888" cy="4079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1046946"/>
              </p:ext>
            </p:extLst>
          </p:nvPr>
        </p:nvGraphicFramePr>
        <p:xfrm>
          <a:off x="7019925" y="4030663"/>
          <a:ext cx="677863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7" name="AxMath" r:id="rId7" imgW="378000" imgH="228600" progId="Equation.AxMath">
                  <p:embed/>
                </p:oleObj>
              </mc:Choice>
              <mc:Fallback>
                <p:oleObj name="AxMath" r:id="rId7" imgW="378000" imgH="228600" progId="Equation.AxMath">
                  <p:embed/>
                  <p:pic>
                    <p:nvPicPr>
                      <p:cNvPr id="38" name="对象 3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019925" y="4030663"/>
                        <a:ext cx="677863" cy="4079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矩形 41"/>
          <p:cNvSpPr/>
          <p:nvPr/>
        </p:nvSpPr>
        <p:spPr>
          <a:xfrm>
            <a:off x="2051483" y="4576471"/>
            <a:ext cx="589109" cy="21012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680484" y="4511291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数据拷贝</a:t>
            </a:r>
            <a:endParaRPr lang="zh-CN" altLang="en-US" sz="16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3971587" y="4576471"/>
            <a:ext cx="589109" cy="210124"/>
          </a:xfrm>
          <a:prstGeom prst="rect">
            <a:avLst/>
          </a:prstGeom>
          <a:solidFill>
            <a:srgbClr val="F4B183"/>
          </a:solidFill>
          <a:ln>
            <a:solidFill>
              <a:srgbClr val="F4B1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4600588" y="4511291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节点本地计算</a:t>
            </a:r>
            <a:endParaRPr lang="zh-CN" altLang="en-US" sz="16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6298200" y="4576471"/>
            <a:ext cx="589109" cy="210124"/>
          </a:xfrm>
          <a:prstGeom prst="rect">
            <a:avLst/>
          </a:prstGeom>
          <a:solidFill>
            <a:srgbClr val="9DC3E6"/>
          </a:solidFill>
          <a:ln>
            <a:solidFill>
              <a:srgbClr val="9DC3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6887309" y="4511291"/>
            <a:ext cx="20313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节点之间的数据通信</a:t>
            </a:r>
            <a:endParaRPr lang="zh-CN" altLang="en-US" sz="16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5639435" y="2637557"/>
            <a:ext cx="3437888" cy="4286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7230108" y="3064696"/>
            <a:ext cx="346249" cy="361637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AE" altLang="zh-CN" sz="105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……</a:t>
            </a:r>
            <a:endParaRPr lang="zh-CN" altLang="en-US" sz="105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31542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组合 51"/>
          <p:cNvGrpSpPr/>
          <p:nvPr/>
        </p:nvGrpSpPr>
        <p:grpSpPr>
          <a:xfrm>
            <a:off x="933061" y="2412766"/>
            <a:ext cx="7487370" cy="3739211"/>
            <a:chOff x="933061" y="2412766"/>
            <a:chExt cx="7487370" cy="3739211"/>
          </a:xfrm>
        </p:grpSpPr>
        <p:sp>
          <p:nvSpPr>
            <p:cNvPr id="27" name="矩形 26"/>
            <p:cNvSpPr/>
            <p:nvPr/>
          </p:nvSpPr>
          <p:spPr>
            <a:xfrm>
              <a:off x="1876565" y="3175582"/>
              <a:ext cx="1107054" cy="411856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 smtClean="0">
                  <a:solidFill>
                    <a:schemeClr val="tx1"/>
                  </a:solidFill>
                </a:rPr>
                <a:t>网络种群</a:t>
              </a:r>
              <a:endParaRPr lang="zh-CN" altLang="en-US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1893178" y="3975752"/>
              <a:ext cx="1090441" cy="38876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 smtClean="0">
                  <a:solidFill>
                    <a:schemeClr val="tx1"/>
                  </a:solidFill>
                </a:rPr>
                <a:t>计算时间</a:t>
              </a:r>
              <a:endParaRPr lang="zh-CN" altLang="en-US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1466197" y="3619224"/>
              <a:ext cx="10054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 smtClean="0"/>
                <a:t>性能预测</a:t>
              </a:r>
              <a:endParaRPr lang="zh-CN" altLang="en-US" sz="1600" dirty="0"/>
            </a:p>
          </p:txBody>
        </p:sp>
        <p:sp>
          <p:nvSpPr>
            <p:cNvPr id="33" name="矩形 32"/>
            <p:cNvSpPr/>
            <p:nvPr/>
          </p:nvSpPr>
          <p:spPr>
            <a:xfrm>
              <a:off x="1893177" y="4749257"/>
              <a:ext cx="1090441" cy="38876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 smtClean="0">
                  <a:solidFill>
                    <a:schemeClr val="tx1"/>
                  </a:solidFill>
                </a:rPr>
                <a:t>种群分布</a:t>
              </a:r>
              <a:endParaRPr lang="zh-CN" altLang="en-US" sz="1600" b="1" dirty="0">
                <a:solidFill>
                  <a:schemeClr val="tx1"/>
                </a:solidFill>
              </a:endParaRPr>
            </a:p>
          </p:txBody>
        </p:sp>
        <p:cxnSp>
          <p:nvCxnSpPr>
            <p:cNvPr id="34" name="直接箭头连接符 33"/>
            <p:cNvCxnSpPr>
              <a:stCxn id="27" idx="2"/>
              <a:endCxn id="28" idx="0"/>
            </p:cNvCxnSpPr>
            <p:nvPr/>
          </p:nvCxnSpPr>
          <p:spPr>
            <a:xfrm>
              <a:off x="2430092" y="3587438"/>
              <a:ext cx="8307" cy="38831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文本框 36"/>
            <p:cNvSpPr txBox="1"/>
            <p:nvPr/>
          </p:nvSpPr>
          <p:spPr>
            <a:xfrm>
              <a:off x="1269027" y="4387608"/>
              <a:ext cx="120257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 smtClean="0"/>
                <a:t>核密度估计</a:t>
              </a:r>
              <a:endParaRPr lang="zh-CN" altLang="en-US" sz="1600" dirty="0"/>
            </a:p>
          </p:txBody>
        </p:sp>
        <p:sp>
          <p:nvSpPr>
            <p:cNvPr id="15" name="矩形 14"/>
            <p:cNvSpPr/>
            <p:nvPr/>
          </p:nvSpPr>
          <p:spPr>
            <a:xfrm>
              <a:off x="933061" y="2680988"/>
              <a:ext cx="2917372" cy="3470989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1730514" y="2759009"/>
              <a:ext cx="14157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b="1" dirty="0" smtClean="0">
                  <a:solidFill>
                    <a:schemeClr val="accent1">
                      <a:lumMod val="50000"/>
                    </a:schemeClr>
                  </a:solidFill>
                </a:rPr>
                <a:t>亲本网络采样</a:t>
              </a:r>
              <a:endParaRPr lang="zh-CN" altLang="en-US" sz="1600" b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cxnSp>
          <p:nvCxnSpPr>
            <p:cNvPr id="48" name="直接箭头连接符 47"/>
            <p:cNvCxnSpPr>
              <a:stCxn id="28" idx="2"/>
              <a:endCxn id="33" idx="0"/>
            </p:cNvCxnSpPr>
            <p:nvPr/>
          </p:nvCxnSpPr>
          <p:spPr>
            <a:xfrm flipH="1">
              <a:off x="2438398" y="4364513"/>
              <a:ext cx="1" cy="38474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矩形 52"/>
            <p:cNvSpPr/>
            <p:nvPr/>
          </p:nvSpPr>
          <p:spPr>
            <a:xfrm>
              <a:off x="1483564" y="5509366"/>
              <a:ext cx="1909666" cy="46836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 smtClean="0">
                  <a:solidFill>
                    <a:schemeClr val="tx1"/>
                  </a:solidFill>
                </a:rPr>
                <a:t>低密度区域的亲本</a:t>
              </a:r>
              <a:endParaRPr lang="zh-CN" altLang="en-US" sz="1600" b="1" dirty="0">
                <a:solidFill>
                  <a:schemeClr val="tx1"/>
                </a:solidFill>
              </a:endParaRPr>
            </a:p>
          </p:txBody>
        </p:sp>
        <p:cxnSp>
          <p:nvCxnSpPr>
            <p:cNvPr id="54" name="直接箭头连接符 53"/>
            <p:cNvCxnSpPr>
              <a:stCxn id="33" idx="2"/>
              <a:endCxn id="53" idx="0"/>
            </p:cNvCxnSpPr>
            <p:nvPr/>
          </p:nvCxnSpPr>
          <p:spPr>
            <a:xfrm flipH="1">
              <a:off x="2438397" y="5138018"/>
              <a:ext cx="1" cy="37134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文本框 56"/>
            <p:cNvSpPr txBox="1"/>
            <p:nvPr/>
          </p:nvSpPr>
          <p:spPr>
            <a:xfrm>
              <a:off x="1876564" y="5173967"/>
              <a:ext cx="59503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 smtClean="0"/>
                <a:t>采样</a:t>
              </a:r>
              <a:endParaRPr lang="zh-CN" altLang="en-US" sz="1600" dirty="0"/>
            </a:p>
          </p:txBody>
        </p:sp>
        <p:sp>
          <p:nvSpPr>
            <p:cNvPr id="58" name="矩形 57"/>
            <p:cNvSpPr/>
            <p:nvPr/>
          </p:nvSpPr>
          <p:spPr>
            <a:xfrm>
              <a:off x="5503059" y="2680987"/>
              <a:ext cx="2917372" cy="3470989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文本框 58"/>
            <p:cNvSpPr txBox="1"/>
            <p:nvPr/>
          </p:nvSpPr>
          <p:spPr>
            <a:xfrm>
              <a:off x="6253863" y="2759008"/>
              <a:ext cx="14157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b="1" dirty="0" smtClean="0">
                  <a:solidFill>
                    <a:schemeClr val="accent1">
                      <a:lumMod val="50000"/>
                    </a:schemeClr>
                  </a:solidFill>
                </a:rPr>
                <a:t>子代网络生成</a:t>
              </a:r>
              <a:endParaRPr lang="zh-CN" altLang="en-US" sz="1600" b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60" name="矩形 59"/>
            <p:cNvSpPr/>
            <p:nvPr/>
          </p:nvSpPr>
          <p:spPr>
            <a:xfrm>
              <a:off x="6099220" y="5509365"/>
              <a:ext cx="1725050" cy="46836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 smtClean="0">
                  <a:solidFill>
                    <a:schemeClr val="tx1"/>
                  </a:solidFill>
                </a:rPr>
                <a:t>拟生成的子代</a:t>
              </a:r>
              <a:endParaRPr lang="zh-CN" altLang="en-US" sz="1600" b="1" dirty="0">
                <a:solidFill>
                  <a:schemeClr val="tx1"/>
                </a:solidFill>
              </a:endParaRPr>
            </a:p>
          </p:txBody>
        </p:sp>
        <p:cxnSp>
          <p:nvCxnSpPr>
            <p:cNvPr id="31" name="直接箭头连接符 30"/>
            <p:cNvCxnSpPr>
              <a:stCxn id="53" idx="3"/>
              <a:endCxn id="60" idx="1"/>
            </p:cNvCxnSpPr>
            <p:nvPr/>
          </p:nvCxnSpPr>
          <p:spPr>
            <a:xfrm flipV="1">
              <a:off x="3393230" y="5743546"/>
              <a:ext cx="2705990" cy="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文本框 31"/>
            <p:cNvSpPr txBox="1"/>
            <p:nvPr/>
          </p:nvSpPr>
          <p:spPr>
            <a:xfrm>
              <a:off x="3931774" y="5323692"/>
              <a:ext cx="1415772" cy="7934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1600" dirty="0" smtClean="0"/>
                <a:t>网络态射</a:t>
              </a:r>
              <a:endParaRPr lang="en-US" altLang="zh-CN" sz="1600" dirty="0" smtClean="0"/>
            </a:p>
            <a:p>
              <a:pPr algn="ctr">
                <a:lnSpc>
                  <a:spcPct val="150000"/>
                </a:lnSpc>
              </a:pPr>
              <a:r>
                <a:rPr lang="zh-CN" altLang="en-US" sz="1600" dirty="0" smtClean="0"/>
                <a:t>近似网络态射</a:t>
              </a:r>
              <a:endParaRPr lang="zh-CN" altLang="en-US" sz="1600" dirty="0"/>
            </a:p>
          </p:txBody>
        </p:sp>
        <p:sp>
          <p:nvSpPr>
            <p:cNvPr id="79" name="矩形 78"/>
            <p:cNvSpPr/>
            <p:nvPr/>
          </p:nvSpPr>
          <p:spPr>
            <a:xfrm>
              <a:off x="6416524" y="4726162"/>
              <a:ext cx="1090441" cy="38876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 smtClean="0">
                  <a:solidFill>
                    <a:schemeClr val="tx1"/>
                  </a:solidFill>
                </a:rPr>
                <a:t>计算时间</a:t>
              </a:r>
              <a:endParaRPr lang="zh-CN" altLang="en-US" sz="1600" b="1" dirty="0">
                <a:solidFill>
                  <a:schemeClr val="tx1"/>
                </a:solidFill>
              </a:endParaRPr>
            </a:p>
          </p:txBody>
        </p:sp>
        <p:cxnSp>
          <p:nvCxnSpPr>
            <p:cNvPr id="80" name="直接箭头连接符 79"/>
            <p:cNvCxnSpPr>
              <a:stCxn id="60" idx="0"/>
              <a:endCxn id="79" idx="2"/>
            </p:cNvCxnSpPr>
            <p:nvPr/>
          </p:nvCxnSpPr>
          <p:spPr>
            <a:xfrm flipV="1">
              <a:off x="6961745" y="5114923"/>
              <a:ext cx="0" cy="39444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文本框 80"/>
            <p:cNvSpPr txBox="1"/>
            <p:nvPr/>
          </p:nvSpPr>
          <p:spPr>
            <a:xfrm>
              <a:off x="6961744" y="5145708"/>
              <a:ext cx="10054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 smtClean="0"/>
                <a:t>性能预测</a:t>
              </a:r>
              <a:endParaRPr lang="zh-CN" altLang="en-US" sz="1600" dirty="0"/>
            </a:p>
          </p:txBody>
        </p:sp>
        <p:sp>
          <p:nvSpPr>
            <p:cNvPr id="85" name="矩形 84"/>
            <p:cNvSpPr/>
            <p:nvPr/>
          </p:nvSpPr>
          <p:spPr>
            <a:xfrm>
              <a:off x="6416524" y="3976311"/>
              <a:ext cx="1090441" cy="38876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chemeClr val="tx1"/>
                  </a:solidFill>
                </a:rPr>
                <a:t>子代</a:t>
              </a:r>
              <a:r>
                <a:rPr lang="zh-CN" altLang="en-US" sz="1600" b="1" dirty="0" smtClean="0">
                  <a:solidFill>
                    <a:schemeClr val="tx1"/>
                  </a:solidFill>
                </a:rPr>
                <a:t>分布</a:t>
              </a:r>
              <a:endParaRPr lang="zh-CN" altLang="en-US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86" name="文本框 85"/>
            <p:cNvSpPr txBox="1"/>
            <p:nvPr/>
          </p:nvSpPr>
          <p:spPr>
            <a:xfrm>
              <a:off x="6963396" y="4372216"/>
              <a:ext cx="120257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 smtClean="0"/>
                <a:t>核密度估计</a:t>
              </a:r>
              <a:endParaRPr lang="zh-CN" altLang="en-US" sz="1600" dirty="0"/>
            </a:p>
          </p:txBody>
        </p:sp>
        <p:cxnSp>
          <p:nvCxnSpPr>
            <p:cNvPr id="87" name="直接箭头连接符 86"/>
            <p:cNvCxnSpPr>
              <a:stCxn id="79" idx="0"/>
              <a:endCxn id="85" idx="2"/>
            </p:cNvCxnSpPr>
            <p:nvPr/>
          </p:nvCxnSpPr>
          <p:spPr>
            <a:xfrm flipV="1">
              <a:off x="6961745" y="4365072"/>
              <a:ext cx="0" cy="36109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矩形 87"/>
            <p:cNvSpPr/>
            <p:nvPr/>
          </p:nvSpPr>
          <p:spPr>
            <a:xfrm>
              <a:off x="6006911" y="3122665"/>
              <a:ext cx="1909666" cy="46836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 smtClean="0">
                  <a:solidFill>
                    <a:schemeClr val="tx1"/>
                  </a:solidFill>
                </a:rPr>
                <a:t>低密度区域的子代</a:t>
              </a:r>
              <a:endParaRPr lang="zh-CN" altLang="en-US" sz="1600" b="1" dirty="0">
                <a:solidFill>
                  <a:schemeClr val="tx1"/>
                </a:solidFill>
              </a:endParaRPr>
            </a:p>
          </p:txBody>
        </p:sp>
        <p:cxnSp>
          <p:nvCxnSpPr>
            <p:cNvPr id="89" name="直接箭头连接符 88"/>
            <p:cNvCxnSpPr>
              <a:stCxn id="85" idx="0"/>
              <a:endCxn id="88" idx="2"/>
            </p:cNvCxnSpPr>
            <p:nvPr/>
          </p:nvCxnSpPr>
          <p:spPr>
            <a:xfrm flipH="1" flipV="1">
              <a:off x="6961744" y="3591026"/>
              <a:ext cx="1" cy="38528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文本框 89"/>
            <p:cNvSpPr txBox="1"/>
            <p:nvPr/>
          </p:nvSpPr>
          <p:spPr>
            <a:xfrm>
              <a:off x="6969646" y="3609474"/>
              <a:ext cx="59503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 smtClean="0"/>
                <a:t>采样</a:t>
              </a:r>
              <a:endParaRPr lang="zh-CN" altLang="en-US" sz="1600" dirty="0"/>
            </a:p>
          </p:txBody>
        </p:sp>
        <p:cxnSp>
          <p:nvCxnSpPr>
            <p:cNvPr id="91" name="直接箭头连接符 90"/>
            <p:cNvCxnSpPr>
              <a:stCxn id="88" idx="1"/>
              <a:endCxn id="27" idx="3"/>
            </p:cNvCxnSpPr>
            <p:nvPr/>
          </p:nvCxnSpPr>
          <p:spPr>
            <a:xfrm flipH="1">
              <a:off x="2983619" y="3356846"/>
              <a:ext cx="3023292" cy="2466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文本框 49"/>
            <p:cNvSpPr txBox="1"/>
            <p:nvPr/>
          </p:nvSpPr>
          <p:spPr>
            <a:xfrm>
              <a:off x="3964788" y="2747179"/>
              <a:ext cx="148823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 smtClean="0"/>
                <a:t>训练、评估预测精度</a:t>
              </a:r>
              <a:endParaRPr lang="zh-CN" altLang="en-US" sz="1600" dirty="0"/>
            </a:p>
          </p:txBody>
        </p:sp>
        <p:sp>
          <p:nvSpPr>
            <p:cNvPr id="51" name="文本框 50"/>
            <p:cNvSpPr txBox="1"/>
            <p:nvPr/>
          </p:nvSpPr>
          <p:spPr>
            <a:xfrm>
              <a:off x="3898425" y="3398457"/>
              <a:ext cx="162095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 smtClean="0"/>
                <a:t>计算帕累托前沿</a:t>
              </a:r>
              <a:endParaRPr lang="zh-CN" altLang="en-US" sz="1600" dirty="0"/>
            </a:p>
          </p:txBody>
        </p:sp>
        <p:sp>
          <p:nvSpPr>
            <p:cNvPr id="92" name="文本框 91"/>
            <p:cNvSpPr txBox="1"/>
            <p:nvPr/>
          </p:nvSpPr>
          <p:spPr>
            <a:xfrm>
              <a:off x="4095237" y="2412766"/>
              <a:ext cx="10054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b="1" dirty="0" smtClean="0">
                  <a:solidFill>
                    <a:schemeClr val="accent1">
                      <a:lumMod val="50000"/>
                    </a:schemeClr>
                  </a:solidFill>
                </a:rPr>
                <a:t>种群更新</a:t>
              </a:r>
              <a:endParaRPr lang="zh-CN" altLang="en-US" sz="1600" b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94" name="文本框 93"/>
            <p:cNvSpPr txBox="1"/>
            <p:nvPr/>
          </p:nvSpPr>
          <p:spPr>
            <a:xfrm>
              <a:off x="4133542" y="5059111"/>
              <a:ext cx="10054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b="1" dirty="0" smtClean="0">
                  <a:solidFill>
                    <a:schemeClr val="accent1">
                      <a:lumMod val="50000"/>
                    </a:schemeClr>
                  </a:solidFill>
                </a:rPr>
                <a:t>种群突变</a:t>
              </a:r>
              <a:endParaRPr lang="zh-CN" altLang="en-US" sz="1600" b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65133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11760" y="-508000"/>
            <a:ext cx="10474960" cy="7212840"/>
            <a:chOff x="111760" y="-508000"/>
            <a:chExt cx="10474960" cy="7212840"/>
          </a:xfrm>
        </p:grpSpPr>
        <p:sp>
          <p:nvSpPr>
            <p:cNvPr id="34" name="矩形 33"/>
            <p:cNvSpPr/>
            <p:nvPr/>
          </p:nvSpPr>
          <p:spPr>
            <a:xfrm>
              <a:off x="390324" y="186813"/>
              <a:ext cx="7153419" cy="333038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5" name="矩形 34"/>
            <p:cNvSpPr/>
            <p:nvPr/>
          </p:nvSpPr>
          <p:spPr>
            <a:xfrm>
              <a:off x="390324" y="3921769"/>
              <a:ext cx="7153418" cy="2579479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3353397" y="208827"/>
              <a:ext cx="1569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b="1" dirty="0" smtClean="0">
                  <a:solidFill>
                    <a:srgbClr val="1F4E79"/>
                  </a:solidFill>
                </a:rPr>
                <a:t>计算时间预测</a:t>
              </a:r>
              <a:endParaRPr lang="zh-CN" altLang="en-US" b="1" dirty="0">
                <a:solidFill>
                  <a:srgbClr val="1F4E79"/>
                </a:solidFill>
              </a:endParaRP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3353089" y="3960283"/>
              <a:ext cx="1569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b="1" dirty="0" smtClean="0">
                  <a:solidFill>
                    <a:srgbClr val="1F4E79"/>
                  </a:solidFill>
                </a:rPr>
                <a:t>通信时间预测</a:t>
              </a:r>
              <a:endParaRPr lang="zh-CN" altLang="en-US" b="1" dirty="0">
                <a:solidFill>
                  <a:srgbClr val="1F4E79"/>
                </a:solidFill>
              </a:endParaRPr>
            </a:p>
          </p:txBody>
        </p:sp>
        <p:cxnSp>
          <p:nvCxnSpPr>
            <p:cNvPr id="39" name="直接箭头连接符 38"/>
            <p:cNvCxnSpPr>
              <a:endCxn id="62" idx="1"/>
            </p:cNvCxnSpPr>
            <p:nvPr/>
          </p:nvCxnSpPr>
          <p:spPr>
            <a:xfrm>
              <a:off x="7895625" y="3685776"/>
              <a:ext cx="1469526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文本框 39"/>
            <p:cNvSpPr txBox="1"/>
            <p:nvPr/>
          </p:nvSpPr>
          <p:spPr>
            <a:xfrm>
              <a:off x="7934281" y="3039280"/>
              <a:ext cx="139221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 smtClean="0"/>
                <a:t>计算通信</a:t>
              </a:r>
              <a:endParaRPr lang="en-US" altLang="zh-CN" sz="1600" dirty="0" smtClean="0"/>
            </a:p>
            <a:p>
              <a:pPr algn="ctr"/>
              <a:r>
                <a:rPr lang="zh-CN" altLang="en-US" sz="1600" dirty="0" smtClean="0"/>
                <a:t>并行性</a:t>
              </a:r>
              <a:r>
                <a:rPr lang="zh-CN" altLang="en-US" sz="1600" dirty="0"/>
                <a:t>分析</a:t>
              </a:r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7956871" y="3752492"/>
              <a:ext cx="149996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 smtClean="0"/>
                <a:t>关键路径确定</a:t>
              </a:r>
              <a:endParaRPr lang="zh-CN" altLang="en-US" sz="1600" dirty="0"/>
            </a:p>
          </p:txBody>
        </p:sp>
        <p:sp>
          <p:nvSpPr>
            <p:cNvPr id="44" name="矩形 43"/>
            <p:cNvSpPr/>
            <p:nvPr/>
          </p:nvSpPr>
          <p:spPr>
            <a:xfrm>
              <a:off x="522122" y="2387922"/>
              <a:ext cx="1054519" cy="68180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571238" y="2436560"/>
              <a:ext cx="100540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b="1" dirty="0" smtClean="0"/>
                <a:t>神经网络</a:t>
              </a:r>
              <a:endParaRPr lang="en-US" altLang="zh-CN" sz="1600" b="1" dirty="0" smtClean="0"/>
            </a:p>
            <a:p>
              <a:r>
                <a:rPr lang="zh-CN" altLang="en-US" sz="1600" b="1" dirty="0" smtClean="0"/>
                <a:t>特征空间</a:t>
              </a:r>
              <a:endParaRPr lang="zh-CN" altLang="en-US" sz="1600" b="1" dirty="0"/>
            </a:p>
          </p:txBody>
        </p:sp>
        <p:sp>
          <p:nvSpPr>
            <p:cNvPr id="46" name="矩形 45"/>
            <p:cNvSpPr/>
            <p:nvPr/>
          </p:nvSpPr>
          <p:spPr>
            <a:xfrm>
              <a:off x="2718197" y="2387922"/>
              <a:ext cx="1054519" cy="68180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47" name="直接箭头连接符 46"/>
            <p:cNvCxnSpPr>
              <a:stCxn id="44" idx="3"/>
              <a:endCxn id="46" idx="1"/>
            </p:cNvCxnSpPr>
            <p:nvPr/>
          </p:nvCxnSpPr>
          <p:spPr>
            <a:xfrm>
              <a:off x="1576641" y="2728823"/>
              <a:ext cx="1141556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9" name="文本框 48"/>
            <p:cNvSpPr txBox="1"/>
            <p:nvPr/>
          </p:nvSpPr>
          <p:spPr>
            <a:xfrm>
              <a:off x="1470685" y="2379258"/>
              <a:ext cx="100294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 smtClean="0"/>
                <a:t>采样</a:t>
              </a:r>
              <a:endParaRPr lang="zh-CN" altLang="en-US" sz="1600" dirty="0"/>
            </a:p>
          </p:txBody>
        </p:sp>
        <p:sp>
          <p:nvSpPr>
            <p:cNvPr id="51" name="文本框 50"/>
            <p:cNvSpPr txBox="1"/>
            <p:nvPr/>
          </p:nvSpPr>
          <p:spPr>
            <a:xfrm>
              <a:off x="2688778" y="2435556"/>
              <a:ext cx="110846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 smtClean="0"/>
                <a:t>基准测试数据</a:t>
              </a:r>
              <a:endParaRPr lang="zh-CN" altLang="en-US" sz="1600" b="1" dirty="0"/>
            </a:p>
          </p:txBody>
        </p:sp>
        <p:sp>
          <p:nvSpPr>
            <p:cNvPr id="52" name="矩形 51"/>
            <p:cNvSpPr/>
            <p:nvPr/>
          </p:nvSpPr>
          <p:spPr>
            <a:xfrm>
              <a:off x="4503739" y="2387042"/>
              <a:ext cx="1054519" cy="68180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4403792" y="2432312"/>
              <a:ext cx="125106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 smtClean="0"/>
                <a:t>多层感知器模型</a:t>
              </a:r>
              <a:endParaRPr lang="zh-CN" altLang="en-US" sz="1600" b="1" dirty="0"/>
            </a:p>
          </p:txBody>
        </p:sp>
        <p:cxnSp>
          <p:nvCxnSpPr>
            <p:cNvPr id="57" name="直接箭头连接符 56"/>
            <p:cNvCxnSpPr>
              <a:stCxn id="46" idx="3"/>
              <a:endCxn id="52" idx="1"/>
            </p:cNvCxnSpPr>
            <p:nvPr/>
          </p:nvCxnSpPr>
          <p:spPr>
            <a:xfrm flipV="1">
              <a:off x="3772716" y="2727943"/>
              <a:ext cx="731023" cy="88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8" name="文本框 57"/>
            <p:cNvSpPr txBox="1"/>
            <p:nvPr/>
          </p:nvSpPr>
          <p:spPr>
            <a:xfrm>
              <a:off x="3628754" y="2382901"/>
              <a:ext cx="100294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 smtClean="0"/>
                <a:t>训练</a:t>
              </a:r>
              <a:endParaRPr lang="zh-CN" altLang="en-US" sz="1600" dirty="0"/>
            </a:p>
          </p:txBody>
        </p:sp>
        <p:sp>
          <p:nvSpPr>
            <p:cNvPr id="59" name="矩形 58"/>
            <p:cNvSpPr/>
            <p:nvPr/>
          </p:nvSpPr>
          <p:spPr>
            <a:xfrm>
              <a:off x="618094" y="4687378"/>
              <a:ext cx="1268599" cy="52552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 smtClean="0">
                  <a:solidFill>
                    <a:schemeClr val="tx1"/>
                  </a:solidFill>
                </a:rPr>
                <a:t>吞吐量模型</a:t>
              </a:r>
              <a:endParaRPr lang="zh-CN" altLang="en-US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60" name="矩形 59"/>
            <p:cNvSpPr/>
            <p:nvPr/>
          </p:nvSpPr>
          <p:spPr>
            <a:xfrm>
              <a:off x="3465437" y="4621530"/>
              <a:ext cx="1637281" cy="657218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 smtClean="0">
                  <a:solidFill>
                    <a:schemeClr val="tx1"/>
                  </a:solidFill>
                </a:rPr>
                <a:t>单链路通信时间</a:t>
              </a:r>
              <a:endParaRPr lang="en-US" altLang="zh-CN" sz="1600" b="1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zh-CN" altLang="en-US" sz="1600" b="1" dirty="0" smtClean="0">
                  <a:solidFill>
                    <a:schemeClr val="tx1"/>
                  </a:solidFill>
                </a:rPr>
                <a:t>预测模型</a:t>
              </a:r>
              <a:endParaRPr lang="zh-CN" altLang="en-US" sz="1600" b="1" dirty="0">
                <a:solidFill>
                  <a:schemeClr val="tx1"/>
                </a:solidFill>
              </a:endParaRPr>
            </a:p>
          </p:txBody>
        </p:sp>
        <p:cxnSp>
          <p:nvCxnSpPr>
            <p:cNvPr id="61" name="直接箭头连接符 60"/>
            <p:cNvCxnSpPr>
              <a:stCxn id="59" idx="3"/>
              <a:endCxn id="60" idx="1"/>
            </p:cNvCxnSpPr>
            <p:nvPr/>
          </p:nvCxnSpPr>
          <p:spPr>
            <a:xfrm>
              <a:off x="1886693" y="4950139"/>
              <a:ext cx="1578744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2" name="矩形 61"/>
            <p:cNvSpPr/>
            <p:nvPr/>
          </p:nvSpPr>
          <p:spPr>
            <a:xfrm>
              <a:off x="9365151" y="3423015"/>
              <a:ext cx="1031918" cy="52552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chemeClr val="tx1"/>
                  </a:solidFill>
                </a:rPr>
                <a:t>训练</a:t>
              </a:r>
              <a:r>
                <a:rPr lang="zh-CN" altLang="en-US" sz="1600" b="1" dirty="0" smtClean="0">
                  <a:solidFill>
                    <a:schemeClr val="tx1"/>
                  </a:solidFill>
                </a:rPr>
                <a:t>时间</a:t>
              </a:r>
              <a:endParaRPr lang="zh-CN" altLang="en-US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63" name="矩形 62"/>
            <p:cNvSpPr/>
            <p:nvPr/>
          </p:nvSpPr>
          <p:spPr>
            <a:xfrm>
              <a:off x="6306725" y="5228994"/>
              <a:ext cx="1050642" cy="47809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 smtClean="0">
                  <a:solidFill>
                    <a:schemeClr val="tx1"/>
                  </a:solidFill>
                </a:rPr>
                <a:t>通信时间</a:t>
              </a:r>
              <a:endParaRPr lang="zh-CN" altLang="en-US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70" name="文本框 69"/>
            <p:cNvSpPr txBox="1"/>
            <p:nvPr/>
          </p:nvSpPr>
          <p:spPr>
            <a:xfrm>
              <a:off x="1822279" y="977129"/>
              <a:ext cx="10054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 smtClean="0"/>
                <a:t>特征</a:t>
              </a:r>
              <a:r>
                <a:rPr lang="zh-CN" altLang="en-US" sz="1600" dirty="0"/>
                <a:t>扩充</a:t>
              </a:r>
            </a:p>
          </p:txBody>
        </p:sp>
        <p:sp>
          <p:nvSpPr>
            <p:cNvPr id="74" name="矩形 73"/>
            <p:cNvSpPr/>
            <p:nvPr/>
          </p:nvSpPr>
          <p:spPr>
            <a:xfrm>
              <a:off x="6306725" y="2504741"/>
              <a:ext cx="1054519" cy="45110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5" name="文本框 74"/>
            <p:cNvSpPr txBox="1"/>
            <p:nvPr/>
          </p:nvSpPr>
          <p:spPr>
            <a:xfrm>
              <a:off x="6222039" y="2563176"/>
              <a:ext cx="125106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 smtClean="0"/>
                <a:t>计算时间</a:t>
              </a:r>
              <a:endParaRPr lang="zh-CN" altLang="en-US" sz="1600" b="1" dirty="0"/>
            </a:p>
          </p:txBody>
        </p:sp>
        <p:cxnSp>
          <p:nvCxnSpPr>
            <p:cNvPr id="76" name="直接箭头连接符 75"/>
            <p:cNvCxnSpPr>
              <a:stCxn id="52" idx="3"/>
            </p:cNvCxnSpPr>
            <p:nvPr/>
          </p:nvCxnSpPr>
          <p:spPr>
            <a:xfrm>
              <a:off x="5558258" y="2727943"/>
              <a:ext cx="748467" cy="451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7" name="文本框 76"/>
            <p:cNvSpPr txBox="1"/>
            <p:nvPr/>
          </p:nvSpPr>
          <p:spPr>
            <a:xfrm>
              <a:off x="5431018" y="2382901"/>
              <a:ext cx="100294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 smtClean="0"/>
                <a:t>预测</a:t>
              </a:r>
              <a:endParaRPr lang="zh-CN" altLang="en-US" sz="1600" dirty="0"/>
            </a:p>
          </p:txBody>
        </p:sp>
        <p:sp>
          <p:nvSpPr>
            <p:cNvPr id="78" name="矩形 77"/>
            <p:cNvSpPr/>
            <p:nvPr/>
          </p:nvSpPr>
          <p:spPr>
            <a:xfrm>
              <a:off x="618094" y="5715747"/>
              <a:ext cx="1268599" cy="52552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 smtClean="0">
                  <a:solidFill>
                    <a:schemeClr val="tx1"/>
                  </a:solidFill>
                </a:rPr>
                <a:t>通信拓扑</a:t>
              </a:r>
              <a:endParaRPr lang="zh-CN" altLang="en-US" sz="1600" b="1" dirty="0">
                <a:solidFill>
                  <a:schemeClr val="tx1"/>
                </a:solidFill>
              </a:endParaRPr>
            </a:p>
          </p:txBody>
        </p:sp>
        <p:cxnSp>
          <p:nvCxnSpPr>
            <p:cNvPr id="79" name="肘形连接符 78"/>
            <p:cNvCxnSpPr>
              <a:stCxn id="60" idx="3"/>
              <a:endCxn id="89" idx="3"/>
            </p:cNvCxnSpPr>
            <p:nvPr/>
          </p:nvCxnSpPr>
          <p:spPr>
            <a:xfrm flipH="1">
              <a:off x="5102717" y="4950139"/>
              <a:ext cx="1" cy="1034457"/>
            </a:xfrm>
            <a:prstGeom prst="bentConnector3">
              <a:avLst>
                <a:gd name="adj1" fmla="val -22860000000"/>
              </a:avLst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直接箭头连接符 82"/>
            <p:cNvCxnSpPr/>
            <p:nvPr/>
          </p:nvCxnSpPr>
          <p:spPr>
            <a:xfrm>
              <a:off x="5329283" y="5467367"/>
              <a:ext cx="977442" cy="135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文本框 84"/>
            <p:cNvSpPr txBox="1"/>
            <p:nvPr/>
          </p:nvSpPr>
          <p:spPr>
            <a:xfrm>
              <a:off x="5314242" y="5128813"/>
              <a:ext cx="100294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 smtClean="0"/>
                <a:t>预测</a:t>
              </a:r>
              <a:endParaRPr lang="zh-CN" altLang="en-US" sz="1600" dirty="0"/>
            </a:p>
          </p:txBody>
        </p:sp>
        <p:sp>
          <p:nvSpPr>
            <p:cNvPr id="86" name="文本框 85"/>
            <p:cNvSpPr txBox="1"/>
            <p:nvPr/>
          </p:nvSpPr>
          <p:spPr>
            <a:xfrm>
              <a:off x="1938894" y="5626633"/>
              <a:ext cx="147434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 smtClean="0"/>
                <a:t>算法机理分析</a:t>
              </a:r>
              <a:endParaRPr lang="zh-CN" altLang="en-US" sz="1600" dirty="0"/>
            </a:p>
          </p:txBody>
        </p:sp>
        <p:sp>
          <p:nvSpPr>
            <p:cNvPr id="88" name="文本框 87"/>
            <p:cNvSpPr txBox="1"/>
            <p:nvPr/>
          </p:nvSpPr>
          <p:spPr>
            <a:xfrm>
              <a:off x="1865587" y="4593849"/>
              <a:ext cx="162095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 smtClean="0"/>
                <a:t>实时吞吐量分析</a:t>
              </a:r>
              <a:endParaRPr lang="zh-CN" altLang="en-US" sz="1600" dirty="0"/>
            </a:p>
          </p:txBody>
        </p:sp>
        <p:sp>
          <p:nvSpPr>
            <p:cNvPr id="89" name="矩形 88"/>
            <p:cNvSpPr/>
            <p:nvPr/>
          </p:nvSpPr>
          <p:spPr>
            <a:xfrm>
              <a:off x="3465437" y="5721835"/>
              <a:ext cx="1637280" cy="52552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 smtClean="0">
                  <a:solidFill>
                    <a:schemeClr val="tx1"/>
                  </a:solidFill>
                </a:rPr>
                <a:t>集群通信模型</a:t>
              </a:r>
              <a:endParaRPr lang="zh-CN" altLang="en-US" sz="1600" b="1" dirty="0">
                <a:solidFill>
                  <a:schemeClr val="tx1"/>
                </a:solidFill>
              </a:endParaRPr>
            </a:p>
          </p:txBody>
        </p:sp>
        <p:cxnSp>
          <p:nvCxnSpPr>
            <p:cNvPr id="90" name="直接箭头连接符 89"/>
            <p:cNvCxnSpPr>
              <a:stCxn id="78" idx="3"/>
              <a:endCxn id="89" idx="1"/>
            </p:cNvCxnSpPr>
            <p:nvPr/>
          </p:nvCxnSpPr>
          <p:spPr>
            <a:xfrm>
              <a:off x="1886693" y="5978508"/>
              <a:ext cx="1578744" cy="608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1" name="肘形连接符 90"/>
            <p:cNvCxnSpPr>
              <a:stCxn id="34" idx="3"/>
            </p:cNvCxnSpPr>
            <p:nvPr/>
          </p:nvCxnSpPr>
          <p:spPr>
            <a:xfrm>
              <a:off x="7543743" y="1852005"/>
              <a:ext cx="351882" cy="1838485"/>
            </a:xfrm>
            <a:prstGeom prst="bentConnector2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肘形连接符 91"/>
            <p:cNvCxnSpPr>
              <a:endCxn id="35" idx="3"/>
            </p:cNvCxnSpPr>
            <p:nvPr/>
          </p:nvCxnSpPr>
          <p:spPr>
            <a:xfrm rot="5400000">
              <a:off x="6956818" y="4272701"/>
              <a:ext cx="1525733" cy="351883"/>
            </a:xfrm>
            <a:prstGeom prst="bentConnector2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文本框 47"/>
            <p:cNvSpPr txBox="1"/>
            <p:nvPr/>
          </p:nvSpPr>
          <p:spPr>
            <a:xfrm>
              <a:off x="3100236" y="938079"/>
              <a:ext cx="14157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b="1" dirty="0" smtClean="0"/>
                <a:t>浮点数运算数</a:t>
              </a:r>
              <a:endParaRPr lang="en-US" altLang="zh-CN" sz="1600" b="1" dirty="0" smtClean="0"/>
            </a:p>
          </p:txBody>
        </p:sp>
        <p:sp>
          <p:nvSpPr>
            <p:cNvPr id="53" name="矩形 52"/>
            <p:cNvSpPr/>
            <p:nvPr/>
          </p:nvSpPr>
          <p:spPr>
            <a:xfrm>
              <a:off x="3075679" y="873605"/>
              <a:ext cx="1440329" cy="457315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3122153" y="1553441"/>
              <a:ext cx="132619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 smtClean="0"/>
                <a:t>内存占用</a:t>
              </a:r>
              <a:endParaRPr lang="en-US" altLang="zh-CN" sz="1600" b="1" dirty="0" smtClean="0"/>
            </a:p>
          </p:txBody>
        </p:sp>
        <p:sp>
          <p:nvSpPr>
            <p:cNvPr id="56" name="矩形 55"/>
            <p:cNvSpPr/>
            <p:nvPr/>
          </p:nvSpPr>
          <p:spPr>
            <a:xfrm>
              <a:off x="3074895" y="1523998"/>
              <a:ext cx="1441113" cy="41229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2910347" y="720747"/>
              <a:ext cx="2744507" cy="137352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" name="肘形连接符 6"/>
            <p:cNvCxnSpPr>
              <a:stCxn id="5" idx="1"/>
            </p:cNvCxnSpPr>
            <p:nvPr/>
          </p:nvCxnSpPr>
          <p:spPr>
            <a:xfrm rot="10800000" flipV="1">
              <a:off x="2395379" y="1407509"/>
              <a:ext cx="514969" cy="1313944"/>
            </a:xfrm>
            <a:prstGeom prst="bentConnector2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本框 9"/>
            <p:cNvSpPr txBox="1"/>
            <p:nvPr/>
          </p:nvSpPr>
          <p:spPr>
            <a:xfrm>
              <a:off x="4631702" y="1238231"/>
              <a:ext cx="10054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 smtClean="0"/>
                <a:t>机理分析</a:t>
              </a:r>
              <a:endParaRPr lang="zh-CN" altLang="en-US" sz="1600" dirty="0"/>
            </a:p>
          </p:txBody>
        </p:sp>
        <p:sp>
          <p:nvSpPr>
            <p:cNvPr id="50" name="矩形 49"/>
            <p:cNvSpPr/>
            <p:nvPr/>
          </p:nvSpPr>
          <p:spPr>
            <a:xfrm>
              <a:off x="111760" y="-508000"/>
              <a:ext cx="10474960" cy="721284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文本框 63"/>
            <p:cNvSpPr txBox="1"/>
            <p:nvPr/>
          </p:nvSpPr>
          <p:spPr>
            <a:xfrm>
              <a:off x="4333577" y="-401323"/>
              <a:ext cx="203132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accent1">
                      <a:lumMod val="50000"/>
                    </a:schemeClr>
                  </a:solidFill>
                </a:rPr>
                <a:t>仿真平台框架</a:t>
              </a:r>
              <a:endParaRPr lang="zh-CN" altLang="en-US" sz="2400" b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54055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1" name="组合 180"/>
          <p:cNvGrpSpPr/>
          <p:nvPr/>
        </p:nvGrpSpPr>
        <p:grpSpPr>
          <a:xfrm>
            <a:off x="-1131269" y="-1226273"/>
            <a:ext cx="13170869" cy="8944004"/>
            <a:chOff x="-978869" y="-281393"/>
            <a:chExt cx="13170869" cy="8944004"/>
          </a:xfrm>
        </p:grpSpPr>
        <p:sp>
          <p:nvSpPr>
            <p:cNvPr id="3" name="圆角矩形 2"/>
            <p:cNvSpPr/>
            <p:nvPr/>
          </p:nvSpPr>
          <p:spPr>
            <a:xfrm>
              <a:off x="-978869" y="-281393"/>
              <a:ext cx="13170869" cy="2172430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圆角矩形 64"/>
            <p:cNvSpPr/>
            <p:nvPr/>
          </p:nvSpPr>
          <p:spPr>
            <a:xfrm>
              <a:off x="1748963" y="2284341"/>
              <a:ext cx="7315200" cy="2557382"/>
            </a:xfrm>
            <a:prstGeom prst="roundRect">
              <a:avLst/>
            </a:prstGeom>
            <a:noFill/>
            <a:ln w="28575">
              <a:solidFill>
                <a:schemeClr val="accent1">
                  <a:lumMod val="50000"/>
                </a:schemeClr>
              </a:solidFill>
              <a:prstDash val="dash"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圆角矩形 65"/>
            <p:cNvSpPr/>
            <p:nvPr/>
          </p:nvSpPr>
          <p:spPr>
            <a:xfrm>
              <a:off x="-978869" y="5240560"/>
              <a:ext cx="13170869" cy="3422051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文本框 66"/>
            <p:cNvSpPr txBox="1"/>
            <p:nvPr/>
          </p:nvSpPr>
          <p:spPr>
            <a:xfrm>
              <a:off x="3640321" y="-205164"/>
              <a:ext cx="430117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b="1" dirty="0" smtClean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Computation Time Prediction</a:t>
              </a:r>
              <a:endParaRPr lang="zh-CN" alt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4" name="矩形 3"/>
            <p:cNvSpPr/>
            <p:nvPr/>
          </p:nvSpPr>
          <p:spPr>
            <a:xfrm>
              <a:off x="-653111" y="673977"/>
              <a:ext cx="2304943" cy="8349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solidFill>
                    <a:schemeClr val="tx1"/>
                  </a:solidFill>
                </a:rPr>
                <a:t>Neural network decomposition</a:t>
              </a:r>
              <a:endParaRPr lang="zh-CN" altLang="en-US" sz="2000" b="1" dirty="0">
                <a:solidFill>
                  <a:schemeClr val="tx1"/>
                </a:solidFill>
              </a:endParaRPr>
            </a:p>
          </p:txBody>
        </p:sp>
        <p:sp>
          <p:nvSpPr>
            <p:cNvPr id="68" name="矩形 67"/>
            <p:cNvSpPr/>
            <p:nvPr/>
          </p:nvSpPr>
          <p:spPr>
            <a:xfrm>
              <a:off x="3469608" y="673977"/>
              <a:ext cx="1936955" cy="8349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solidFill>
                    <a:schemeClr val="tx1"/>
                  </a:solidFill>
                </a:rPr>
                <a:t>Feature space sampling</a:t>
              </a:r>
              <a:endParaRPr lang="zh-CN" altLang="en-US" sz="2000" b="1" dirty="0">
                <a:solidFill>
                  <a:schemeClr val="tx1"/>
                </a:solidFill>
              </a:endParaRPr>
            </a:p>
          </p:txBody>
        </p:sp>
        <p:cxnSp>
          <p:nvCxnSpPr>
            <p:cNvPr id="8" name="直接箭头连接符 7"/>
            <p:cNvCxnSpPr>
              <a:stCxn id="4" idx="3"/>
              <a:endCxn id="68" idx="1"/>
            </p:cNvCxnSpPr>
            <p:nvPr/>
          </p:nvCxnSpPr>
          <p:spPr>
            <a:xfrm>
              <a:off x="1651832" y="1091454"/>
              <a:ext cx="181777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9" name="矩形 68"/>
            <p:cNvSpPr/>
            <p:nvPr/>
          </p:nvSpPr>
          <p:spPr>
            <a:xfrm>
              <a:off x="7224339" y="673977"/>
              <a:ext cx="1846185" cy="8349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 smtClean="0">
                  <a:solidFill>
                    <a:schemeClr val="tx1"/>
                  </a:solidFill>
                </a:rPr>
                <a:t>Training </a:t>
              </a:r>
            </a:p>
            <a:p>
              <a:pPr algn="ctr"/>
              <a:r>
                <a:rPr lang="en-US" altLang="zh-CN" sz="2000" b="1" dirty="0" smtClean="0">
                  <a:solidFill>
                    <a:schemeClr val="tx1"/>
                  </a:solidFill>
                </a:rPr>
                <a:t>MLP model </a:t>
              </a:r>
              <a:endParaRPr lang="zh-CN" altLang="en-US" sz="2000" b="1" dirty="0">
                <a:solidFill>
                  <a:schemeClr val="tx1"/>
                </a:solidFill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593002" y="342020"/>
              <a:ext cx="192098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 smtClean="0"/>
                <a:t>Neural network layer</a:t>
              </a:r>
              <a:endParaRPr lang="zh-CN" altLang="en-US" sz="2000" b="1" dirty="0"/>
            </a:p>
          </p:txBody>
        </p:sp>
        <p:cxnSp>
          <p:nvCxnSpPr>
            <p:cNvPr id="71" name="直接箭头连接符 70"/>
            <p:cNvCxnSpPr>
              <a:stCxn id="68" idx="3"/>
              <a:endCxn id="69" idx="1"/>
            </p:cNvCxnSpPr>
            <p:nvPr/>
          </p:nvCxnSpPr>
          <p:spPr>
            <a:xfrm>
              <a:off x="5406563" y="1091454"/>
              <a:ext cx="181777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3" name="矩形 72"/>
            <p:cNvSpPr/>
            <p:nvPr/>
          </p:nvSpPr>
          <p:spPr>
            <a:xfrm>
              <a:off x="9998240" y="673977"/>
              <a:ext cx="1983093" cy="8349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 smtClean="0">
                  <a:solidFill>
                    <a:schemeClr val="tx1"/>
                  </a:solidFill>
                </a:rPr>
                <a:t>Predicting </a:t>
              </a:r>
            </a:p>
            <a:p>
              <a:pPr algn="ctr"/>
              <a:r>
                <a:rPr lang="en-US" altLang="zh-CN" sz="2000" b="1" dirty="0" smtClean="0">
                  <a:solidFill>
                    <a:schemeClr val="tx1"/>
                  </a:solidFill>
                </a:rPr>
                <a:t>layer by layer</a:t>
              </a:r>
              <a:endParaRPr lang="zh-CN" altLang="en-US" sz="2000" b="1" dirty="0">
                <a:solidFill>
                  <a:schemeClr val="tx1"/>
                </a:solidFill>
              </a:endParaRPr>
            </a:p>
          </p:txBody>
        </p:sp>
        <p:cxnSp>
          <p:nvCxnSpPr>
            <p:cNvPr id="81" name="直接箭头连接符 80"/>
            <p:cNvCxnSpPr>
              <a:stCxn id="69" idx="3"/>
              <a:endCxn id="73" idx="1"/>
            </p:cNvCxnSpPr>
            <p:nvPr/>
          </p:nvCxnSpPr>
          <p:spPr>
            <a:xfrm>
              <a:off x="9070524" y="1091454"/>
              <a:ext cx="92771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2" name="文本框 81"/>
            <p:cNvSpPr txBox="1"/>
            <p:nvPr/>
          </p:nvSpPr>
          <p:spPr>
            <a:xfrm>
              <a:off x="5331763" y="342020"/>
              <a:ext cx="192098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 smtClean="0"/>
                <a:t>Benchmark dataset</a:t>
              </a:r>
              <a:endParaRPr lang="zh-CN" altLang="en-US" sz="2000" b="1" dirty="0"/>
            </a:p>
          </p:txBody>
        </p:sp>
        <p:sp>
          <p:nvSpPr>
            <p:cNvPr id="107" name="文本框 106"/>
            <p:cNvSpPr txBox="1"/>
            <p:nvPr/>
          </p:nvSpPr>
          <p:spPr>
            <a:xfrm>
              <a:off x="3450364" y="5297604"/>
              <a:ext cx="468109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b="1" dirty="0" smtClean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Communication Time Prediction</a:t>
              </a:r>
              <a:endParaRPr lang="zh-CN" alt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08" name="矩形 107"/>
            <p:cNvSpPr/>
            <p:nvPr/>
          </p:nvSpPr>
          <p:spPr>
            <a:xfrm>
              <a:off x="-111492" y="6097265"/>
              <a:ext cx="2482647" cy="8769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 smtClean="0">
                  <a:solidFill>
                    <a:schemeClr val="tx1"/>
                  </a:solidFill>
                </a:rPr>
                <a:t>Real-time </a:t>
              </a:r>
              <a:r>
                <a:rPr lang="en-US" altLang="zh-CN" sz="2000" b="1" dirty="0">
                  <a:solidFill>
                    <a:schemeClr val="tx1"/>
                  </a:solidFill>
                </a:rPr>
                <a:t>throughput analysis</a:t>
              </a:r>
              <a:endParaRPr lang="zh-CN" altLang="en-US" sz="2000" b="1" dirty="0">
                <a:solidFill>
                  <a:schemeClr val="tx1"/>
                </a:solidFill>
              </a:endParaRPr>
            </a:p>
          </p:txBody>
        </p:sp>
        <p:sp>
          <p:nvSpPr>
            <p:cNvPr id="109" name="矩形 108"/>
            <p:cNvSpPr/>
            <p:nvPr/>
          </p:nvSpPr>
          <p:spPr>
            <a:xfrm>
              <a:off x="-111492" y="7254594"/>
              <a:ext cx="2482647" cy="9117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 smtClean="0">
                  <a:solidFill>
                    <a:schemeClr val="tx1"/>
                  </a:solidFill>
                </a:rPr>
                <a:t>Communication </a:t>
              </a:r>
              <a:r>
                <a:rPr lang="en-US" altLang="zh-CN" sz="2000" b="1" dirty="0">
                  <a:solidFill>
                    <a:schemeClr val="tx1"/>
                  </a:solidFill>
                </a:rPr>
                <a:t>topology analysis</a:t>
              </a:r>
              <a:endParaRPr lang="zh-CN" altLang="en-US" sz="2000" b="1" dirty="0">
                <a:solidFill>
                  <a:schemeClr val="tx1"/>
                </a:solidFill>
              </a:endParaRPr>
            </a:p>
          </p:txBody>
        </p:sp>
        <p:sp>
          <p:nvSpPr>
            <p:cNvPr id="110" name="矩形 109"/>
            <p:cNvSpPr/>
            <p:nvPr/>
          </p:nvSpPr>
          <p:spPr>
            <a:xfrm>
              <a:off x="3657852" y="6097265"/>
              <a:ext cx="3722220" cy="87689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 smtClean="0">
                  <a:solidFill>
                    <a:schemeClr val="tx1"/>
                  </a:solidFill>
                </a:rPr>
                <a:t>Single-link </a:t>
              </a:r>
              <a:r>
                <a:rPr lang="en-US" altLang="zh-CN" sz="2000" b="1" dirty="0">
                  <a:solidFill>
                    <a:schemeClr val="tx1"/>
                  </a:solidFill>
                </a:rPr>
                <a:t>communication time prediction model</a:t>
              </a:r>
              <a:endParaRPr lang="zh-CN" altLang="en-US" sz="2000" b="1" dirty="0">
                <a:solidFill>
                  <a:schemeClr val="tx1"/>
                </a:solidFill>
              </a:endParaRPr>
            </a:p>
          </p:txBody>
        </p:sp>
        <p:sp>
          <p:nvSpPr>
            <p:cNvPr id="111" name="矩形 110"/>
            <p:cNvSpPr/>
            <p:nvPr/>
          </p:nvSpPr>
          <p:spPr>
            <a:xfrm>
              <a:off x="3657852" y="7254593"/>
              <a:ext cx="3722220" cy="9117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 smtClean="0">
                  <a:solidFill>
                    <a:schemeClr val="tx1"/>
                  </a:solidFill>
                </a:rPr>
                <a:t>Cluster communication </a:t>
              </a:r>
              <a:r>
                <a:rPr lang="en-US" altLang="zh-CN" sz="2000" b="1" dirty="0">
                  <a:solidFill>
                    <a:schemeClr val="tx1"/>
                  </a:solidFill>
                </a:rPr>
                <a:t>model</a:t>
              </a:r>
              <a:endParaRPr lang="zh-CN" altLang="en-US" sz="2000" b="1" dirty="0">
                <a:solidFill>
                  <a:schemeClr val="tx1"/>
                </a:solidFill>
              </a:endParaRPr>
            </a:p>
          </p:txBody>
        </p:sp>
        <p:cxnSp>
          <p:nvCxnSpPr>
            <p:cNvPr id="112" name="直接箭头连接符 111"/>
            <p:cNvCxnSpPr>
              <a:stCxn id="108" idx="3"/>
              <a:endCxn id="110" idx="1"/>
            </p:cNvCxnSpPr>
            <p:nvPr/>
          </p:nvCxnSpPr>
          <p:spPr>
            <a:xfrm>
              <a:off x="2371155" y="6535715"/>
              <a:ext cx="1286697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5" name="直接箭头连接符 114"/>
            <p:cNvCxnSpPr>
              <a:stCxn id="109" idx="3"/>
              <a:endCxn id="111" idx="1"/>
            </p:cNvCxnSpPr>
            <p:nvPr/>
          </p:nvCxnSpPr>
          <p:spPr>
            <a:xfrm flipV="1">
              <a:off x="2371155" y="7710475"/>
              <a:ext cx="1286697" cy="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8" name="矩形 117"/>
            <p:cNvSpPr/>
            <p:nvPr/>
          </p:nvSpPr>
          <p:spPr>
            <a:xfrm>
              <a:off x="8834162" y="6657925"/>
              <a:ext cx="2644934" cy="87689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 smtClean="0">
                  <a:solidFill>
                    <a:schemeClr val="tx1"/>
                  </a:solidFill>
                </a:rPr>
                <a:t>Model combination</a:t>
              </a:r>
              <a:endParaRPr lang="zh-CN" altLang="en-US" sz="2000" b="1" dirty="0">
                <a:solidFill>
                  <a:schemeClr val="tx1"/>
                </a:solidFill>
              </a:endParaRPr>
            </a:p>
          </p:txBody>
        </p:sp>
        <p:cxnSp>
          <p:nvCxnSpPr>
            <p:cNvPr id="136" name="肘形连接符 135"/>
            <p:cNvCxnSpPr>
              <a:stCxn id="110" idx="3"/>
              <a:endCxn id="111" idx="3"/>
            </p:cNvCxnSpPr>
            <p:nvPr/>
          </p:nvCxnSpPr>
          <p:spPr>
            <a:xfrm>
              <a:off x="7380072" y="6535715"/>
              <a:ext cx="12700" cy="1174760"/>
            </a:xfrm>
            <a:prstGeom prst="bentConnector3">
              <a:avLst>
                <a:gd name="adj1" fmla="val 4165063"/>
              </a:avLst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接箭头连接符 140"/>
            <p:cNvCxnSpPr>
              <a:endCxn id="118" idx="1"/>
            </p:cNvCxnSpPr>
            <p:nvPr/>
          </p:nvCxnSpPr>
          <p:spPr>
            <a:xfrm>
              <a:off x="7903322" y="7090267"/>
              <a:ext cx="930840" cy="610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7" name="文本框 146"/>
            <p:cNvSpPr txBox="1"/>
            <p:nvPr/>
          </p:nvSpPr>
          <p:spPr>
            <a:xfrm>
              <a:off x="2125244" y="2437700"/>
              <a:ext cx="678743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b="1" dirty="0" smtClean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Computation-Communication Overlap Analysis</a:t>
              </a:r>
              <a:endParaRPr lang="zh-CN" alt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50" name="矩形 149"/>
            <p:cNvSpPr/>
            <p:nvPr/>
          </p:nvSpPr>
          <p:spPr>
            <a:xfrm>
              <a:off x="6066476" y="3284197"/>
              <a:ext cx="2372543" cy="114117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solidFill>
                    <a:schemeClr val="tx1"/>
                  </a:solidFill>
                </a:rPr>
                <a:t>Critical path extraction</a:t>
              </a:r>
              <a:endParaRPr lang="zh-CN" altLang="en-US" sz="2400" b="1" dirty="0">
                <a:solidFill>
                  <a:schemeClr val="tx1"/>
                </a:solidFill>
              </a:endParaRPr>
            </a:p>
          </p:txBody>
        </p:sp>
        <p:sp>
          <p:nvSpPr>
            <p:cNvPr id="151" name="矩形 150"/>
            <p:cNvSpPr/>
            <p:nvPr/>
          </p:nvSpPr>
          <p:spPr>
            <a:xfrm>
              <a:off x="2469836" y="3284196"/>
              <a:ext cx="2372543" cy="114117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 dirty="0" smtClean="0">
                  <a:solidFill>
                    <a:schemeClr val="tx1"/>
                  </a:solidFill>
                </a:rPr>
                <a:t>Iteration time</a:t>
              </a:r>
              <a:endParaRPr lang="zh-CN" altLang="en-US" sz="2800" b="1" dirty="0">
                <a:solidFill>
                  <a:schemeClr val="tx1"/>
                </a:solidFill>
              </a:endParaRPr>
            </a:p>
          </p:txBody>
        </p:sp>
        <p:cxnSp>
          <p:nvCxnSpPr>
            <p:cNvPr id="152" name="直接箭头连接符 151"/>
            <p:cNvCxnSpPr>
              <a:stCxn id="150" idx="1"/>
              <a:endCxn id="151" idx="3"/>
            </p:cNvCxnSpPr>
            <p:nvPr/>
          </p:nvCxnSpPr>
          <p:spPr>
            <a:xfrm flipH="1" flipV="1">
              <a:off x="4842379" y="3854783"/>
              <a:ext cx="1224097" cy="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6" name="肘形连接符 155"/>
            <p:cNvCxnSpPr>
              <a:stCxn id="73" idx="3"/>
            </p:cNvCxnSpPr>
            <p:nvPr/>
          </p:nvCxnSpPr>
          <p:spPr>
            <a:xfrm flipH="1">
              <a:off x="8439019" y="1091454"/>
              <a:ext cx="3542314" cy="2591035"/>
            </a:xfrm>
            <a:prstGeom prst="bentConnector3">
              <a:avLst>
                <a:gd name="adj1" fmla="val -18930"/>
              </a:avLst>
            </a:prstGeom>
            <a:ln w="28575"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8" name="肘形连接符 157"/>
            <p:cNvCxnSpPr/>
            <p:nvPr/>
          </p:nvCxnSpPr>
          <p:spPr>
            <a:xfrm rot="10800000">
              <a:off x="8439022" y="4081329"/>
              <a:ext cx="3045963" cy="3008937"/>
            </a:xfrm>
            <a:prstGeom prst="bentConnector3">
              <a:avLst>
                <a:gd name="adj1" fmla="val -39060"/>
              </a:avLst>
            </a:prstGeom>
            <a:ln w="28575" cap="flat"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79" name="文本框 178"/>
            <p:cNvSpPr txBox="1"/>
            <p:nvPr/>
          </p:nvSpPr>
          <p:spPr>
            <a:xfrm>
              <a:off x="9560839" y="3123640"/>
              <a:ext cx="2361544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/>
                <a:t>Computation Time</a:t>
              </a:r>
              <a:endParaRPr lang="zh-CN" altLang="en-US" sz="2000" b="1" dirty="0"/>
            </a:p>
            <a:p>
              <a:endParaRPr lang="zh-CN" altLang="en-US" sz="2000" dirty="0"/>
            </a:p>
          </p:txBody>
        </p:sp>
        <p:sp>
          <p:nvSpPr>
            <p:cNvPr id="180" name="文本框 179"/>
            <p:cNvSpPr txBox="1"/>
            <p:nvPr/>
          </p:nvSpPr>
          <p:spPr>
            <a:xfrm>
              <a:off x="9392499" y="4224677"/>
              <a:ext cx="2678938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/>
                <a:t>Communication Time</a:t>
              </a:r>
              <a:endParaRPr lang="zh-CN" altLang="en-US" sz="2000" b="1" dirty="0"/>
            </a:p>
            <a:p>
              <a:endParaRPr lang="zh-CN" altLang="en-U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2230296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组合 37"/>
          <p:cNvGrpSpPr/>
          <p:nvPr/>
        </p:nvGrpSpPr>
        <p:grpSpPr>
          <a:xfrm>
            <a:off x="883920" y="1250066"/>
            <a:ext cx="6827520" cy="4247765"/>
            <a:chOff x="883920" y="1250066"/>
            <a:chExt cx="6827520" cy="4247765"/>
          </a:xfrm>
        </p:grpSpPr>
        <p:sp>
          <p:nvSpPr>
            <p:cNvPr id="2" name="矩形 1"/>
            <p:cNvSpPr/>
            <p:nvPr/>
          </p:nvSpPr>
          <p:spPr>
            <a:xfrm>
              <a:off x="1143000" y="1932432"/>
              <a:ext cx="1051560" cy="490728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 smtClean="0">
                  <a:solidFill>
                    <a:schemeClr val="tx1"/>
                  </a:solidFill>
                </a:rPr>
                <a:t>环形拓扑</a:t>
              </a:r>
              <a:endParaRPr lang="zh-CN" altLang="en-US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48" name="矩形 47"/>
            <p:cNvSpPr/>
            <p:nvPr/>
          </p:nvSpPr>
          <p:spPr>
            <a:xfrm>
              <a:off x="2598420" y="1932432"/>
              <a:ext cx="1051560" cy="490728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 smtClean="0">
                  <a:solidFill>
                    <a:schemeClr val="tx1"/>
                  </a:solidFill>
                </a:rPr>
                <a:t>树形拓扑</a:t>
              </a:r>
              <a:endParaRPr lang="zh-CN" altLang="en-US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53" name="矩形 52"/>
            <p:cNvSpPr/>
            <p:nvPr/>
          </p:nvSpPr>
          <p:spPr>
            <a:xfrm>
              <a:off x="1051560" y="2709672"/>
              <a:ext cx="1234440" cy="490728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 smtClean="0">
                  <a:solidFill>
                    <a:schemeClr val="tx1"/>
                  </a:solidFill>
                </a:rPr>
                <a:t>指数图拓扑</a:t>
              </a:r>
              <a:endParaRPr lang="zh-CN" altLang="en-US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54" name="矩形 53"/>
            <p:cNvSpPr/>
            <p:nvPr/>
          </p:nvSpPr>
          <p:spPr>
            <a:xfrm>
              <a:off x="2598420" y="2709672"/>
              <a:ext cx="1051560" cy="490728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 smtClean="0">
                  <a:solidFill>
                    <a:schemeClr val="tx1"/>
                  </a:solidFill>
                </a:rPr>
                <a:t>多层拓扑</a:t>
              </a:r>
              <a:endParaRPr lang="zh-CN" altLang="en-US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4" name="矩形 3"/>
            <p:cNvSpPr/>
            <p:nvPr/>
          </p:nvSpPr>
          <p:spPr>
            <a:xfrm>
              <a:off x="883920" y="1250066"/>
              <a:ext cx="2956560" cy="214083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1346537" y="1393635"/>
              <a:ext cx="20313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 smtClean="0">
                  <a:solidFill>
                    <a:schemeClr val="accent1">
                      <a:lumMod val="50000"/>
                    </a:schemeClr>
                  </a:solidFill>
                </a:rPr>
                <a:t>现有通信拓扑测试</a:t>
              </a:r>
              <a:endParaRPr lang="zh-CN" altLang="en-US" b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56" name="矩形 55"/>
            <p:cNvSpPr/>
            <p:nvPr/>
          </p:nvSpPr>
          <p:spPr>
            <a:xfrm>
              <a:off x="4754880" y="1250066"/>
              <a:ext cx="2956560" cy="214083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" name="直接箭头连接符 6"/>
            <p:cNvCxnSpPr>
              <a:stCxn id="4" idx="3"/>
              <a:endCxn id="56" idx="1"/>
            </p:cNvCxnSpPr>
            <p:nvPr/>
          </p:nvCxnSpPr>
          <p:spPr>
            <a:xfrm>
              <a:off x="3840480" y="2320483"/>
              <a:ext cx="9144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矩形 64"/>
            <p:cNvSpPr/>
            <p:nvPr/>
          </p:nvSpPr>
          <p:spPr>
            <a:xfrm>
              <a:off x="3569970" y="4802505"/>
              <a:ext cx="1455420" cy="490728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chemeClr val="tx1"/>
                  </a:solidFill>
                </a:rPr>
                <a:t>性能</a:t>
              </a:r>
              <a:r>
                <a:rPr lang="zh-CN" altLang="en-US" sz="1600" b="1" dirty="0" smtClean="0">
                  <a:solidFill>
                    <a:schemeClr val="tx1"/>
                  </a:solidFill>
                </a:rPr>
                <a:t>预测模型</a:t>
              </a:r>
              <a:endParaRPr lang="zh-CN" altLang="en-US" sz="1600" b="1" dirty="0">
                <a:solidFill>
                  <a:schemeClr val="tx1"/>
                </a:solidFill>
              </a:endParaRPr>
            </a:p>
          </p:txBody>
        </p:sp>
        <p:cxnSp>
          <p:nvCxnSpPr>
            <p:cNvPr id="12" name="肘形连接符 11"/>
            <p:cNvCxnSpPr>
              <a:stCxn id="4" idx="2"/>
              <a:endCxn id="56" idx="2"/>
            </p:cNvCxnSpPr>
            <p:nvPr/>
          </p:nvCxnSpPr>
          <p:spPr>
            <a:xfrm rot="16200000" flipH="1">
              <a:off x="4297680" y="1455420"/>
              <a:ext cx="12700" cy="3870960"/>
            </a:xfrm>
            <a:prstGeom prst="bentConnector3">
              <a:avLst>
                <a:gd name="adj1" fmla="val 3440504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箭头连接符 14"/>
            <p:cNvCxnSpPr>
              <a:endCxn id="65" idx="0"/>
            </p:cNvCxnSpPr>
            <p:nvPr/>
          </p:nvCxnSpPr>
          <p:spPr>
            <a:xfrm>
              <a:off x="4297680" y="3802380"/>
              <a:ext cx="0" cy="100012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文本框 17"/>
            <p:cNvSpPr txBox="1"/>
            <p:nvPr/>
          </p:nvSpPr>
          <p:spPr>
            <a:xfrm>
              <a:off x="4304030" y="4206359"/>
              <a:ext cx="23471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 smtClean="0">
                  <a:solidFill>
                    <a:schemeClr val="accent1">
                      <a:lumMod val="50000"/>
                    </a:schemeClr>
                  </a:solidFill>
                </a:rPr>
                <a:t>大规模集群性能对比</a:t>
              </a:r>
              <a:endParaRPr lang="zh-CN" altLang="en-US" b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67" name="矩形 66"/>
            <p:cNvSpPr/>
            <p:nvPr/>
          </p:nvSpPr>
          <p:spPr>
            <a:xfrm>
              <a:off x="2766060" y="4065128"/>
              <a:ext cx="3747926" cy="143270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文本框 67"/>
            <p:cNvSpPr txBox="1"/>
            <p:nvPr/>
          </p:nvSpPr>
          <p:spPr>
            <a:xfrm>
              <a:off x="5454679" y="1337608"/>
              <a:ext cx="1569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 smtClean="0">
                  <a:solidFill>
                    <a:schemeClr val="accent1">
                      <a:lumMod val="50000"/>
                    </a:schemeClr>
                  </a:solidFill>
                </a:rPr>
                <a:t>通信拓扑设计</a:t>
              </a:r>
              <a:endParaRPr lang="zh-CN" altLang="en-US" b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69" name="矩形 68"/>
            <p:cNvSpPr/>
            <p:nvPr/>
          </p:nvSpPr>
          <p:spPr>
            <a:xfrm>
              <a:off x="5519341" y="1814797"/>
              <a:ext cx="1427637" cy="490728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 smtClean="0">
                  <a:solidFill>
                    <a:schemeClr val="tx1"/>
                  </a:solidFill>
                </a:rPr>
                <a:t>优化问题</a:t>
              </a:r>
              <a:endParaRPr lang="zh-CN" altLang="en-US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71" name="矩形 70"/>
            <p:cNvSpPr/>
            <p:nvPr/>
          </p:nvSpPr>
          <p:spPr>
            <a:xfrm>
              <a:off x="5525691" y="2718929"/>
              <a:ext cx="1427637" cy="490728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 smtClean="0">
                  <a:solidFill>
                    <a:schemeClr val="tx1"/>
                  </a:solidFill>
                </a:rPr>
                <a:t>稀疏拓扑结构</a:t>
              </a:r>
              <a:endParaRPr lang="zh-CN" altLang="en-US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3755366" y="1618988"/>
              <a:ext cx="108462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 smtClean="0"/>
                <a:t>通信半径分析</a:t>
              </a:r>
              <a:endParaRPr lang="zh-CN" altLang="en-US" sz="1600" b="1" dirty="0"/>
            </a:p>
          </p:txBody>
        </p:sp>
        <p:cxnSp>
          <p:nvCxnSpPr>
            <p:cNvPr id="23" name="直接箭头连接符 22"/>
            <p:cNvCxnSpPr>
              <a:stCxn id="69" idx="2"/>
              <a:endCxn id="71" idx="0"/>
            </p:cNvCxnSpPr>
            <p:nvPr/>
          </p:nvCxnSpPr>
          <p:spPr>
            <a:xfrm>
              <a:off x="6233160" y="2305525"/>
              <a:ext cx="6350" cy="41340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文本框 79"/>
            <p:cNvSpPr txBox="1"/>
            <p:nvPr/>
          </p:nvSpPr>
          <p:spPr>
            <a:xfrm>
              <a:off x="5331452" y="2337733"/>
              <a:ext cx="108462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 smtClean="0"/>
                <a:t>求解</a:t>
              </a:r>
              <a:endParaRPr lang="zh-CN" altLang="en-US" sz="16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436057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组合 37"/>
          <p:cNvGrpSpPr/>
          <p:nvPr/>
        </p:nvGrpSpPr>
        <p:grpSpPr>
          <a:xfrm>
            <a:off x="701040" y="1277498"/>
            <a:ext cx="6827520" cy="4247765"/>
            <a:chOff x="883920" y="1250066"/>
            <a:chExt cx="6827520" cy="4247765"/>
          </a:xfrm>
        </p:grpSpPr>
        <p:sp>
          <p:nvSpPr>
            <p:cNvPr id="2" name="矩形 1"/>
            <p:cNvSpPr/>
            <p:nvPr/>
          </p:nvSpPr>
          <p:spPr>
            <a:xfrm>
              <a:off x="1143000" y="1932432"/>
              <a:ext cx="1051560" cy="490728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 smtClean="0">
                  <a:solidFill>
                    <a:schemeClr val="tx1"/>
                  </a:solidFill>
                </a:rPr>
                <a:t>环形拓扑</a:t>
              </a:r>
              <a:endParaRPr lang="zh-CN" altLang="en-US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48" name="矩形 47"/>
            <p:cNvSpPr/>
            <p:nvPr/>
          </p:nvSpPr>
          <p:spPr>
            <a:xfrm>
              <a:off x="2598420" y="1932432"/>
              <a:ext cx="1051560" cy="490728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 smtClean="0">
                  <a:solidFill>
                    <a:schemeClr val="tx1"/>
                  </a:solidFill>
                </a:rPr>
                <a:t>树形拓扑</a:t>
              </a:r>
              <a:endParaRPr lang="zh-CN" altLang="en-US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53" name="矩形 52"/>
            <p:cNvSpPr/>
            <p:nvPr/>
          </p:nvSpPr>
          <p:spPr>
            <a:xfrm>
              <a:off x="2598420" y="2718929"/>
              <a:ext cx="1051560" cy="490728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E" altLang="zh-CN" sz="1600" b="1" dirty="0" smtClean="0">
                  <a:solidFill>
                    <a:schemeClr val="tx1"/>
                  </a:solidFill>
                </a:rPr>
                <a:t>……</a:t>
              </a:r>
              <a:endParaRPr lang="zh-CN" altLang="en-US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54" name="矩形 53"/>
            <p:cNvSpPr/>
            <p:nvPr/>
          </p:nvSpPr>
          <p:spPr>
            <a:xfrm>
              <a:off x="1143000" y="2718929"/>
              <a:ext cx="1051560" cy="490728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 smtClean="0">
                  <a:solidFill>
                    <a:schemeClr val="tx1"/>
                  </a:solidFill>
                </a:rPr>
                <a:t>多层拓扑</a:t>
              </a:r>
              <a:endParaRPr lang="zh-CN" altLang="en-US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4" name="矩形 3"/>
            <p:cNvSpPr/>
            <p:nvPr/>
          </p:nvSpPr>
          <p:spPr>
            <a:xfrm>
              <a:off x="883920" y="1250066"/>
              <a:ext cx="2956560" cy="214083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1346537" y="1393635"/>
              <a:ext cx="20313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 smtClean="0">
                  <a:solidFill>
                    <a:schemeClr val="accent1">
                      <a:lumMod val="50000"/>
                    </a:schemeClr>
                  </a:solidFill>
                </a:rPr>
                <a:t>现有通信拓扑测试</a:t>
              </a:r>
              <a:endParaRPr lang="zh-CN" altLang="en-US" b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56" name="矩形 55"/>
            <p:cNvSpPr/>
            <p:nvPr/>
          </p:nvSpPr>
          <p:spPr>
            <a:xfrm>
              <a:off x="4754880" y="1250066"/>
              <a:ext cx="2956560" cy="214083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" name="直接箭头连接符 6"/>
            <p:cNvCxnSpPr>
              <a:stCxn id="4" idx="3"/>
              <a:endCxn id="56" idx="1"/>
            </p:cNvCxnSpPr>
            <p:nvPr/>
          </p:nvCxnSpPr>
          <p:spPr>
            <a:xfrm>
              <a:off x="3840480" y="2320483"/>
              <a:ext cx="9144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矩形 64"/>
            <p:cNvSpPr/>
            <p:nvPr/>
          </p:nvSpPr>
          <p:spPr>
            <a:xfrm>
              <a:off x="3569970" y="4802505"/>
              <a:ext cx="1455420" cy="490728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chemeClr val="tx1"/>
                  </a:solidFill>
                </a:rPr>
                <a:t>性能</a:t>
              </a:r>
              <a:r>
                <a:rPr lang="zh-CN" altLang="en-US" sz="1600" b="1" dirty="0" smtClean="0">
                  <a:solidFill>
                    <a:schemeClr val="tx1"/>
                  </a:solidFill>
                </a:rPr>
                <a:t>预测模型</a:t>
              </a:r>
              <a:endParaRPr lang="zh-CN" altLang="en-US" sz="1600" b="1" dirty="0">
                <a:solidFill>
                  <a:schemeClr val="tx1"/>
                </a:solidFill>
              </a:endParaRPr>
            </a:p>
          </p:txBody>
        </p:sp>
        <p:cxnSp>
          <p:nvCxnSpPr>
            <p:cNvPr id="12" name="肘形连接符 11"/>
            <p:cNvCxnSpPr>
              <a:stCxn id="4" idx="2"/>
              <a:endCxn id="56" idx="2"/>
            </p:cNvCxnSpPr>
            <p:nvPr/>
          </p:nvCxnSpPr>
          <p:spPr>
            <a:xfrm rot="16200000" flipH="1">
              <a:off x="4297680" y="1455420"/>
              <a:ext cx="12700" cy="3870960"/>
            </a:xfrm>
            <a:prstGeom prst="bentConnector3">
              <a:avLst>
                <a:gd name="adj1" fmla="val 3440504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箭头连接符 14"/>
            <p:cNvCxnSpPr>
              <a:endCxn id="65" idx="0"/>
            </p:cNvCxnSpPr>
            <p:nvPr/>
          </p:nvCxnSpPr>
          <p:spPr>
            <a:xfrm>
              <a:off x="4297680" y="3802380"/>
              <a:ext cx="0" cy="100012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文本框 17"/>
            <p:cNvSpPr txBox="1"/>
            <p:nvPr/>
          </p:nvSpPr>
          <p:spPr>
            <a:xfrm>
              <a:off x="4304030" y="4206359"/>
              <a:ext cx="23471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 smtClean="0">
                  <a:solidFill>
                    <a:schemeClr val="accent1">
                      <a:lumMod val="50000"/>
                    </a:schemeClr>
                  </a:solidFill>
                </a:rPr>
                <a:t>大规模集群性能对比</a:t>
              </a:r>
              <a:endParaRPr lang="zh-CN" altLang="en-US" b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67" name="矩形 66"/>
            <p:cNvSpPr/>
            <p:nvPr/>
          </p:nvSpPr>
          <p:spPr>
            <a:xfrm>
              <a:off x="2766060" y="4065128"/>
              <a:ext cx="3747926" cy="143270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文本框 67"/>
            <p:cNvSpPr txBox="1"/>
            <p:nvPr/>
          </p:nvSpPr>
          <p:spPr>
            <a:xfrm>
              <a:off x="5454679" y="1337608"/>
              <a:ext cx="1569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 smtClean="0">
                  <a:solidFill>
                    <a:schemeClr val="accent1">
                      <a:lumMod val="50000"/>
                    </a:schemeClr>
                  </a:solidFill>
                </a:rPr>
                <a:t>通信拓扑设计</a:t>
              </a:r>
              <a:endParaRPr lang="zh-CN" altLang="en-US" b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69" name="矩形 68"/>
            <p:cNvSpPr/>
            <p:nvPr/>
          </p:nvSpPr>
          <p:spPr>
            <a:xfrm>
              <a:off x="5519341" y="1814797"/>
              <a:ext cx="1427637" cy="490728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 smtClean="0">
                  <a:solidFill>
                    <a:schemeClr val="tx1"/>
                  </a:solidFill>
                </a:rPr>
                <a:t>优化问题</a:t>
              </a:r>
              <a:endParaRPr lang="zh-CN" altLang="en-US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71" name="矩形 70"/>
            <p:cNvSpPr/>
            <p:nvPr/>
          </p:nvSpPr>
          <p:spPr>
            <a:xfrm>
              <a:off x="5525691" y="2718929"/>
              <a:ext cx="1427637" cy="490728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 smtClean="0">
                  <a:solidFill>
                    <a:schemeClr val="tx1"/>
                  </a:solidFill>
                </a:rPr>
                <a:t>稀疏拓扑结构</a:t>
              </a:r>
              <a:endParaRPr lang="zh-CN" altLang="en-US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3755366" y="1618988"/>
              <a:ext cx="108462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 smtClean="0"/>
                <a:t>通信半径分析</a:t>
              </a:r>
              <a:endParaRPr lang="zh-CN" altLang="en-US" sz="1600" b="1" dirty="0"/>
            </a:p>
          </p:txBody>
        </p:sp>
        <p:cxnSp>
          <p:nvCxnSpPr>
            <p:cNvPr id="23" name="直接箭头连接符 22"/>
            <p:cNvCxnSpPr>
              <a:stCxn id="69" idx="2"/>
              <a:endCxn id="71" idx="0"/>
            </p:cNvCxnSpPr>
            <p:nvPr/>
          </p:nvCxnSpPr>
          <p:spPr>
            <a:xfrm>
              <a:off x="6233160" y="2305525"/>
              <a:ext cx="6350" cy="41340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文本框 79"/>
            <p:cNvSpPr txBox="1"/>
            <p:nvPr/>
          </p:nvSpPr>
          <p:spPr>
            <a:xfrm>
              <a:off x="5331452" y="2337733"/>
              <a:ext cx="108462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 smtClean="0"/>
                <a:t>求解</a:t>
              </a:r>
              <a:endParaRPr lang="zh-CN" altLang="en-US" sz="16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653289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6" name="图片 24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333" y="3312536"/>
            <a:ext cx="1924685" cy="181522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/>
        </p:spPr>
      </p:pic>
      <p:pic>
        <p:nvPicPr>
          <p:cNvPr id="2437" name="图片 24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4886" y="3312536"/>
            <a:ext cx="2233117" cy="181522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/>
        </p:spPr>
      </p:pic>
      <p:pic>
        <p:nvPicPr>
          <p:cNvPr id="2438" name="图片 243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6871" y="3312536"/>
            <a:ext cx="2289325" cy="181522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/>
        </p:spPr>
      </p:pic>
      <p:sp>
        <p:nvSpPr>
          <p:cNvPr id="5" name="椭圆 4"/>
          <p:cNvSpPr/>
          <p:nvPr/>
        </p:nvSpPr>
        <p:spPr>
          <a:xfrm>
            <a:off x="1536425" y="1887142"/>
            <a:ext cx="332536" cy="32786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7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椭圆 5"/>
          <p:cNvSpPr/>
          <p:nvPr/>
        </p:nvSpPr>
        <p:spPr>
          <a:xfrm>
            <a:off x="2174828" y="940944"/>
            <a:ext cx="332536" cy="32786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1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7" name="椭圆 6"/>
          <p:cNvSpPr/>
          <p:nvPr/>
        </p:nvSpPr>
        <p:spPr>
          <a:xfrm>
            <a:off x="2807909" y="1887142"/>
            <a:ext cx="332536" cy="32786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5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8" name="椭圆 7"/>
          <p:cNvSpPr/>
          <p:nvPr/>
        </p:nvSpPr>
        <p:spPr>
          <a:xfrm>
            <a:off x="1536425" y="940944"/>
            <a:ext cx="332536" cy="32786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0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9" name="椭圆 8"/>
          <p:cNvSpPr/>
          <p:nvPr/>
        </p:nvSpPr>
        <p:spPr>
          <a:xfrm>
            <a:off x="2813231" y="940944"/>
            <a:ext cx="332536" cy="32786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2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0" name="椭圆 9"/>
          <p:cNvSpPr/>
          <p:nvPr/>
        </p:nvSpPr>
        <p:spPr>
          <a:xfrm>
            <a:off x="3451634" y="940944"/>
            <a:ext cx="332536" cy="32786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3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2172167" y="1887142"/>
            <a:ext cx="332536" cy="32786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6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2" name="直接连接符 11"/>
          <p:cNvCxnSpPr>
            <a:stCxn id="5" idx="0"/>
            <a:endCxn id="8" idx="4"/>
          </p:cNvCxnSpPr>
          <p:nvPr/>
        </p:nvCxnSpPr>
        <p:spPr>
          <a:xfrm flipV="1">
            <a:off x="1702693" y="1268810"/>
            <a:ext cx="0" cy="618332"/>
          </a:xfrm>
          <a:prstGeom prst="line">
            <a:avLst/>
          </a:prstGeom>
          <a:ln w="19050"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连接符 12"/>
          <p:cNvCxnSpPr>
            <a:stCxn id="5" idx="6"/>
            <a:endCxn id="11" idx="2"/>
          </p:cNvCxnSpPr>
          <p:nvPr/>
        </p:nvCxnSpPr>
        <p:spPr>
          <a:xfrm>
            <a:off x="1868961" y="2051075"/>
            <a:ext cx="303206" cy="0"/>
          </a:xfrm>
          <a:prstGeom prst="line">
            <a:avLst/>
          </a:prstGeom>
          <a:ln w="19050">
            <a:head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接连接符 13"/>
          <p:cNvCxnSpPr>
            <a:stCxn id="6" idx="2"/>
            <a:endCxn id="8" idx="6"/>
          </p:cNvCxnSpPr>
          <p:nvPr/>
        </p:nvCxnSpPr>
        <p:spPr>
          <a:xfrm flipH="1">
            <a:off x="1868961" y="1104877"/>
            <a:ext cx="305867" cy="0"/>
          </a:xfrm>
          <a:prstGeom prst="line">
            <a:avLst/>
          </a:prstGeom>
          <a:ln w="19050">
            <a:headEnd type="triangl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接连接符 14"/>
          <p:cNvCxnSpPr>
            <a:stCxn id="6" idx="6"/>
            <a:endCxn id="9" idx="2"/>
          </p:cNvCxnSpPr>
          <p:nvPr/>
        </p:nvCxnSpPr>
        <p:spPr>
          <a:xfrm>
            <a:off x="2507364" y="1104877"/>
            <a:ext cx="305867" cy="0"/>
          </a:xfrm>
          <a:prstGeom prst="line">
            <a:avLst/>
          </a:prstGeom>
          <a:ln w="19050"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/>
          <p:cNvCxnSpPr>
            <a:stCxn id="9" idx="6"/>
            <a:endCxn id="10" idx="2"/>
          </p:cNvCxnSpPr>
          <p:nvPr/>
        </p:nvCxnSpPr>
        <p:spPr>
          <a:xfrm>
            <a:off x="3145767" y="1104877"/>
            <a:ext cx="305867" cy="0"/>
          </a:xfrm>
          <a:prstGeom prst="line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接连接符 16"/>
          <p:cNvCxnSpPr>
            <a:stCxn id="11" idx="6"/>
            <a:endCxn id="7" idx="2"/>
          </p:cNvCxnSpPr>
          <p:nvPr/>
        </p:nvCxnSpPr>
        <p:spPr>
          <a:xfrm>
            <a:off x="2504703" y="2051075"/>
            <a:ext cx="303206" cy="0"/>
          </a:xfrm>
          <a:prstGeom prst="line">
            <a:avLst/>
          </a:prstGeom>
          <a:ln w="19050">
            <a:head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椭圆 17"/>
          <p:cNvSpPr/>
          <p:nvPr/>
        </p:nvSpPr>
        <p:spPr>
          <a:xfrm>
            <a:off x="3451634" y="1887142"/>
            <a:ext cx="332536" cy="32786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4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9" name="直接连接符 18"/>
          <p:cNvCxnSpPr>
            <a:stCxn id="18" idx="0"/>
            <a:endCxn id="10" idx="4"/>
          </p:cNvCxnSpPr>
          <p:nvPr/>
        </p:nvCxnSpPr>
        <p:spPr>
          <a:xfrm flipV="1">
            <a:off x="3617902" y="1268810"/>
            <a:ext cx="0" cy="618332"/>
          </a:xfrm>
          <a:prstGeom prst="line">
            <a:avLst/>
          </a:prstGeom>
          <a:ln w="19050">
            <a:head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接连接符 19"/>
          <p:cNvCxnSpPr>
            <a:stCxn id="7" idx="6"/>
            <a:endCxn id="18" idx="2"/>
          </p:cNvCxnSpPr>
          <p:nvPr/>
        </p:nvCxnSpPr>
        <p:spPr>
          <a:xfrm>
            <a:off x="3140445" y="2051075"/>
            <a:ext cx="311189" cy="0"/>
          </a:xfrm>
          <a:prstGeom prst="line">
            <a:avLst/>
          </a:prstGeom>
          <a:ln w="19050">
            <a:head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2324640" y="2262384"/>
            <a:ext cx="6495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 smtClean="0"/>
              <a:t>ring</a:t>
            </a:r>
            <a:endParaRPr lang="zh-CN" altLang="en-US" sz="2000" b="1" dirty="0"/>
          </a:p>
        </p:txBody>
      </p:sp>
      <p:grpSp>
        <p:nvGrpSpPr>
          <p:cNvPr id="22" name="组合 21"/>
          <p:cNvGrpSpPr/>
          <p:nvPr/>
        </p:nvGrpSpPr>
        <p:grpSpPr>
          <a:xfrm>
            <a:off x="5013207" y="777011"/>
            <a:ext cx="2260914" cy="1885483"/>
            <a:chOff x="3327282" y="427761"/>
            <a:chExt cx="2260914" cy="1885483"/>
          </a:xfrm>
        </p:grpSpPr>
        <p:sp>
          <p:nvSpPr>
            <p:cNvPr id="23" name="椭圆 22"/>
            <p:cNvSpPr/>
            <p:nvPr/>
          </p:nvSpPr>
          <p:spPr>
            <a:xfrm>
              <a:off x="4148482" y="427761"/>
              <a:ext cx="332536" cy="32786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0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4" name="椭圆 23"/>
            <p:cNvSpPr/>
            <p:nvPr/>
          </p:nvSpPr>
          <p:spPr>
            <a:xfrm>
              <a:off x="3624538" y="938301"/>
              <a:ext cx="332536" cy="32786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1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5" name="椭圆 24"/>
            <p:cNvSpPr/>
            <p:nvPr/>
          </p:nvSpPr>
          <p:spPr>
            <a:xfrm>
              <a:off x="4658232" y="938301"/>
              <a:ext cx="332536" cy="32786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4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6" name="椭圆 25"/>
            <p:cNvSpPr/>
            <p:nvPr/>
          </p:nvSpPr>
          <p:spPr>
            <a:xfrm>
              <a:off x="3327282" y="1496856"/>
              <a:ext cx="332536" cy="32786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2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7" name="椭圆 26"/>
            <p:cNvSpPr/>
            <p:nvPr/>
          </p:nvSpPr>
          <p:spPr>
            <a:xfrm>
              <a:off x="3900604" y="1496856"/>
              <a:ext cx="332536" cy="32786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3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8" name="椭圆 27"/>
            <p:cNvSpPr/>
            <p:nvPr/>
          </p:nvSpPr>
          <p:spPr>
            <a:xfrm>
              <a:off x="4451717" y="1496856"/>
              <a:ext cx="332536" cy="32786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5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9" name="椭圆 28"/>
            <p:cNvSpPr/>
            <p:nvPr/>
          </p:nvSpPr>
          <p:spPr>
            <a:xfrm>
              <a:off x="4990768" y="1496856"/>
              <a:ext cx="332536" cy="32786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6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30" name="直接连接符 29"/>
            <p:cNvCxnSpPr>
              <a:stCxn id="23" idx="4"/>
              <a:endCxn id="24" idx="0"/>
            </p:cNvCxnSpPr>
            <p:nvPr/>
          </p:nvCxnSpPr>
          <p:spPr>
            <a:xfrm flipH="1">
              <a:off x="3790806" y="755627"/>
              <a:ext cx="523944" cy="182674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>
              <a:stCxn id="23" idx="4"/>
              <a:endCxn id="25" idx="0"/>
            </p:cNvCxnSpPr>
            <p:nvPr/>
          </p:nvCxnSpPr>
          <p:spPr>
            <a:xfrm>
              <a:off x="4314750" y="755627"/>
              <a:ext cx="509750" cy="182674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>
              <a:stCxn id="24" idx="4"/>
              <a:endCxn id="26" idx="0"/>
            </p:cNvCxnSpPr>
            <p:nvPr/>
          </p:nvCxnSpPr>
          <p:spPr>
            <a:xfrm flipH="1">
              <a:off x="3493550" y="1266167"/>
              <a:ext cx="297256" cy="230689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>
              <a:stCxn id="24" idx="4"/>
              <a:endCxn id="27" idx="0"/>
            </p:cNvCxnSpPr>
            <p:nvPr/>
          </p:nvCxnSpPr>
          <p:spPr>
            <a:xfrm>
              <a:off x="3790806" y="1266167"/>
              <a:ext cx="276066" cy="230689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>
              <a:stCxn id="25" idx="4"/>
              <a:endCxn id="28" idx="0"/>
            </p:cNvCxnSpPr>
            <p:nvPr/>
          </p:nvCxnSpPr>
          <p:spPr>
            <a:xfrm flipH="1">
              <a:off x="4617985" y="1266167"/>
              <a:ext cx="206515" cy="230689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>
              <a:stCxn id="25" idx="4"/>
              <a:endCxn id="29" idx="0"/>
            </p:cNvCxnSpPr>
            <p:nvPr/>
          </p:nvCxnSpPr>
          <p:spPr>
            <a:xfrm>
              <a:off x="4824500" y="1266167"/>
              <a:ext cx="332536" cy="230689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6" name="椭圆 35"/>
            <p:cNvSpPr/>
            <p:nvPr/>
          </p:nvSpPr>
          <p:spPr>
            <a:xfrm>
              <a:off x="5255660" y="1985378"/>
              <a:ext cx="332536" cy="32786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7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37" name="直接连接符 36"/>
            <p:cNvCxnSpPr>
              <a:stCxn id="29" idx="4"/>
              <a:endCxn id="36" idx="0"/>
            </p:cNvCxnSpPr>
            <p:nvPr/>
          </p:nvCxnSpPr>
          <p:spPr>
            <a:xfrm>
              <a:off x="5157036" y="1824722"/>
              <a:ext cx="264892" cy="160656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8" name="文本框 37"/>
          <p:cNvSpPr txBox="1"/>
          <p:nvPr/>
        </p:nvSpPr>
        <p:spPr>
          <a:xfrm>
            <a:off x="5677947" y="2262384"/>
            <a:ext cx="6447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 smtClean="0"/>
              <a:t>tree</a:t>
            </a:r>
            <a:endParaRPr lang="zh-CN" altLang="en-US" sz="2000" b="1" dirty="0"/>
          </a:p>
        </p:txBody>
      </p:sp>
      <p:sp>
        <p:nvSpPr>
          <p:cNvPr id="39" name="文本框 38"/>
          <p:cNvSpPr txBox="1"/>
          <p:nvPr/>
        </p:nvSpPr>
        <p:spPr>
          <a:xfrm>
            <a:off x="8688510" y="2771700"/>
            <a:ext cx="15536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 smtClean="0"/>
              <a:t>exponential</a:t>
            </a:r>
            <a:endParaRPr lang="zh-CN" altLang="en-US" sz="2000" b="1" dirty="0"/>
          </a:p>
        </p:txBody>
      </p:sp>
      <p:grpSp>
        <p:nvGrpSpPr>
          <p:cNvPr id="40" name="组合 39"/>
          <p:cNvGrpSpPr/>
          <p:nvPr/>
        </p:nvGrpSpPr>
        <p:grpSpPr>
          <a:xfrm>
            <a:off x="8317103" y="406685"/>
            <a:ext cx="2247745" cy="1965804"/>
            <a:chOff x="8317103" y="406685"/>
            <a:chExt cx="2247745" cy="1965804"/>
          </a:xfrm>
        </p:grpSpPr>
        <p:sp>
          <p:nvSpPr>
            <p:cNvPr id="41" name="椭圆 40"/>
            <p:cNvSpPr/>
            <p:nvPr/>
          </p:nvSpPr>
          <p:spPr>
            <a:xfrm>
              <a:off x="8317103" y="1622982"/>
              <a:ext cx="332536" cy="32786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7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2" name="椭圆 41"/>
            <p:cNvSpPr/>
            <p:nvPr/>
          </p:nvSpPr>
          <p:spPr>
            <a:xfrm>
              <a:off x="8952845" y="406685"/>
              <a:ext cx="332536" cy="32786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1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3" name="椭圆 42"/>
            <p:cNvSpPr/>
            <p:nvPr/>
          </p:nvSpPr>
          <p:spPr>
            <a:xfrm>
              <a:off x="9588587" y="2044622"/>
              <a:ext cx="332536" cy="32786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5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4" name="椭圆 43"/>
            <p:cNvSpPr/>
            <p:nvPr/>
          </p:nvSpPr>
          <p:spPr>
            <a:xfrm>
              <a:off x="8317103" y="839344"/>
              <a:ext cx="332536" cy="32786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0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5" name="椭圆 44"/>
            <p:cNvSpPr/>
            <p:nvPr/>
          </p:nvSpPr>
          <p:spPr>
            <a:xfrm>
              <a:off x="9588587" y="407904"/>
              <a:ext cx="332536" cy="32786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2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6" name="椭圆 45"/>
            <p:cNvSpPr/>
            <p:nvPr/>
          </p:nvSpPr>
          <p:spPr>
            <a:xfrm>
              <a:off x="10232312" y="839344"/>
              <a:ext cx="332536" cy="32786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3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7" name="椭圆 46"/>
            <p:cNvSpPr/>
            <p:nvPr/>
          </p:nvSpPr>
          <p:spPr>
            <a:xfrm>
              <a:off x="8952845" y="2044622"/>
              <a:ext cx="332536" cy="32786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6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48" name="直接连接符 47"/>
            <p:cNvCxnSpPr>
              <a:stCxn id="41" idx="0"/>
              <a:endCxn id="44" idx="4"/>
            </p:cNvCxnSpPr>
            <p:nvPr/>
          </p:nvCxnSpPr>
          <p:spPr>
            <a:xfrm flipV="1">
              <a:off x="8483371" y="1167210"/>
              <a:ext cx="0" cy="455772"/>
            </a:xfrm>
            <a:prstGeom prst="line">
              <a:avLst/>
            </a:prstGeom>
            <a:ln w="19050">
              <a:headEnd type="non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>
              <a:stCxn id="41" idx="5"/>
              <a:endCxn id="47" idx="2"/>
            </p:cNvCxnSpPr>
            <p:nvPr/>
          </p:nvCxnSpPr>
          <p:spPr>
            <a:xfrm>
              <a:off x="8600940" y="1902833"/>
              <a:ext cx="351905" cy="305722"/>
            </a:xfrm>
            <a:prstGeom prst="line">
              <a:avLst/>
            </a:prstGeom>
            <a:ln w="19050">
              <a:head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直接连接符 49"/>
            <p:cNvCxnSpPr>
              <a:stCxn id="42" idx="2"/>
              <a:endCxn id="44" idx="7"/>
            </p:cNvCxnSpPr>
            <p:nvPr/>
          </p:nvCxnSpPr>
          <p:spPr>
            <a:xfrm flipH="1">
              <a:off x="8600940" y="570618"/>
              <a:ext cx="351905" cy="316741"/>
            </a:xfrm>
            <a:prstGeom prst="line">
              <a:avLst/>
            </a:prstGeom>
            <a:ln w="19050">
              <a:solidFill>
                <a:srgbClr val="FF0000"/>
              </a:solidFill>
              <a:headEnd type="triangle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>
              <a:stCxn id="42" idx="6"/>
              <a:endCxn id="45" idx="2"/>
            </p:cNvCxnSpPr>
            <p:nvPr/>
          </p:nvCxnSpPr>
          <p:spPr>
            <a:xfrm>
              <a:off x="9285381" y="570618"/>
              <a:ext cx="303206" cy="1219"/>
            </a:xfrm>
            <a:prstGeom prst="line">
              <a:avLst/>
            </a:prstGeom>
            <a:ln w="19050">
              <a:headEnd type="non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>
              <a:stCxn id="45" idx="6"/>
              <a:endCxn id="46" idx="1"/>
            </p:cNvCxnSpPr>
            <p:nvPr/>
          </p:nvCxnSpPr>
          <p:spPr>
            <a:xfrm>
              <a:off x="9921123" y="571837"/>
              <a:ext cx="359888" cy="315522"/>
            </a:xfrm>
            <a:prstGeom prst="line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>
              <a:stCxn id="47" idx="6"/>
              <a:endCxn id="43" idx="2"/>
            </p:cNvCxnSpPr>
            <p:nvPr/>
          </p:nvCxnSpPr>
          <p:spPr>
            <a:xfrm>
              <a:off x="9285381" y="2208555"/>
              <a:ext cx="303206" cy="0"/>
            </a:xfrm>
            <a:prstGeom prst="line">
              <a:avLst/>
            </a:prstGeom>
            <a:ln w="19050">
              <a:head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4" name="椭圆 53"/>
            <p:cNvSpPr/>
            <p:nvPr/>
          </p:nvSpPr>
          <p:spPr>
            <a:xfrm>
              <a:off x="10232312" y="1622982"/>
              <a:ext cx="332536" cy="32786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4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55" name="直接连接符 54"/>
            <p:cNvCxnSpPr>
              <a:stCxn id="54" idx="0"/>
              <a:endCxn id="46" idx="4"/>
            </p:cNvCxnSpPr>
            <p:nvPr/>
          </p:nvCxnSpPr>
          <p:spPr>
            <a:xfrm flipV="1">
              <a:off x="10398580" y="1167210"/>
              <a:ext cx="0" cy="455772"/>
            </a:xfrm>
            <a:prstGeom prst="line">
              <a:avLst/>
            </a:prstGeom>
            <a:ln w="19050">
              <a:head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>
              <a:stCxn id="43" idx="6"/>
              <a:endCxn id="54" idx="3"/>
            </p:cNvCxnSpPr>
            <p:nvPr/>
          </p:nvCxnSpPr>
          <p:spPr>
            <a:xfrm flipV="1">
              <a:off x="9921123" y="1902833"/>
              <a:ext cx="359888" cy="305722"/>
            </a:xfrm>
            <a:prstGeom prst="line">
              <a:avLst/>
            </a:prstGeom>
            <a:ln w="19050">
              <a:head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曲线连接符 56"/>
            <p:cNvCxnSpPr>
              <a:stCxn id="44" idx="0"/>
              <a:endCxn id="45" idx="0"/>
            </p:cNvCxnSpPr>
            <p:nvPr/>
          </p:nvCxnSpPr>
          <p:spPr>
            <a:xfrm rot="5400000" flipH="1" flipV="1">
              <a:off x="8903393" y="-12118"/>
              <a:ext cx="431440" cy="1271484"/>
            </a:xfrm>
            <a:prstGeom prst="curvedConnector3">
              <a:avLst>
                <a:gd name="adj1" fmla="val 152985"/>
              </a:avLst>
            </a:prstGeom>
            <a:ln w="19050">
              <a:solidFill>
                <a:srgbClr val="FF0000"/>
              </a:solidFill>
              <a:headEnd type="non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>
              <a:stCxn id="54" idx="1"/>
              <a:endCxn id="44" idx="6"/>
            </p:cNvCxnSpPr>
            <p:nvPr/>
          </p:nvCxnSpPr>
          <p:spPr>
            <a:xfrm flipH="1" flipV="1">
              <a:off x="8649639" y="1003277"/>
              <a:ext cx="1631372" cy="667720"/>
            </a:xfrm>
            <a:prstGeom prst="line">
              <a:avLst/>
            </a:prstGeom>
            <a:ln w="19050">
              <a:solidFill>
                <a:srgbClr val="FF0000"/>
              </a:solidFill>
              <a:headEnd type="triangle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曲线连接符 58"/>
            <p:cNvCxnSpPr>
              <a:stCxn id="42" idx="0"/>
              <a:endCxn id="46" idx="7"/>
            </p:cNvCxnSpPr>
            <p:nvPr/>
          </p:nvCxnSpPr>
          <p:spPr>
            <a:xfrm rot="16200000" flipH="1">
              <a:off x="9577294" y="-51496"/>
              <a:ext cx="480674" cy="1397036"/>
            </a:xfrm>
            <a:prstGeom prst="curvedConnector3">
              <a:avLst>
                <a:gd name="adj1" fmla="val -47558"/>
              </a:avLst>
            </a:prstGeom>
            <a:ln w="19050">
              <a:headEnd type="non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直接连接符 59"/>
            <p:cNvCxnSpPr>
              <a:stCxn id="43" idx="0"/>
              <a:endCxn id="42" idx="4"/>
            </p:cNvCxnSpPr>
            <p:nvPr/>
          </p:nvCxnSpPr>
          <p:spPr>
            <a:xfrm flipH="1" flipV="1">
              <a:off x="9119113" y="734551"/>
              <a:ext cx="635742" cy="1310071"/>
            </a:xfrm>
            <a:prstGeom prst="line">
              <a:avLst/>
            </a:prstGeom>
            <a:ln w="19050">
              <a:headEnd type="triangle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>
              <a:stCxn id="47" idx="0"/>
              <a:endCxn id="45" idx="4"/>
            </p:cNvCxnSpPr>
            <p:nvPr/>
          </p:nvCxnSpPr>
          <p:spPr>
            <a:xfrm flipV="1">
              <a:off x="9119113" y="735770"/>
              <a:ext cx="635742" cy="1308852"/>
            </a:xfrm>
            <a:prstGeom prst="line">
              <a:avLst/>
            </a:prstGeom>
            <a:ln w="19050">
              <a:headEnd type="triangle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2" name="直接连接符 61"/>
            <p:cNvCxnSpPr>
              <a:stCxn id="41" idx="7"/>
              <a:endCxn id="46" idx="2"/>
            </p:cNvCxnSpPr>
            <p:nvPr/>
          </p:nvCxnSpPr>
          <p:spPr>
            <a:xfrm flipV="1">
              <a:off x="8600940" y="1003277"/>
              <a:ext cx="1631372" cy="667720"/>
            </a:xfrm>
            <a:prstGeom prst="line">
              <a:avLst/>
            </a:prstGeom>
            <a:ln w="19050">
              <a:headEnd type="triangle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曲线连接符 62"/>
            <p:cNvCxnSpPr>
              <a:stCxn id="45" idx="7"/>
              <a:endCxn id="54" idx="6"/>
            </p:cNvCxnSpPr>
            <p:nvPr/>
          </p:nvCxnSpPr>
          <p:spPr>
            <a:xfrm rot="16200000" flipH="1">
              <a:off x="9553138" y="775205"/>
              <a:ext cx="1330996" cy="692424"/>
            </a:xfrm>
            <a:prstGeom prst="curvedConnector4">
              <a:avLst>
                <a:gd name="adj1" fmla="val -20783"/>
                <a:gd name="adj2" fmla="val 133014"/>
              </a:avLst>
            </a:prstGeom>
            <a:ln w="19050">
              <a:headEnd type="non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曲线连接符 63"/>
            <p:cNvCxnSpPr>
              <a:stCxn id="54" idx="5"/>
              <a:endCxn id="47" idx="4"/>
            </p:cNvCxnSpPr>
            <p:nvPr/>
          </p:nvCxnSpPr>
          <p:spPr>
            <a:xfrm rot="5400000">
              <a:off x="9582804" y="1439142"/>
              <a:ext cx="469655" cy="1397036"/>
            </a:xfrm>
            <a:prstGeom prst="curvedConnector3">
              <a:avLst>
                <a:gd name="adj1" fmla="val 148674"/>
              </a:avLst>
            </a:prstGeom>
            <a:ln w="19050">
              <a:headEnd type="non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曲线连接符 64"/>
            <p:cNvCxnSpPr>
              <a:stCxn id="46" idx="6"/>
              <a:endCxn id="43" idx="5"/>
            </p:cNvCxnSpPr>
            <p:nvPr/>
          </p:nvCxnSpPr>
          <p:spPr>
            <a:xfrm flipH="1">
              <a:off x="9872424" y="1003277"/>
              <a:ext cx="692424" cy="1321196"/>
            </a:xfrm>
            <a:prstGeom prst="curvedConnector4">
              <a:avLst>
                <a:gd name="adj1" fmla="val -33014"/>
                <a:gd name="adj2" fmla="val 120937"/>
              </a:avLst>
            </a:prstGeom>
            <a:ln w="19050">
              <a:headEnd type="non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曲线连接符 65"/>
            <p:cNvCxnSpPr>
              <a:stCxn id="43" idx="4"/>
              <a:endCxn id="41" idx="3"/>
            </p:cNvCxnSpPr>
            <p:nvPr/>
          </p:nvCxnSpPr>
          <p:spPr>
            <a:xfrm rot="5400000" flipH="1">
              <a:off x="8825501" y="1443135"/>
              <a:ext cx="469655" cy="1389053"/>
            </a:xfrm>
            <a:prstGeom prst="curvedConnector3">
              <a:avLst>
                <a:gd name="adj1" fmla="val -48674"/>
              </a:avLst>
            </a:prstGeom>
            <a:ln w="19050">
              <a:headEnd type="non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曲线连接符 66"/>
            <p:cNvCxnSpPr>
              <a:stCxn id="47" idx="3"/>
              <a:endCxn id="44" idx="2"/>
            </p:cNvCxnSpPr>
            <p:nvPr/>
          </p:nvCxnSpPr>
          <p:spPr>
            <a:xfrm rot="5400000" flipH="1">
              <a:off x="7998726" y="1321655"/>
              <a:ext cx="1321196" cy="684441"/>
            </a:xfrm>
            <a:prstGeom prst="curvedConnector4">
              <a:avLst>
                <a:gd name="adj1" fmla="val -20937"/>
                <a:gd name="adj2" fmla="val 133400"/>
              </a:avLst>
            </a:prstGeom>
            <a:ln w="19050">
              <a:headEnd type="non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8" name="矩形 67"/>
          <p:cNvSpPr/>
          <p:nvPr/>
        </p:nvSpPr>
        <p:spPr>
          <a:xfrm>
            <a:off x="9895606" y="5776527"/>
            <a:ext cx="15199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/>
              <a:t>h</a:t>
            </a:r>
            <a:r>
              <a:rPr lang="zh-CN" altLang="en-US" sz="2000" b="1" dirty="0" smtClean="0"/>
              <a:t>ierarchical</a:t>
            </a:r>
            <a:endParaRPr lang="zh-CN" altLang="en-US" sz="2000" b="1" dirty="0"/>
          </a:p>
        </p:txBody>
      </p:sp>
      <p:grpSp>
        <p:nvGrpSpPr>
          <p:cNvPr id="69" name="组合 68"/>
          <p:cNvGrpSpPr/>
          <p:nvPr/>
        </p:nvGrpSpPr>
        <p:grpSpPr>
          <a:xfrm>
            <a:off x="10041185" y="3438941"/>
            <a:ext cx="1237639" cy="2173653"/>
            <a:chOff x="2041901" y="3639103"/>
            <a:chExt cx="1237639" cy="2173653"/>
          </a:xfrm>
        </p:grpSpPr>
        <p:sp>
          <p:nvSpPr>
            <p:cNvPr id="70" name="椭圆 69"/>
            <p:cNvSpPr/>
            <p:nvPr/>
          </p:nvSpPr>
          <p:spPr>
            <a:xfrm>
              <a:off x="2934304" y="5484890"/>
              <a:ext cx="332536" cy="32786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7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1" name="椭圆 70"/>
            <p:cNvSpPr/>
            <p:nvPr/>
          </p:nvSpPr>
          <p:spPr>
            <a:xfrm>
              <a:off x="2938174" y="3639103"/>
              <a:ext cx="332536" cy="32786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1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2" name="椭圆 71"/>
            <p:cNvSpPr/>
            <p:nvPr/>
          </p:nvSpPr>
          <p:spPr>
            <a:xfrm>
              <a:off x="2045771" y="3639103"/>
              <a:ext cx="332536" cy="32786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0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2041901" y="5484890"/>
              <a:ext cx="332536" cy="32786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6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74" name="直接连接符 73"/>
            <p:cNvCxnSpPr>
              <a:stCxn id="70" idx="2"/>
              <a:endCxn id="73" idx="6"/>
            </p:cNvCxnSpPr>
            <p:nvPr/>
          </p:nvCxnSpPr>
          <p:spPr>
            <a:xfrm flipH="1">
              <a:off x="2374437" y="5648823"/>
              <a:ext cx="559867" cy="0"/>
            </a:xfrm>
            <a:prstGeom prst="line">
              <a:avLst/>
            </a:prstGeom>
            <a:ln w="19050">
              <a:head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5" name="直接连接符 74"/>
            <p:cNvCxnSpPr>
              <a:stCxn id="71" idx="2"/>
              <a:endCxn id="72" idx="6"/>
            </p:cNvCxnSpPr>
            <p:nvPr/>
          </p:nvCxnSpPr>
          <p:spPr>
            <a:xfrm flipH="1">
              <a:off x="2378307" y="3803036"/>
              <a:ext cx="559867" cy="0"/>
            </a:xfrm>
            <a:prstGeom prst="line">
              <a:avLst/>
            </a:prstGeom>
            <a:ln w="19050">
              <a:headEnd type="triangle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6" name="椭圆 75"/>
            <p:cNvSpPr/>
            <p:nvPr/>
          </p:nvSpPr>
          <p:spPr>
            <a:xfrm>
              <a:off x="2041901" y="4231288"/>
              <a:ext cx="332536" cy="32786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2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7" name="椭圆 76"/>
            <p:cNvSpPr/>
            <p:nvPr/>
          </p:nvSpPr>
          <p:spPr>
            <a:xfrm>
              <a:off x="2934304" y="4231288"/>
              <a:ext cx="332536" cy="32786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3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78" name="直接连接符 77"/>
            <p:cNvCxnSpPr>
              <a:stCxn id="76" idx="6"/>
              <a:endCxn id="77" idx="2"/>
            </p:cNvCxnSpPr>
            <p:nvPr/>
          </p:nvCxnSpPr>
          <p:spPr>
            <a:xfrm>
              <a:off x="2374437" y="4395221"/>
              <a:ext cx="559867" cy="0"/>
            </a:xfrm>
            <a:prstGeom prst="line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9" name="椭圆 78"/>
            <p:cNvSpPr/>
            <p:nvPr/>
          </p:nvSpPr>
          <p:spPr>
            <a:xfrm>
              <a:off x="2934304" y="4858089"/>
              <a:ext cx="332536" cy="32786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5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0" name="椭圆 79"/>
            <p:cNvSpPr/>
            <p:nvPr/>
          </p:nvSpPr>
          <p:spPr>
            <a:xfrm>
              <a:off x="2041901" y="4858089"/>
              <a:ext cx="332536" cy="32786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4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81" name="直接连接符 80"/>
            <p:cNvCxnSpPr>
              <a:stCxn id="79" idx="2"/>
              <a:endCxn id="80" idx="6"/>
            </p:cNvCxnSpPr>
            <p:nvPr/>
          </p:nvCxnSpPr>
          <p:spPr>
            <a:xfrm flipH="1">
              <a:off x="2374437" y="5022022"/>
              <a:ext cx="559867" cy="0"/>
            </a:xfrm>
            <a:prstGeom prst="line">
              <a:avLst/>
            </a:prstGeom>
            <a:ln w="19050">
              <a:head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直接连接符 81"/>
            <p:cNvCxnSpPr>
              <a:stCxn id="77" idx="0"/>
              <a:endCxn id="71" idx="4"/>
            </p:cNvCxnSpPr>
            <p:nvPr/>
          </p:nvCxnSpPr>
          <p:spPr>
            <a:xfrm flipV="1">
              <a:off x="3100572" y="3966969"/>
              <a:ext cx="3870" cy="264319"/>
            </a:xfrm>
            <a:prstGeom prst="line">
              <a:avLst/>
            </a:prstGeom>
            <a:ln w="19050">
              <a:solidFill>
                <a:schemeClr val="accent1">
                  <a:lumMod val="75000"/>
                </a:schemeClr>
              </a:solidFill>
              <a:headEnd type="triangle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直接连接符 82"/>
            <p:cNvCxnSpPr>
              <a:stCxn id="70" idx="0"/>
              <a:endCxn id="79" idx="4"/>
            </p:cNvCxnSpPr>
            <p:nvPr/>
          </p:nvCxnSpPr>
          <p:spPr>
            <a:xfrm flipV="1">
              <a:off x="3100572" y="5185955"/>
              <a:ext cx="0" cy="298935"/>
            </a:xfrm>
            <a:prstGeom prst="line">
              <a:avLst/>
            </a:prstGeom>
            <a:ln w="19050">
              <a:solidFill>
                <a:schemeClr val="accent1">
                  <a:lumMod val="75000"/>
                </a:schemeClr>
              </a:solidFill>
              <a:headEnd type="triangle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肘形连接符 83"/>
            <p:cNvCxnSpPr>
              <a:stCxn id="77" idx="6"/>
              <a:endCxn id="70" idx="6"/>
            </p:cNvCxnSpPr>
            <p:nvPr/>
          </p:nvCxnSpPr>
          <p:spPr>
            <a:xfrm>
              <a:off x="3266840" y="4395221"/>
              <a:ext cx="12700" cy="1253602"/>
            </a:xfrm>
            <a:prstGeom prst="bentConnector3">
              <a:avLst>
                <a:gd name="adj1" fmla="val 1800000"/>
              </a:avLst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06291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3691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15998</TotalTime>
  <Words>701</Words>
  <Application>Microsoft Office PowerPoint</Application>
  <PresentationFormat>宽屏</PresentationFormat>
  <Paragraphs>278</Paragraphs>
  <Slides>16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3" baseType="lpstr">
      <vt:lpstr>等线</vt:lpstr>
      <vt:lpstr>等线 Light</vt:lpstr>
      <vt:lpstr>宋体</vt:lpstr>
      <vt:lpstr>Arial</vt:lpstr>
      <vt:lpstr>Times New Roman</vt:lpstr>
      <vt:lpstr>Office 主题​​</vt:lpstr>
      <vt:lpstr>AxMath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ZJU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YanChangzhi</dc:creator>
  <cp:lastModifiedBy>YanChangzhi</cp:lastModifiedBy>
  <cp:revision>76</cp:revision>
  <dcterms:created xsi:type="dcterms:W3CDTF">2022-10-09T13:04:10Z</dcterms:created>
  <dcterms:modified xsi:type="dcterms:W3CDTF">2023-12-10T02:46:02Z</dcterms:modified>
</cp:coreProperties>
</file>