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7" r:id="rId5"/>
    <p:sldId id="269" r:id="rId6"/>
    <p:sldId id="259" r:id="rId7"/>
    <p:sldId id="264" r:id="rId8"/>
    <p:sldId id="272" r:id="rId9"/>
    <p:sldId id="273" r:id="rId10"/>
    <p:sldId id="260" r:id="rId11"/>
    <p:sldId id="261" r:id="rId12"/>
    <p:sldId id="266" r:id="rId13"/>
    <p:sldId id="262" r:id="rId14"/>
    <p:sldId id="263" r:id="rId15"/>
    <p:sldId id="265" r:id="rId16"/>
    <p:sldId id="274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B179"/>
    <a:srgbClr val="C4D6A0"/>
    <a:srgbClr val="D9958F"/>
    <a:srgbClr val="FCB803"/>
    <a:srgbClr val="8CB3F2"/>
    <a:srgbClr val="FFFFFF"/>
    <a:srgbClr val="6DA6DA"/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320" autoAdjust="0"/>
  </p:normalViewPr>
  <p:slideViewPr>
    <p:cSldViewPr snapToGrid="0">
      <p:cViewPr>
        <p:scale>
          <a:sx n="150" d="100"/>
          <a:sy n="150" d="100"/>
        </p:scale>
        <p:origin x="702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image" Target="../media/image6.wmf"/><Relationship Id="rId1" Type="http://schemas.openxmlformats.org/officeDocument/2006/relationships/image" Target="../media/image5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743333-EF98-4F3C-95C6-7F4B81769F11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34AC8-3000-446B-90ED-C4255BECB5A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47984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7644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9643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4062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8208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4883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152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2716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104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4484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428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775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5415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516F4-0452-4179-9B91-2B7430FA9247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4680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B516F4-0452-4179-9B91-2B7430FA9247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BD49D4-8FF7-40F9-8558-448A58F449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309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2"/>
          <a:srcRect b="7464"/>
          <a:stretch/>
        </p:blipFill>
        <p:spPr>
          <a:xfrm>
            <a:off x="2010057" y="640081"/>
            <a:ext cx="8579838" cy="498348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848916" y="5127537"/>
            <a:ext cx="1182289" cy="373879"/>
          </a:xfrm>
          <a:prstGeom prst="flowChartTerminator">
            <a:avLst/>
          </a:prstGeom>
          <a:solidFill>
            <a:srgbClr val="C4D6A0"/>
          </a:solidFill>
        </p:spPr>
        <p:txBody>
          <a:bodyPr wrap="square" rtlCol="0">
            <a:spAutoFit/>
          </a:bodyPr>
          <a:lstStyle/>
          <a:p>
            <a:endParaRPr lang="zh-CN" altLang="en-US" sz="1600" dirty="0"/>
          </a:p>
        </p:txBody>
      </p:sp>
      <p:sp>
        <p:nvSpPr>
          <p:cNvPr id="6" name="文本框 5"/>
          <p:cNvSpPr txBox="1"/>
          <p:nvPr/>
        </p:nvSpPr>
        <p:spPr>
          <a:xfrm>
            <a:off x="2763677" y="512552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小批量</a:t>
            </a:r>
            <a:r>
              <a:rPr lang="zh-CN" altLang="en-US" dirty="0" smtClean="0"/>
              <a:t>数据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4666623" y="5162550"/>
            <a:ext cx="1096002" cy="295275"/>
          </a:xfrm>
          <a:prstGeom prst="rect">
            <a:avLst/>
          </a:prstGeom>
          <a:solidFill>
            <a:srgbClr val="D995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359160" y="5162550"/>
            <a:ext cx="1096002" cy="295275"/>
          </a:xfrm>
          <a:prstGeom prst="rect">
            <a:avLst/>
          </a:prstGeom>
          <a:solidFill>
            <a:srgbClr val="FCB8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8121285" y="5140910"/>
            <a:ext cx="1096002" cy="295275"/>
          </a:xfrm>
          <a:prstGeom prst="rect">
            <a:avLst/>
          </a:prstGeom>
          <a:solidFill>
            <a:srgbClr val="8CB3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6243016" y="1952625"/>
            <a:ext cx="1096002" cy="295275"/>
          </a:xfrm>
          <a:prstGeom prst="rect">
            <a:avLst/>
          </a:prstGeom>
          <a:solidFill>
            <a:srgbClr val="FCB8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7968885" y="1919287"/>
            <a:ext cx="1096002" cy="295275"/>
          </a:xfrm>
          <a:prstGeom prst="rect">
            <a:avLst/>
          </a:prstGeom>
          <a:solidFill>
            <a:srgbClr val="8CB3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4517147" y="1919286"/>
            <a:ext cx="1096002" cy="295275"/>
          </a:xfrm>
          <a:prstGeom prst="rect">
            <a:avLst/>
          </a:prstGeom>
          <a:solidFill>
            <a:srgbClr val="D995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2792814" y="1952625"/>
            <a:ext cx="1096002" cy="295275"/>
          </a:xfrm>
          <a:prstGeom prst="rect">
            <a:avLst/>
          </a:prstGeom>
          <a:solidFill>
            <a:srgbClr val="C4D6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4796666" y="801260"/>
            <a:ext cx="2308983" cy="341740"/>
          </a:xfrm>
          <a:prstGeom prst="rect">
            <a:avLst/>
          </a:prstGeom>
          <a:solidFill>
            <a:srgbClr val="F7B1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dirty="0" smtClean="0">
                <a:solidFill>
                  <a:schemeClr val="tx1"/>
                </a:solidFill>
              </a:rPr>
              <a:t>数据平均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892060" y="2647951"/>
            <a:ext cx="1096002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4517147" y="2647951"/>
            <a:ext cx="1096002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6243016" y="2647951"/>
            <a:ext cx="1096002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7998540" y="2644751"/>
            <a:ext cx="1096002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2028485" y="1306222"/>
            <a:ext cx="2057740" cy="2558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2724607" y="1900207"/>
            <a:ext cx="1332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</a:t>
            </a:r>
            <a:r>
              <a:rPr lang="en-US" altLang="zh-CN" sz="2000" dirty="0" smtClean="0"/>
              <a:t>/</a:t>
            </a:r>
            <a:r>
              <a:rPr lang="zh-CN" altLang="en-US" sz="2000" dirty="0" smtClean="0"/>
              <a:t>梯度</a:t>
            </a:r>
            <a:endParaRPr lang="zh-CN" altLang="en-US" sz="2000" dirty="0"/>
          </a:p>
        </p:txBody>
      </p:sp>
      <p:sp>
        <p:nvSpPr>
          <p:cNvPr id="22" name="文本框 21"/>
          <p:cNvSpPr txBox="1"/>
          <p:nvPr/>
        </p:nvSpPr>
        <p:spPr>
          <a:xfrm>
            <a:off x="4398940" y="1900207"/>
            <a:ext cx="1332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</a:t>
            </a:r>
            <a:r>
              <a:rPr lang="en-US" altLang="zh-CN" sz="2000" dirty="0" smtClean="0"/>
              <a:t>/</a:t>
            </a:r>
            <a:r>
              <a:rPr lang="zh-CN" altLang="en-US" sz="2000" dirty="0" smtClean="0"/>
              <a:t>梯度</a:t>
            </a:r>
            <a:endParaRPr lang="zh-CN" altLang="en-US" sz="2000" dirty="0"/>
          </a:p>
        </p:txBody>
      </p:sp>
      <p:sp>
        <p:nvSpPr>
          <p:cNvPr id="23" name="文本框 22"/>
          <p:cNvSpPr txBox="1"/>
          <p:nvPr/>
        </p:nvSpPr>
        <p:spPr>
          <a:xfrm>
            <a:off x="6162001" y="1900207"/>
            <a:ext cx="1332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</a:t>
            </a:r>
            <a:r>
              <a:rPr lang="en-US" altLang="zh-CN" sz="2000" dirty="0" smtClean="0"/>
              <a:t>/</a:t>
            </a:r>
            <a:r>
              <a:rPr lang="zh-CN" altLang="en-US" sz="2000" dirty="0" smtClean="0"/>
              <a:t>梯度</a:t>
            </a:r>
            <a:endParaRPr lang="zh-CN" altLang="en-US" sz="2000" dirty="0"/>
          </a:p>
        </p:txBody>
      </p:sp>
      <p:sp>
        <p:nvSpPr>
          <p:cNvPr id="24" name="文本框 23"/>
          <p:cNvSpPr txBox="1"/>
          <p:nvPr/>
        </p:nvSpPr>
        <p:spPr>
          <a:xfrm>
            <a:off x="7850678" y="1900207"/>
            <a:ext cx="1332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</a:t>
            </a:r>
            <a:r>
              <a:rPr lang="en-US" altLang="zh-CN" sz="2000" dirty="0" smtClean="0"/>
              <a:t>/</a:t>
            </a:r>
            <a:r>
              <a:rPr lang="zh-CN" altLang="en-US" sz="2000" dirty="0" smtClean="0"/>
              <a:t>梯度</a:t>
            </a:r>
            <a:endParaRPr lang="zh-CN" altLang="en-US" sz="2000" dirty="0"/>
          </a:p>
        </p:txBody>
      </p:sp>
      <p:sp>
        <p:nvSpPr>
          <p:cNvPr id="25" name="文本框 24"/>
          <p:cNvSpPr txBox="1"/>
          <p:nvPr/>
        </p:nvSpPr>
        <p:spPr>
          <a:xfrm>
            <a:off x="3290435" y="1234106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通信</a:t>
            </a:r>
            <a:endParaRPr lang="zh-CN" altLang="en-US" sz="2000" dirty="0"/>
          </a:p>
        </p:txBody>
      </p:sp>
      <p:sp>
        <p:nvSpPr>
          <p:cNvPr id="27" name="文本框 26"/>
          <p:cNvSpPr txBox="1"/>
          <p:nvPr/>
        </p:nvSpPr>
        <p:spPr>
          <a:xfrm>
            <a:off x="4531714" y="511625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小批量</a:t>
            </a:r>
            <a:r>
              <a:rPr lang="zh-CN" altLang="en-US" dirty="0" smtClean="0"/>
              <a:t>数据</a:t>
            </a:r>
            <a:endParaRPr lang="zh-CN" altLang="en-US" dirty="0"/>
          </a:p>
        </p:txBody>
      </p:sp>
      <p:sp>
        <p:nvSpPr>
          <p:cNvPr id="28" name="文本框 27"/>
          <p:cNvSpPr txBox="1"/>
          <p:nvPr/>
        </p:nvSpPr>
        <p:spPr>
          <a:xfrm>
            <a:off x="6246828" y="511625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小批量</a:t>
            </a:r>
            <a:r>
              <a:rPr lang="zh-CN" altLang="en-US" dirty="0" smtClean="0"/>
              <a:t>数据</a:t>
            </a:r>
            <a:endParaRPr lang="zh-CN" altLang="en-US" dirty="0"/>
          </a:p>
        </p:txBody>
      </p:sp>
      <p:sp>
        <p:nvSpPr>
          <p:cNvPr id="29" name="文本框 28"/>
          <p:cNvSpPr txBox="1"/>
          <p:nvPr/>
        </p:nvSpPr>
        <p:spPr>
          <a:xfrm>
            <a:off x="7983377" y="510388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小批量</a:t>
            </a:r>
            <a:r>
              <a:rPr lang="zh-CN" altLang="en-US" dirty="0" smtClean="0"/>
              <a:t>数据</a:t>
            </a:r>
            <a:endParaRPr lang="zh-CN" altLang="en-US" dirty="0"/>
          </a:p>
        </p:txBody>
      </p:sp>
      <p:sp>
        <p:nvSpPr>
          <p:cNvPr id="30" name="文本框 29"/>
          <p:cNvSpPr txBox="1"/>
          <p:nvPr/>
        </p:nvSpPr>
        <p:spPr>
          <a:xfrm>
            <a:off x="2953448" y="2570724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节点</a:t>
            </a:r>
            <a:r>
              <a:rPr lang="en-US" altLang="zh-CN" sz="1600" dirty="0" smtClean="0"/>
              <a:t>1</a:t>
            </a:r>
            <a:endParaRPr lang="zh-CN" altLang="en-US" sz="1600" dirty="0"/>
          </a:p>
        </p:txBody>
      </p:sp>
      <p:sp>
        <p:nvSpPr>
          <p:cNvPr id="31" name="文本框 30"/>
          <p:cNvSpPr txBox="1"/>
          <p:nvPr/>
        </p:nvSpPr>
        <p:spPr>
          <a:xfrm>
            <a:off x="4728677" y="2570724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节点</a:t>
            </a:r>
            <a:r>
              <a:rPr lang="en-US" altLang="zh-CN" sz="1600" dirty="0" smtClean="0"/>
              <a:t>2</a:t>
            </a:r>
            <a:endParaRPr lang="zh-CN" altLang="en-US" sz="1600" dirty="0"/>
          </a:p>
        </p:txBody>
      </p:sp>
      <p:sp>
        <p:nvSpPr>
          <p:cNvPr id="32" name="文本框 31"/>
          <p:cNvSpPr txBox="1"/>
          <p:nvPr/>
        </p:nvSpPr>
        <p:spPr>
          <a:xfrm>
            <a:off x="6472070" y="2570724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节点</a:t>
            </a:r>
            <a:r>
              <a:rPr lang="en-US" altLang="zh-CN" sz="1600" dirty="0"/>
              <a:t>3</a:t>
            </a:r>
            <a:endParaRPr lang="zh-CN" altLang="en-US" sz="1600" dirty="0"/>
          </a:p>
        </p:txBody>
      </p:sp>
      <p:sp>
        <p:nvSpPr>
          <p:cNvPr id="33" name="文本框 32"/>
          <p:cNvSpPr txBox="1"/>
          <p:nvPr/>
        </p:nvSpPr>
        <p:spPr>
          <a:xfrm>
            <a:off x="8186888" y="2570724"/>
            <a:ext cx="1371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 smtClean="0"/>
              <a:t>节点</a:t>
            </a:r>
            <a:r>
              <a:rPr lang="en-US" altLang="zh-CN" sz="1600" dirty="0" smtClean="0"/>
              <a:t>4</a:t>
            </a:r>
            <a:endParaRPr lang="zh-CN" altLang="en-US" sz="1600" dirty="0"/>
          </a:p>
        </p:txBody>
      </p:sp>
      <p:sp>
        <p:nvSpPr>
          <p:cNvPr id="36" name="矩形 35"/>
          <p:cNvSpPr/>
          <p:nvPr/>
        </p:nvSpPr>
        <p:spPr>
          <a:xfrm>
            <a:off x="9629775" y="4333874"/>
            <a:ext cx="960120" cy="2571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8858250" y="4676774"/>
            <a:ext cx="960120" cy="2571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9163050" y="4695824"/>
            <a:ext cx="960120" cy="2571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/>
        </p:nvSpPr>
        <p:spPr>
          <a:xfrm>
            <a:off x="9311409" y="432583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参数更新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54279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551" y="375397"/>
            <a:ext cx="7486650" cy="5945280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2619374" y="466725"/>
            <a:ext cx="1114426" cy="59912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流程图: 终止 39"/>
          <p:cNvSpPr/>
          <p:nvPr/>
        </p:nvSpPr>
        <p:spPr>
          <a:xfrm>
            <a:off x="4105275" y="5924550"/>
            <a:ext cx="914400" cy="228600"/>
          </a:xfrm>
          <a:prstGeom prst="flowChartTerminator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流程图: 终止 40"/>
          <p:cNvSpPr/>
          <p:nvPr/>
        </p:nvSpPr>
        <p:spPr>
          <a:xfrm>
            <a:off x="5391150" y="5924550"/>
            <a:ext cx="914400" cy="228600"/>
          </a:xfrm>
          <a:prstGeom prst="flowChartTerminator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流程图: 终止 41"/>
          <p:cNvSpPr/>
          <p:nvPr/>
        </p:nvSpPr>
        <p:spPr>
          <a:xfrm>
            <a:off x="6677025" y="5924550"/>
            <a:ext cx="914400" cy="228600"/>
          </a:xfrm>
          <a:prstGeom prst="flowChartTerminator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流程图: 终止 42"/>
          <p:cNvSpPr/>
          <p:nvPr/>
        </p:nvSpPr>
        <p:spPr>
          <a:xfrm>
            <a:off x="7962900" y="5924550"/>
            <a:ext cx="914400" cy="228600"/>
          </a:xfrm>
          <a:prstGeom prst="flowChartTerminator">
            <a:avLst/>
          </a:prstGeom>
          <a:solidFill>
            <a:srgbClr val="A5A5A5"/>
          </a:solidFill>
          <a:ln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/>
        </p:nvSpPr>
        <p:spPr>
          <a:xfrm>
            <a:off x="4011775" y="588496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小批量</a:t>
            </a:r>
            <a:r>
              <a:rPr lang="zh-CN" altLang="en-US" sz="1400" dirty="0" smtClean="0"/>
              <a:t>数据</a:t>
            </a:r>
            <a:endParaRPr lang="zh-CN" altLang="en-US" sz="1400" dirty="0"/>
          </a:p>
        </p:txBody>
      </p:sp>
      <p:sp>
        <p:nvSpPr>
          <p:cNvPr id="44" name="文本框 43"/>
          <p:cNvSpPr txBox="1"/>
          <p:nvPr/>
        </p:nvSpPr>
        <p:spPr>
          <a:xfrm>
            <a:off x="5344400" y="588496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小批量</a:t>
            </a:r>
            <a:r>
              <a:rPr lang="zh-CN" altLang="en-US" sz="1400" dirty="0" smtClean="0"/>
              <a:t>数据</a:t>
            </a:r>
            <a:endParaRPr lang="zh-CN" altLang="en-US" sz="1400" dirty="0"/>
          </a:p>
        </p:txBody>
      </p:sp>
      <p:sp>
        <p:nvSpPr>
          <p:cNvPr id="45" name="文本框 44"/>
          <p:cNvSpPr txBox="1"/>
          <p:nvPr/>
        </p:nvSpPr>
        <p:spPr>
          <a:xfrm>
            <a:off x="6593051" y="588496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小批量</a:t>
            </a:r>
            <a:r>
              <a:rPr lang="zh-CN" altLang="en-US" sz="1400" dirty="0" smtClean="0"/>
              <a:t>数据</a:t>
            </a:r>
            <a:endParaRPr lang="zh-CN" altLang="en-US" sz="1400" dirty="0"/>
          </a:p>
        </p:txBody>
      </p:sp>
      <p:sp>
        <p:nvSpPr>
          <p:cNvPr id="46" name="文本框 45"/>
          <p:cNvSpPr txBox="1"/>
          <p:nvPr/>
        </p:nvSpPr>
        <p:spPr>
          <a:xfrm>
            <a:off x="7878926" y="5884961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小批量</a:t>
            </a:r>
            <a:r>
              <a:rPr lang="zh-CN" altLang="en-US" sz="1400" dirty="0" smtClean="0"/>
              <a:t>数据</a:t>
            </a:r>
            <a:endParaRPr lang="zh-CN" altLang="en-US" sz="1400" dirty="0"/>
          </a:p>
        </p:txBody>
      </p:sp>
      <p:sp>
        <p:nvSpPr>
          <p:cNvPr id="47" name="文本框 46"/>
          <p:cNvSpPr txBox="1"/>
          <p:nvPr/>
        </p:nvSpPr>
        <p:spPr>
          <a:xfrm>
            <a:off x="3159996" y="3276600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 smtClean="0"/>
              <a:t>模型</a:t>
            </a:r>
            <a:endParaRPr lang="en-US" altLang="zh-CN" sz="2000" dirty="0" smtClean="0"/>
          </a:p>
          <a:p>
            <a:r>
              <a:rPr lang="zh-CN" altLang="en-US" sz="2000" dirty="0" smtClean="0"/>
              <a:t>划分</a:t>
            </a:r>
            <a:endParaRPr lang="zh-CN" altLang="en-US" sz="2000" dirty="0"/>
          </a:p>
        </p:txBody>
      </p:sp>
      <p:sp>
        <p:nvSpPr>
          <p:cNvPr id="48" name="文本框 47"/>
          <p:cNvSpPr txBox="1"/>
          <p:nvPr/>
        </p:nvSpPr>
        <p:spPr>
          <a:xfrm>
            <a:off x="8874205" y="4344887"/>
            <a:ext cx="110799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参数更新</a:t>
            </a:r>
            <a:endParaRPr lang="zh-CN" altLang="en-US" dirty="0"/>
          </a:p>
        </p:txBody>
      </p:sp>
      <p:sp>
        <p:nvSpPr>
          <p:cNvPr id="49" name="矩形 48"/>
          <p:cNvSpPr/>
          <p:nvPr/>
        </p:nvSpPr>
        <p:spPr>
          <a:xfrm>
            <a:off x="7029450" y="1038225"/>
            <a:ext cx="1143000" cy="7048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/>
          <p:cNvSpPr/>
          <p:nvPr/>
        </p:nvSpPr>
        <p:spPr>
          <a:xfrm>
            <a:off x="3733800" y="1876425"/>
            <a:ext cx="1143000" cy="7048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/>
          <p:cNvSpPr/>
          <p:nvPr/>
        </p:nvSpPr>
        <p:spPr>
          <a:xfrm>
            <a:off x="4522624" y="1684437"/>
            <a:ext cx="1143000" cy="304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/>
          <p:cNvSpPr/>
          <p:nvPr/>
        </p:nvSpPr>
        <p:spPr>
          <a:xfrm>
            <a:off x="6829425" y="1654374"/>
            <a:ext cx="1143000" cy="314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/>
          <p:cNvSpPr/>
          <p:nvPr/>
        </p:nvSpPr>
        <p:spPr>
          <a:xfrm>
            <a:off x="7818274" y="1876425"/>
            <a:ext cx="1143000" cy="7048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文本框 53"/>
          <p:cNvSpPr txBox="1"/>
          <p:nvPr/>
        </p:nvSpPr>
        <p:spPr>
          <a:xfrm>
            <a:off x="6940630" y="1062453"/>
            <a:ext cx="180049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前向和反向传播</a:t>
            </a:r>
            <a:endParaRPr lang="zh-CN" altLang="en-US" dirty="0"/>
          </a:p>
        </p:txBody>
      </p:sp>
      <p:sp>
        <p:nvSpPr>
          <p:cNvPr id="55" name="文本框 54"/>
          <p:cNvSpPr txBox="1"/>
          <p:nvPr/>
        </p:nvSpPr>
        <p:spPr>
          <a:xfrm>
            <a:off x="4105275" y="2238375"/>
            <a:ext cx="76815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节点</a:t>
            </a:r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57" name="文本框 56"/>
          <p:cNvSpPr txBox="1"/>
          <p:nvPr/>
        </p:nvSpPr>
        <p:spPr>
          <a:xfrm>
            <a:off x="5040339" y="1569333"/>
            <a:ext cx="76815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节点</a:t>
            </a:r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58" name="文本框 57"/>
          <p:cNvSpPr txBox="1"/>
          <p:nvPr/>
        </p:nvSpPr>
        <p:spPr>
          <a:xfrm>
            <a:off x="6797347" y="1572457"/>
            <a:ext cx="76815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节点</a:t>
            </a:r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59" name="文本框 58"/>
          <p:cNvSpPr txBox="1"/>
          <p:nvPr/>
        </p:nvSpPr>
        <p:spPr>
          <a:xfrm>
            <a:off x="7962900" y="2208312"/>
            <a:ext cx="76815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节点</a:t>
            </a:r>
            <a:r>
              <a:rPr lang="en-US" altLang="zh-CN" dirty="0" smtClean="0"/>
              <a:t>4</a:t>
            </a:r>
            <a:endParaRPr lang="zh-CN" altLang="en-US" dirty="0"/>
          </a:p>
        </p:txBody>
      </p:sp>
      <p:pic>
        <p:nvPicPr>
          <p:cNvPr id="60" name="图片 5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2484" y="5379392"/>
            <a:ext cx="1257300" cy="32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0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2"/>
          <a:srcRect b="7464"/>
          <a:stretch/>
        </p:blipFill>
        <p:spPr>
          <a:xfrm>
            <a:off x="0" y="640081"/>
            <a:ext cx="8579838" cy="4983480"/>
          </a:xfrm>
          <a:prstGeom prst="rect">
            <a:avLst/>
          </a:prstGeom>
        </p:spPr>
      </p:pic>
      <p:sp>
        <p:nvSpPr>
          <p:cNvPr id="20" name="矩形 19"/>
          <p:cNvSpPr/>
          <p:nvPr/>
        </p:nvSpPr>
        <p:spPr>
          <a:xfrm>
            <a:off x="18428" y="1306222"/>
            <a:ext cx="2057740" cy="2558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714550" y="801260"/>
            <a:ext cx="7865288" cy="5325614"/>
            <a:chOff x="714550" y="801260"/>
            <a:chExt cx="7865288" cy="5325614"/>
          </a:xfrm>
        </p:grpSpPr>
        <p:sp>
          <p:nvSpPr>
            <p:cNvPr id="6" name="文本框 5"/>
            <p:cNvSpPr txBox="1"/>
            <p:nvPr/>
          </p:nvSpPr>
          <p:spPr>
            <a:xfrm>
              <a:off x="838859" y="5127537"/>
              <a:ext cx="1182289" cy="373879"/>
            </a:xfrm>
            <a:prstGeom prst="flowChartTerminator">
              <a:avLst/>
            </a:prstGeom>
            <a:solidFill>
              <a:srgbClr val="C4D6A0"/>
            </a:solidFill>
          </p:spPr>
          <p:txBody>
            <a:bodyPr wrap="square" rtlCol="0">
              <a:spAutoFit/>
            </a:bodyPr>
            <a:lstStyle/>
            <a:p>
              <a:endParaRPr lang="zh-CN" altLang="en-US" sz="1600" dirty="0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753620" y="5125521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小批量</a:t>
              </a:r>
              <a:r>
                <a:rPr lang="zh-CN" altLang="en-US" dirty="0" smtClean="0"/>
                <a:t>数据</a:t>
              </a:r>
              <a:endParaRPr lang="zh-CN" altLang="en-US" dirty="0"/>
            </a:p>
          </p:txBody>
        </p:sp>
        <p:sp>
          <p:nvSpPr>
            <p:cNvPr id="8" name="矩形 7"/>
            <p:cNvSpPr/>
            <p:nvPr/>
          </p:nvSpPr>
          <p:spPr>
            <a:xfrm>
              <a:off x="2656566" y="5162550"/>
              <a:ext cx="1096002" cy="295275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349103" y="5162550"/>
              <a:ext cx="1096002" cy="295275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111228" y="5140910"/>
              <a:ext cx="1096002" cy="295275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/>
            <p:cNvSpPr/>
            <p:nvPr/>
          </p:nvSpPr>
          <p:spPr>
            <a:xfrm>
              <a:off x="4232959" y="1952625"/>
              <a:ext cx="1096002" cy="295275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/>
            <p:cNvSpPr/>
            <p:nvPr/>
          </p:nvSpPr>
          <p:spPr>
            <a:xfrm>
              <a:off x="5958828" y="1919287"/>
              <a:ext cx="1096002" cy="295275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/>
          </p:nvSpPr>
          <p:spPr>
            <a:xfrm>
              <a:off x="2507090" y="1919286"/>
              <a:ext cx="1096002" cy="295275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矩形 13"/>
            <p:cNvSpPr/>
            <p:nvPr/>
          </p:nvSpPr>
          <p:spPr>
            <a:xfrm>
              <a:off x="782757" y="1952625"/>
              <a:ext cx="1096002" cy="295275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/>
            <p:cNvSpPr/>
            <p:nvPr/>
          </p:nvSpPr>
          <p:spPr>
            <a:xfrm>
              <a:off x="2786609" y="801260"/>
              <a:ext cx="2308983" cy="341740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000" dirty="0" smtClean="0">
                  <a:solidFill>
                    <a:schemeClr val="tx1"/>
                  </a:solidFill>
                </a:rPr>
                <a:t>数据平均</a:t>
              </a:r>
              <a:endParaRPr lang="zh-CN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882003" y="2647951"/>
              <a:ext cx="1096002" cy="190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矩形 16"/>
            <p:cNvSpPr/>
            <p:nvPr/>
          </p:nvSpPr>
          <p:spPr>
            <a:xfrm>
              <a:off x="2507090" y="2647951"/>
              <a:ext cx="1096002" cy="190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矩形 17"/>
            <p:cNvSpPr/>
            <p:nvPr/>
          </p:nvSpPr>
          <p:spPr>
            <a:xfrm>
              <a:off x="4232959" y="2647951"/>
              <a:ext cx="1096002" cy="190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5988483" y="2644751"/>
              <a:ext cx="1096002" cy="190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14550" y="1900207"/>
              <a:ext cx="1332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</a:t>
              </a:r>
              <a:r>
                <a:rPr lang="en-US" altLang="zh-CN" sz="2000" dirty="0" smtClean="0"/>
                <a:t>/</a:t>
              </a:r>
              <a:r>
                <a:rPr lang="zh-CN" altLang="en-US" sz="2000" dirty="0" smtClean="0"/>
                <a:t>梯度</a:t>
              </a:r>
              <a:endParaRPr lang="zh-CN" altLang="en-US" sz="2000" dirty="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2388883" y="1900207"/>
              <a:ext cx="1332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</a:t>
              </a:r>
              <a:r>
                <a:rPr lang="en-US" altLang="zh-CN" sz="2000" dirty="0" smtClean="0"/>
                <a:t>/</a:t>
              </a:r>
              <a:r>
                <a:rPr lang="zh-CN" altLang="en-US" sz="2000" dirty="0" smtClean="0"/>
                <a:t>梯度</a:t>
              </a:r>
              <a:endParaRPr lang="zh-CN" altLang="en-US" sz="2000" dirty="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4151944" y="1900207"/>
              <a:ext cx="1332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</a:t>
              </a:r>
              <a:r>
                <a:rPr lang="en-US" altLang="zh-CN" sz="2000" dirty="0" smtClean="0"/>
                <a:t>/</a:t>
              </a:r>
              <a:r>
                <a:rPr lang="zh-CN" altLang="en-US" sz="2000" dirty="0" smtClean="0"/>
                <a:t>梯度</a:t>
              </a:r>
              <a:endParaRPr lang="zh-CN" altLang="en-US" sz="2000" dirty="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5840621" y="1900207"/>
              <a:ext cx="1332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</a:t>
              </a:r>
              <a:r>
                <a:rPr lang="en-US" altLang="zh-CN" sz="2000" dirty="0" smtClean="0"/>
                <a:t>/</a:t>
              </a:r>
              <a:r>
                <a:rPr lang="zh-CN" altLang="en-US" sz="2000" dirty="0" smtClean="0"/>
                <a:t>梯度</a:t>
              </a:r>
              <a:endParaRPr lang="zh-CN" altLang="en-US" sz="2000" dirty="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280378" y="1234106"/>
              <a:ext cx="69762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通信</a:t>
              </a:r>
              <a:endParaRPr lang="zh-CN" altLang="en-US" sz="2000" dirty="0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2521657" y="5116252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小批量</a:t>
              </a:r>
              <a:r>
                <a:rPr lang="zh-CN" altLang="en-US" dirty="0" smtClean="0"/>
                <a:t>数据</a:t>
              </a:r>
              <a:endParaRPr lang="zh-CN" altLang="en-US" dirty="0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4236771" y="5116252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小批量</a:t>
              </a:r>
              <a:r>
                <a:rPr lang="zh-CN" altLang="en-US" dirty="0" smtClean="0"/>
                <a:t>数据</a:t>
              </a:r>
              <a:endParaRPr lang="zh-CN" altLang="en-US" dirty="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5973320" y="5103881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小批量</a:t>
              </a:r>
              <a:r>
                <a:rPr lang="zh-CN" altLang="en-US" dirty="0" smtClean="0"/>
                <a:t>数据</a:t>
              </a:r>
              <a:endParaRPr lang="zh-CN" altLang="en-US" dirty="0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943391" y="2570724"/>
              <a:ext cx="1371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节点</a:t>
              </a:r>
              <a:r>
                <a:rPr lang="en-US" altLang="zh-CN" sz="1600" dirty="0" smtClean="0"/>
                <a:t>1</a:t>
              </a:r>
              <a:endParaRPr lang="zh-CN" altLang="en-US" sz="1600" dirty="0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2718620" y="2570724"/>
              <a:ext cx="1371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节点</a:t>
              </a:r>
              <a:r>
                <a:rPr lang="en-US" altLang="zh-CN" sz="1600" dirty="0" smtClean="0"/>
                <a:t>2</a:t>
              </a:r>
              <a:endParaRPr lang="zh-CN" altLang="en-US" sz="1600" dirty="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4462013" y="2570724"/>
              <a:ext cx="1371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节点</a:t>
              </a:r>
              <a:r>
                <a:rPr lang="en-US" altLang="zh-CN" sz="1600" dirty="0"/>
                <a:t>3</a:t>
              </a:r>
              <a:endParaRPr lang="zh-CN" altLang="en-US" sz="1600" dirty="0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6176831" y="2570724"/>
              <a:ext cx="1371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节点</a:t>
              </a:r>
              <a:r>
                <a:rPr lang="en-US" altLang="zh-CN" sz="1600" dirty="0" smtClean="0"/>
                <a:t>4</a:t>
              </a:r>
              <a:endParaRPr lang="zh-CN" altLang="en-US" sz="1600" dirty="0"/>
            </a:p>
          </p:txBody>
        </p:sp>
        <p:sp>
          <p:nvSpPr>
            <p:cNvPr id="33" name="矩形 32"/>
            <p:cNvSpPr/>
            <p:nvPr/>
          </p:nvSpPr>
          <p:spPr>
            <a:xfrm>
              <a:off x="7619718" y="4333874"/>
              <a:ext cx="960120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/>
            <p:cNvSpPr/>
            <p:nvPr/>
          </p:nvSpPr>
          <p:spPr>
            <a:xfrm>
              <a:off x="6848193" y="4676774"/>
              <a:ext cx="960120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/>
            <p:cNvSpPr/>
            <p:nvPr/>
          </p:nvSpPr>
          <p:spPr>
            <a:xfrm>
              <a:off x="7152993" y="4695824"/>
              <a:ext cx="960120" cy="257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7301352" y="432583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参数更新</a:t>
              </a:r>
              <a:endParaRPr lang="zh-CN" altLang="en-US" sz="2000" dirty="0"/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2715313" y="5665209"/>
              <a:ext cx="26468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/>
                <a:t>数据并行训练方式</a:t>
              </a:r>
              <a:endParaRPr lang="zh-CN" altLang="en-US" sz="2400" b="1" dirty="0"/>
            </a:p>
          </p:txBody>
        </p:sp>
      </p:grpSp>
      <p:grpSp>
        <p:nvGrpSpPr>
          <p:cNvPr id="66" name="组合 65"/>
          <p:cNvGrpSpPr/>
          <p:nvPr/>
        </p:nvGrpSpPr>
        <p:grpSpPr>
          <a:xfrm>
            <a:off x="9725888" y="0"/>
            <a:ext cx="7486650" cy="6416434"/>
            <a:chOff x="8548406" y="-289560"/>
            <a:chExt cx="7486650" cy="6416434"/>
          </a:xfrm>
        </p:grpSpPr>
        <p:grpSp>
          <p:nvGrpSpPr>
            <p:cNvPr id="4" name="组合 3"/>
            <p:cNvGrpSpPr/>
            <p:nvPr/>
          </p:nvGrpSpPr>
          <p:grpSpPr>
            <a:xfrm>
              <a:off x="8548406" y="-289560"/>
              <a:ext cx="7486650" cy="6416434"/>
              <a:chOff x="8548406" y="-289560"/>
              <a:chExt cx="7486650" cy="6416434"/>
            </a:xfrm>
          </p:grpSpPr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38" name="矩形 37"/>
              <p:cNvSpPr/>
              <p:nvPr/>
            </p:nvSpPr>
            <p:spPr>
              <a:xfrm>
                <a:off x="8672229" y="-198232"/>
                <a:ext cx="1114426" cy="59912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流程图: 终止 38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流程图: 终止 39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流程图: 终止 40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流程图: 终止 41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10064630" y="5220004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/>
                  <a:t>小批量</a:t>
                </a:r>
                <a:r>
                  <a:rPr lang="zh-CN" altLang="en-US" sz="1400" dirty="0" smtClean="0"/>
                  <a:t>数据</a:t>
                </a:r>
                <a:endParaRPr lang="zh-CN" altLang="en-US" sz="1400" dirty="0"/>
              </a:p>
            </p:txBody>
          </p:sp>
          <p:sp>
            <p:nvSpPr>
              <p:cNvPr id="44" name="文本框 43"/>
              <p:cNvSpPr txBox="1"/>
              <p:nvPr/>
            </p:nvSpPr>
            <p:spPr>
              <a:xfrm>
                <a:off x="11397255" y="5220004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/>
                  <a:t>小批量</a:t>
                </a:r>
                <a:r>
                  <a:rPr lang="zh-CN" altLang="en-US" sz="1400" dirty="0" smtClean="0"/>
                  <a:t>数据</a:t>
                </a:r>
                <a:endParaRPr lang="zh-CN" altLang="en-US" sz="1400" dirty="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2645906" y="5220004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/>
                  <a:t>小批量</a:t>
                </a:r>
                <a:r>
                  <a:rPr lang="zh-CN" altLang="en-US" sz="1400" dirty="0" smtClean="0"/>
                  <a:t>数据</a:t>
                </a:r>
                <a:endParaRPr lang="zh-CN" altLang="en-US" sz="1400" dirty="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3931781" y="5220004"/>
                <a:ext cx="108234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/>
                  <a:t>小批量</a:t>
                </a:r>
                <a:r>
                  <a:rPr lang="zh-CN" altLang="en-US" sz="1400" dirty="0" smtClean="0"/>
                  <a:t>数据</a:t>
                </a:r>
                <a:endParaRPr lang="zh-CN" altLang="en-US" sz="1400" dirty="0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9212851" y="2611643"/>
                <a:ext cx="69762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dirty="0" smtClean="0"/>
                  <a:t>模型</a:t>
                </a:r>
                <a:endParaRPr lang="en-US" altLang="zh-CN" sz="2000" dirty="0" smtClean="0"/>
              </a:p>
              <a:p>
                <a:r>
                  <a:rPr lang="zh-CN" altLang="en-US" sz="2000" dirty="0" smtClean="0"/>
                  <a:t>划分</a:t>
                </a:r>
                <a:endParaRPr lang="zh-CN" altLang="en-US" sz="2000" dirty="0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4927060" y="3679930"/>
                <a:ext cx="110799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参数更新</a:t>
                </a:r>
                <a:endParaRPr lang="zh-CN" altLang="en-US" dirty="0"/>
              </a:p>
            </p:txBody>
          </p:sp>
          <p:sp>
            <p:nvSpPr>
              <p:cNvPr id="49" name="矩形 48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矩形 50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矩形 52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文本框 53"/>
              <p:cNvSpPr txBox="1"/>
              <p:nvPr/>
            </p:nvSpPr>
            <p:spPr>
              <a:xfrm>
                <a:off x="12993485" y="397496"/>
                <a:ext cx="180049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前向和反向传播</a:t>
                </a:r>
                <a:endParaRPr lang="zh-CN" altLang="en-US" dirty="0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10158130" y="1573418"/>
                <a:ext cx="76815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节点</a:t>
                </a:r>
                <a:r>
                  <a:rPr lang="en-US" altLang="zh-CN" dirty="0" smtClean="0"/>
                  <a:t>1</a:t>
                </a:r>
                <a:endParaRPr lang="zh-CN" altLang="en-US" dirty="0"/>
              </a:p>
            </p:txBody>
          </p:sp>
          <p:sp>
            <p:nvSpPr>
              <p:cNvPr id="56" name="文本框 55"/>
              <p:cNvSpPr txBox="1"/>
              <p:nvPr/>
            </p:nvSpPr>
            <p:spPr>
              <a:xfrm>
                <a:off x="11093194" y="904376"/>
                <a:ext cx="76815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节点</a:t>
                </a:r>
                <a:r>
                  <a:rPr lang="en-US" altLang="zh-CN" dirty="0" smtClean="0"/>
                  <a:t>2</a:t>
                </a:r>
                <a:endParaRPr lang="zh-CN" altLang="en-US" dirty="0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12850202" y="907500"/>
                <a:ext cx="76815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节点</a:t>
                </a:r>
                <a:r>
                  <a:rPr lang="en-US" altLang="zh-CN" dirty="0" smtClean="0"/>
                  <a:t>3</a:t>
                </a:r>
                <a:endParaRPr lang="zh-CN" altLang="en-US" dirty="0"/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4015755" y="1543355"/>
                <a:ext cx="76815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 smtClean="0"/>
                  <a:t>节点</a:t>
                </a:r>
                <a:r>
                  <a:rPr lang="en-US" altLang="zh-CN" dirty="0" smtClean="0"/>
                  <a:t>4</a:t>
                </a:r>
                <a:endParaRPr lang="zh-CN" altLang="en-US" dirty="0"/>
              </a:p>
            </p:txBody>
          </p:sp>
          <p:pic>
            <p:nvPicPr>
              <p:cNvPr id="59" name="图片 58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  <p:sp>
            <p:nvSpPr>
              <p:cNvPr id="61" name="文本框 60"/>
              <p:cNvSpPr txBox="1"/>
              <p:nvPr/>
            </p:nvSpPr>
            <p:spPr>
              <a:xfrm>
                <a:off x="11284903" y="5665209"/>
                <a:ext cx="272222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b="1" dirty="0" smtClean="0"/>
                  <a:t>模型并行训练方式</a:t>
                </a:r>
                <a:endParaRPr lang="zh-CN" altLang="en-US" sz="2400" b="1" dirty="0"/>
              </a:p>
            </p:txBody>
          </p:sp>
        </p:grpSp>
        <p:sp>
          <p:nvSpPr>
            <p:cNvPr id="62" name="文本框 61"/>
            <p:cNvSpPr txBox="1"/>
            <p:nvPr/>
          </p:nvSpPr>
          <p:spPr>
            <a:xfrm>
              <a:off x="9895544" y="-124658"/>
              <a:ext cx="1088760" cy="400110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子模型</a:t>
              </a:r>
              <a:r>
                <a:rPr lang="en-US" altLang="zh-CN" sz="2000" dirty="0" smtClean="0"/>
                <a:t>1</a:t>
              </a:r>
              <a:endParaRPr lang="zh-CN" altLang="en-US" sz="2000" dirty="0"/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182237" y="-129862"/>
              <a:ext cx="1088760" cy="400110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子模型</a:t>
              </a:r>
              <a:r>
                <a:rPr lang="en-US" altLang="zh-CN" sz="2000" dirty="0" smtClean="0"/>
                <a:t>2</a:t>
              </a:r>
              <a:endParaRPr lang="zh-CN" altLang="en-US" sz="2000" dirty="0"/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2466351" y="-129346"/>
              <a:ext cx="1088760" cy="400110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子模型</a:t>
              </a:r>
              <a:r>
                <a:rPr lang="en-US" altLang="zh-CN" sz="2000" dirty="0" smtClean="0"/>
                <a:t>3</a:t>
              </a:r>
              <a:endParaRPr lang="zh-CN" altLang="en-US" sz="2000" dirty="0"/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3728254" y="-122420"/>
              <a:ext cx="1088760" cy="400110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000" dirty="0" smtClean="0"/>
                <a:t>子模型</a:t>
              </a:r>
              <a:r>
                <a:rPr lang="en-US" altLang="zh-CN" sz="2000" dirty="0" smtClean="0"/>
                <a:t>4</a:t>
              </a:r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910151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0221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3947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组合 83"/>
          <p:cNvGrpSpPr/>
          <p:nvPr/>
        </p:nvGrpSpPr>
        <p:grpSpPr>
          <a:xfrm>
            <a:off x="493776" y="1115568"/>
            <a:ext cx="11091672" cy="3355848"/>
            <a:chOff x="493776" y="1115568"/>
            <a:chExt cx="11091672" cy="3355848"/>
          </a:xfrm>
        </p:grpSpPr>
        <p:sp>
          <p:nvSpPr>
            <p:cNvPr id="2" name="圆角矩形 1"/>
            <p:cNvSpPr/>
            <p:nvPr/>
          </p:nvSpPr>
          <p:spPr>
            <a:xfrm>
              <a:off x="493776" y="1115568"/>
              <a:ext cx="11091672" cy="3355848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3177298" y="1263543"/>
              <a:ext cx="5724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/>
                <a:t>基于性能预测的分布式深度学习架构优化</a:t>
              </a:r>
              <a:endParaRPr lang="zh-CN" altLang="en-US" sz="2400" b="1" dirty="0"/>
            </a:p>
          </p:txBody>
        </p:sp>
        <p:sp>
          <p:nvSpPr>
            <p:cNvPr id="4" name="矩形 3"/>
            <p:cNvSpPr/>
            <p:nvPr/>
          </p:nvSpPr>
          <p:spPr>
            <a:xfrm>
              <a:off x="937983" y="2367181"/>
              <a:ext cx="2569107" cy="1656179"/>
            </a:xfrm>
            <a:prstGeom prst="rect">
              <a:avLst/>
            </a:prstGeom>
            <a:noFill/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553121" y="1892808"/>
              <a:ext cx="14670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研究内容一</a:t>
              </a:r>
              <a:endParaRPr lang="zh-CN" altLang="en-US" sz="2000" b="1" dirty="0"/>
            </a:p>
          </p:txBody>
        </p:sp>
        <p:sp>
          <p:nvSpPr>
            <p:cNvPr id="63" name="矩形 62"/>
            <p:cNvSpPr/>
            <p:nvPr/>
          </p:nvSpPr>
          <p:spPr>
            <a:xfrm>
              <a:off x="976041" y="2441334"/>
              <a:ext cx="249299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/>
                <a:t>分布式训练性能预测</a:t>
              </a:r>
            </a:p>
          </p:txBody>
        </p:sp>
        <p:sp>
          <p:nvSpPr>
            <p:cNvPr id="64" name="矩形 63"/>
            <p:cNvSpPr/>
            <p:nvPr/>
          </p:nvSpPr>
          <p:spPr>
            <a:xfrm>
              <a:off x="1093654" y="2839766"/>
              <a:ext cx="223651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 smtClean="0"/>
                <a:t>计算时间预测模型</a:t>
              </a:r>
              <a:endParaRPr lang="zh-CN" altLang="en-US" sz="2000" dirty="0"/>
            </a:p>
          </p:txBody>
        </p:sp>
        <p:sp>
          <p:nvSpPr>
            <p:cNvPr id="65" name="矩形 64"/>
            <p:cNvSpPr/>
            <p:nvPr/>
          </p:nvSpPr>
          <p:spPr>
            <a:xfrm>
              <a:off x="1104282" y="3529702"/>
              <a:ext cx="223651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/>
                <a:t>通信</a:t>
              </a:r>
              <a:r>
                <a:rPr lang="zh-CN" altLang="en-US" sz="2000" dirty="0" smtClean="0"/>
                <a:t>时间预测模型</a:t>
              </a:r>
              <a:endParaRPr lang="zh-CN" altLang="en-US" sz="2000" dirty="0"/>
            </a:p>
          </p:txBody>
        </p:sp>
        <p:sp>
          <p:nvSpPr>
            <p:cNvPr id="66" name="加号 65"/>
            <p:cNvSpPr/>
            <p:nvPr/>
          </p:nvSpPr>
          <p:spPr>
            <a:xfrm>
              <a:off x="2073946" y="3231302"/>
              <a:ext cx="297180" cy="294721"/>
            </a:xfrm>
            <a:prstGeom prst="mathPlus">
              <a:avLst>
                <a:gd name="adj1" fmla="val 151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67" name="矩形 66"/>
            <p:cNvSpPr/>
            <p:nvPr/>
          </p:nvSpPr>
          <p:spPr>
            <a:xfrm>
              <a:off x="4714906" y="2367181"/>
              <a:ext cx="2569107" cy="1656179"/>
            </a:xfrm>
            <a:prstGeom prst="rect">
              <a:avLst/>
            </a:prstGeom>
            <a:noFill/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5330044" y="1892808"/>
              <a:ext cx="14670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研究内容二</a:t>
              </a:r>
              <a:endParaRPr lang="zh-CN" altLang="en-US" sz="2000" b="1" dirty="0"/>
            </a:p>
          </p:txBody>
        </p:sp>
        <p:sp>
          <p:nvSpPr>
            <p:cNvPr id="69" name="矩形 68"/>
            <p:cNvSpPr/>
            <p:nvPr/>
          </p:nvSpPr>
          <p:spPr>
            <a:xfrm>
              <a:off x="4881208" y="2441334"/>
              <a:ext cx="223651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 smtClean="0"/>
                <a:t>神经网络结构优化</a:t>
              </a:r>
              <a:endParaRPr lang="zh-CN" altLang="en-US" sz="2000" b="1" dirty="0"/>
            </a:p>
          </p:txBody>
        </p:sp>
        <p:sp>
          <p:nvSpPr>
            <p:cNvPr id="70" name="矩形 69"/>
            <p:cNvSpPr/>
            <p:nvPr/>
          </p:nvSpPr>
          <p:spPr>
            <a:xfrm>
              <a:off x="5122665" y="2838997"/>
              <a:ext cx="172355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 smtClean="0"/>
                <a:t>结构搜索空间</a:t>
              </a:r>
              <a:endParaRPr lang="zh-CN" altLang="en-US" sz="2000" dirty="0"/>
            </a:p>
          </p:txBody>
        </p:sp>
        <p:sp>
          <p:nvSpPr>
            <p:cNvPr id="71" name="矩形 70"/>
            <p:cNvSpPr/>
            <p:nvPr/>
          </p:nvSpPr>
          <p:spPr>
            <a:xfrm>
              <a:off x="5394163" y="3529702"/>
              <a:ext cx="1210589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 smtClean="0"/>
                <a:t>优化策略</a:t>
              </a:r>
              <a:endParaRPr lang="zh-CN" altLang="en-US" sz="2000" dirty="0"/>
            </a:p>
          </p:txBody>
        </p:sp>
        <p:sp>
          <p:nvSpPr>
            <p:cNvPr id="72" name="加号 71"/>
            <p:cNvSpPr/>
            <p:nvPr/>
          </p:nvSpPr>
          <p:spPr>
            <a:xfrm>
              <a:off x="5850867" y="3239876"/>
              <a:ext cx="297180" cy="294721"/>
            </a:xfrm>
            <a:prstGeom prst="mathPlus">
              <a:avLst>
                <a:gd name="adj1" fmla="val 151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73" name="矩形 72"/>
            <p:cNvSpPr/>
            <p:nvPr/>
          </p:nvSpPr>
          <p:spPr>
            <a:xfrm>
              <a:off x="8491829" y="2367181"/>
              <a:ext cx="2569107" cy="1656179"/>
            </a:xfrm>
            <a:prstGeom prst="rect">
              <a:avLst/>
            </a:prstGeom>
            <a:noFill/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9106967" y="1892808"/>
              <a:ext cx="14670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研究内容三</a:t>
              </a:r>
              <a:endParaRPr lang="zh-CN" altLang="en-US" sz="2000" b="1" dirty="0"/>
            </a:p>
          </p:txBody>
        </p:sp>
        <p:sp>
          <p:nvSpPr>
            <p:cNvPr id="75" name="矩形 74"/>
            <p:cNvSpPr/>
            <p:nvPr/>
          </p:nvSpPr>
          <p:spPr>
            <a:xfrm>
              <a:off x="8658130" y="2441334"/>
              <a:ext cx="223651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 smtClean="0"/>
                <a:t>通信拓扑结构优化</a:t>
              </a:r>
              <a:endParaRPr lang="zh-CN" altLang="en-US" sz="2000" b="1" dirty="0"/>
            </a:p>
          </p:txBody>
        </p:sp>
        <p:sp>
          <p:nvSpPr>
            <p:cNvPr id="76" name="矩形 75"/>
            <p:cNvSpPr/>
            <p:nvPr/>
          </p:nvSpPr>
          <p:spPr>
            <a:xfrm>
              <a:off x="8816823" y="2838997"/>
              <a:ext cx="19191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000" dirty="0" smtClean="0"/>
                <a:t>All-Reduce</a:t>
              </a:r>
              <a:r>
                <a:rPr lang="zh-CN" altLang="en-US" sz="2000" dirty="0" smtClean="0"/>
                <a:t>架构</a:t>
              </a:r>
              <a:endParaRPr lang="zh-CN" altLang="en-US" sz="2000" dirty="0"/>
            </a:p>
          </p:txBody>
        </p:sp>
        <p:sp>
          <p:nvSpPr>
            <p:cNvPr id="77" name="矩形 76"/>
            <p:cNvSpPr/>
            <p:nvPr/>
          </p:nvSpPr>
          <p:spPr>
            <a:xfrm>
              <a:off x="8786366" y="3529702"/>
              <a:ext cx="198003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dirty="0" smtClean="0"/>
                <a:t>稀疏连通拓扑图</a:t>
              </a:r>
              <a:endParaRPr lang="zh-CN" altLang="en-US" sz="2000" dirty="0"/>
            </a:p>
          </p:txBody>
        </p:sp>
        <p:sp>
          <p:nvSpPr>
            <p:cNvPr id="78" name="加号 77"/>
            <p:cNvSpPr/>
            <p:nvPr/>
          </p:nvSpPr>
          <p:spPr>
            <a:xfrm>
              <a:off x="9627791" y="3239875"/>
              <a:ext cx="297180" cy="294721"/>
            </a:xfrm>
            <a:prstGeom prst="mathPlus">
              <a:avLst>
                <a:gd name="adj1" fmla="val 151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82" name="右箭头 81"/>
            <p:cNvSpPr/>
            <p:nvPr/>
          </p:nvSpPr>
          <p:spPr>
            <a:xfrm>
              <a:off x="3875491" y="2986084"/>
              <a:ext cx="493578" cy="250788"/>
            </a:xfrm>
            <a:prstGeom prst="rightArrow">
              <a:avLst>
                <a:gd name="adj1" fmla="val 36119"/>
                <a:gd name="adj2" fmla="val 53470"/>
              </a:avLst>
            </a:prstGeom>
            <a:noFill/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83" name="右箭头 82"/>
            <p:cNvSpPr/>
            <p:nvPr/>
          </p:nvSpPr>
          <p:spPr>
            <a:xfrm>
              <a:off x="7641132" y="2980514"/>
              <a:ext cx="493578" cy="250788"/>
            </a:xfrm>
            <a:prstGeom prst="rightArrow">
              <a:avLst>
                <a:gd name="adj1" fmla="val 36119"/>
                <a:gd name="adj2" fmla="val 53470"/>
              </a:avLst>
            </a:prstGeom>
            <a:noFill/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</p:grpSp>
    </p:spTree>
    <p:extLst>
      <p:ext uri="{BB962C8B-B14F-4D97-AF65-F5344CB8AC3E}">
        <p14:creationId xmlns:p14="http://schemas.microsoft.com/office/powerpoint/2010/main" val="905719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圆角矩形 1"/>
          <p:cNvSpPr/>
          <p:nvPr/>
        </p:nvSpPr>
        <p:spPr>
          <a:xfrm>
            <a:off x="792480" y="159401"/>
            <a:ext cx="10607040" cy="5488364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379113" y="314693"/>
            <a:ext cx="93701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面向分布式深度学习的</a:t>
            </a:r>
            <a:r>
              <a:rPr lang="zh-CN" altLang="en-US" sz="2400" b="1" dirty="0" smtClean="0"/>
              <a:t>训练时间</a:t>
            </a:r>
            <a:r>
              <a:rPr lang="zh-CN" altLang="en-US" sz="2400" b="1" dirty="0"/>
              <a:t>预测与优化</a:t>
            </a:r>
          </a:p>
        </p:txBody>
      </p:sp>
      <p:sp>
        <p:nvSpPr>
          <p:cNvPr id="4" name="矩形 3"/>
          <p:cNvSpPr/>
          <p:nvPr/>
        </p:nvSpPr>
        <p:spPr>
          <a:xfrm>
            <a:off x="3411816" y="1290144"/>
            <a:ext cx="5395634" cy="1300401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 dirty="0">
              <a:solidFill>
                <a:schemeClr val="tx1"/>
              </a:solidFill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5363478" y="800801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 smtClean="0"/>
              <a:t>研究内容一</a:t>
            </a:r>
            <a:endParaRPr lang="zh-CN" altLang="en-US" sz="2000" b="1" dirty="0"/>
          </a:p>
        </p:txBody>
      </p:sp>
      <p:sp>
        <p:nvSpPr>
          <p:cNvPr id="63" name="矩形 62"/>
          <p:cNvSpPr/>
          <p:nvPr/>
        </p:nvSpPr>
        <p:spPr>
          <a:xfrm>
            <a:off x="4292467" y="1419274"/>
            <a:ext cx="36070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b="1" dirty="0" smtClean="0"/>
              <a:t>面向一般拓扑的训练时间预测</a:t>
            </a:r>
            <a:endParaRPr lang="zh-CN" altLang="en-US" sz="2000" b="1" dirty="0"/>
          </a:p>
        </p:txBody>
      </p:sp>
      <p:sp>
        <p:nvSpPr>
          <p:cNvPr id="64" name="矩形 63"/>
          <p:cNvSpPr/>
          <p:nvPr/>
        </p:nvSpPr>
        <p:spPr>
          <a:xfrm>
            <a:off x="3619046" y="1926191"/>
            <a:ext cx="22365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 smtClean="0"/>
              <a:t>计算时间预测模型</a:t>
            </a:r>
            <a:endParaRPr lang="zh-CN" altLang="en-US" sz="2000" dirty="0"/>
          </a:p>
        </p:txBody>
      </p:sp>
      <p:sp>
        <p:nvSpPr>
          <p:cNvPr id="65" name="矩形 64"/>
          <p:cNvSpPr/>
          <p:nvPr/>
        </p:nvSpPr>
        <p:spPr>
          <a:xfrm>
            <a:off x="6338470" y="1918715"/>
            <a:ext cx="22365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/>
              <a:t>通信</a:t>
            </a:r>
            <a:r>
              <a:rPr lang="zh-CN" altLang="en-US" sz="2000" dirty="0" smtClean="0"/>
              <a:t>时间预测模型</a:t>
            </a:r>
            <a:endParaRPr lang="zh-CN" altLang="en-US" sz="2000" dirty="0"/>
          </a:p>
        </p:txBody>
      </p:sp>
      <p:sp>
        <p:nvSpPr>
          <p:cNvPr id="66" name="加号 65"/>
          <p:cNvSpPr/>
          <p:nvPr/>
        </p:nvSpPr>
        <p:spPr>
          <a:xfrm>
            <a:off x="5948423" y="1971410"/>
            <a:ext cx="297180" cy="294721"/>
          </a:xfrm>
          <a:prstGeom prst="mathPlus">
            <a:avLst>
              <a:gd name="adj1" fmla="val 151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68" name="文本框 67"/>
          <p:cNvSpPr txBox="1"/>
          <p:nvPr/>
        </p:nvSpPr>
        <p:spPr>
          <a:xfrm>
            <a:off x="2671933" y="358999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 smtClean="0"/>
              <a:t>研究内容二</a:t>
            </a:r>
            <a:endParaRPr lang="zh-CN" altLang="en-US" sz="2000" b="1" dirty="0"/>
          </a:p>
        </p:txBody>
      </p:sp>
      <p:sp>
        <p:nvSpPr>
          <p:cNvPr id="69" name="矩形 68"/>
          <p:cNvSpPr/>
          <p:nvPr/>
        </p:nvSpPr>
        <p:spPr>
          <a:xfrm>
            <a:off x="1389530" y="4133122"/>
            <a:ext cx="40318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b="1" dirty="0"/>
              <a:t>计及训练时间的神经网络结构优化</a:t>
            </a:r>
          </a:p>
        </p:txBody>
      </p:sp>
      <p:sp>
        <p:nvSpPr>
          <p:cNvPr id="70" name="矩形 69"/>
          <p:cNvSpPr/>
          <p:nvPr/>
        </p:nvSpPr>
        <p:spPr>
          <a:xfrm>
            <a:off x="1535218" y="4612784"/>
            <a:ext cx="17235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 smtClean="0"/>
              <a:t>结构搜索空间</a:t>
            </a:r>
            <a:endParaRPr lang="zh-CN" altLang="en-US" sz="2000" dirty="0"/>
          </a:p>
        </p:txBody>
      </p:sp>
      <p:sp>
        <p:nvSpPr>
          <p:cNvPr id="71" name="矩形 70"/>
          <p:cNvSpPr/>
          <p:nvPr/>
        </p:nvSpPr>
        <p:spPr>
          <a:xfrm>
            <a:off x="3554057" y="4611305"/>
            <a:ext cx="121058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 smtClean="0"/>
              <a:t>优化策略</a:t>
            </a:r>
            <a:endParaRPr lang="zh-CN" altLang="en-US" sz="2000" dirty="0"/>
          </a:p>
        </p:txBody>
      </p:sp>
      <p:sp>
        <p:nvSpPr>
          <p:cNvPr id="72" name="加号 71"/>
          <p:cNvSpPr/>
          <p:nvPr/>
        </p:nvSpPr>
        <p:spPr>
          <a:xfrm>
            <a:off x="3256877" y="4660190"/>
            <a:ext cx="297180" cy="294721"/>
          </a:xfrm>
          <a:prstGeom prst="mathPlus">
            <a:avLst>
              <a:gd name="adj1" fmla="val 151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73" name="矩形 72"/>
          <p:cNvSpPr/>
          <p:nvPr/>
        </p:nvSpPr>
        <p:spPr>
          <a:xfrm>
            <a:off x="6562165" y="4064368"/>
            <a:ext cx="4477871" cy="1128921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 dirty="0">
              <a:solidFill>
                <a:schemeClr val="tx1"/>
              </a:solidFill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8067566" y="358999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 smtClean="0"/>
              <a:t>研究内容三</a:t>
            </a:r>
            <a:endParaRPr lang="zh-CN" altLang="en-US" sz="2000" b="1" dirty="0"/>
          </a:p>
        </p:txBody>
      </p:sp>
      <p:sp>
        <p:nvSpPr>
          <p:cNvPr id="75" name="矩形 74"/>
          <p:cNvSpPr/>
          <p:nvPr/>
        </p:nvSpPr>
        <p:spPr>
          <a:xfrm>
            <a:off x="6785163" y="4133122"/>
            <a:ext cx="40318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b="1" dirty="0"/>
              <a:t>面向高效通信的参数同步拓扑优化</a:t>
            </a:r>
          </a:p>
        </p:txBody>
      </p:sp>
      <p:sp>
        <p:nvSpPr>
          <p:cNvPr id="76" name="矩形 75"/>
          <p:cNvSpPr/>
          <p:nvPr/>
        </p:nvSpPr>
        <p:spPr>
          <a:xfrm>
            <a:off x="6599471" y="4612784"/>
            <a:ext cx="19191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dirty="0" smtClean="0"/>
              <a:t>All-Reduce</a:t>
            </a:r>
            <a:r>
              <a:rPr lang="zh-CN" altLang="en-US" sz="2000" dirty="0" smtClean="0"/>
              <a:t>架构</a:t>
            </a:r>
            <a:endParaRPr lang="zh-CN" altLang="en-US" sz="2000" dirty="0"/>
          </a:p>
        </p:txBody>
      </p:sp>
      <p:sp>
        <p:nvSpPr>
          <p:cNvPr id="77" name="矩形 76"/>
          <p:cNvSpPr/>
          <p:nvPr/>
        </p:nvSpPr>
        <p:spPr>
          <a:xfrm>
            <a:off x="8961907" y="4607495"/>
            <a:ext cx="198003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000" dirty="0" smtClean="0"/>
              <a:t>稀疏连通拓扑图</a:t>
            </a:r>
            <a:endParaRPr lang="zh-CN" altLang="en-US" sz="2000" dirty="0"/>
          </a:p>
        </p:txBody>
      </p:sp>
      <p:sp>
        <p:nvSpPr>
          <p:cNvPr id="78" name="加号 77"/>
          <p:cNvSpPr/>
          <p:nvPr/>
        </p:nvSpPr>
        <p:spPr>
          <a:xfrm>
            <a:off x="8591657" y="4660190"/>
            <a:ext cx="297180" cy="294721"/>
          </a:xfrm>
          <a:prstGeom prst="mathPlus">
            <a:avLst>
              <a:gd name="adj1" fmla="val 151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cxnSp>
        <p:nvCxnSpPr>
          <p:cNvPr id="6" name="肘形连接符 5"/>
          <p:cNvCxnSpPr>
            <a:stCxn id="68" idx="0"/>
            <a:endCxn id="74" idx="0"/>
          </p:cNvCxnSpPr>
          <p:nvPr/>
        </p:nvCxnSpPr>
        <p:spPr>
          <a:xfrm rot="5400000" flipH="1" flipV="1">
            <a:off x="6103283" y="892179"/>
            <a:ext cx="12700" cy="5395633"/>
          </a:xfrm>
          <a:prstGeom prst="bentConnector3">
            <a:avLst>
              <a:gd name="adj1" fmla="val 3282354"/>
            </a:avLst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>
            <a:stCxn id="4" idx="2"/>
          </p:cNvCxnSpPr>
          <p:nvPr/>
        </p:nvCxnSpPr>
        <p:spPr>
          <a:xfrm>
            <a:off x="6109633" y="2590545"/>
            <a:ext cx="0" cy="582947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3891444" y="280416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/>
              <a:t>计算时间优化</a:t>
            </a:r>
            <a:endParaRPr lang="zh-CN" altLang="en-US" b="1" dirty="0"/>
          </a:p>
        </p:txBody>
      </p:sp>
      <p:sp>
        <p:nvSpPr>
          <p:cNvPr id="32" name="文本框 31"/>
          <p:cNvSpPr txBox="1"/>
          <p:nvPr/>
        </p:nvSpPr>
        <p:spPr>
          <a:xfrm>
            <a:off x="6825570" y="280416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/>
              <a:t>通信时间优化</a:t>
            </a:r>
            <a:endParaRPr lang="zh-CN" altLang="en-US" b="1" dirty="0"/>
          </a:p>
        </p:txBody>
      </p:sp>
      <p:sp>
        <p:nvSpPr>
          <p:cNvPr id="30" name="矩形 29"/>
          <p:cNvSpPr/>
          <p:nvPr/>
        </p:nvSpPr>
        <p:spPr>
          <a:xfrm>
            <a:off x="1166531" y="4064368"/>
            <a:ext cx="4477871" cy="1128921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64027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48653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729882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4268523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31936131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3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1046946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4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64696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3154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/>
          <p:cNvGrpSpPr/>
          <p:nvPr/>
        </p:nvGrpSpPr>
        <p:grpSpPr>
          <a:xfrm>
            <a:off x="933061" y="2412766"/>
            <a:ext cx="7487370" cy="3739211"/>
            <a:chOff x="933061" y="2412766"/>
            <a:chExt cx="7487370" cy="3739211"/>
          </a:xfrm>
        </p:grpSpPr>
        <p:sp>
          <p:nvSpPr>
            <p:cNvPr id="27" name="矩形 26"/>
            <p:cNvSpPr/>
            <p:nvPr/>
          </p:nvSpPr>
          <p:spPr>
            <a:xfrm>
              <a:off x="1876565" y="3175582"/>
              <a:ext cx="1107054" cy="41185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网络种群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1893178" y="3975752"/>
              <a:ext cx="1090441" cy="3887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计算时间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466197" y="3619224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性能预测</a:t>
              </a:r>
              <a:endParaRPr lang="zh-CN" altLang="en-US" sz="1600" dirty="0"/>
            </a:p>
          </p:txBody>
        </p:sp>
        <p:sp>
          <p:nvSpPr>
            <p:cNvPr id="33" name="矩形 32"/>
            <p:cNvSpPr/>
            <p:nvPr/>
          </p:nvSpPr>
          <p:spPr>
            <a:xfrm>
              <a:off x="1893177" y="4749257"/>
              <a:ext cx="1090441" cy="3887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种群分布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直接箭头连接符 33"/>
            <p:cNvCxnSpPr>
              <a:stCxn id="27" idx="2"/>
              <a:endCxn id="28" idx="0"/>
            </p:cNvCxnSpPr>
            <p:nvPr/>
          </p:nvCxnSpPr>
          <p:spPr>
            <a:xfrm>
              <a:off x="2430092" y="3587438"/>
              <a:ext cx="8307" cy="38831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文本框 36"/>
            <p:cNvSpPr txBox="1"/>
            <p:nvPr/>
          </p:nvSpPr>
          <p:spPr>
            <a:xfrm>
              <a:off x="1269027" y="4387608"/>
              <a:ext cx="120257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 smtClean="0"/>
                <a:t>核密度估计</a:t>
              </a:r>
              <a:endParaRPr lang="zh-CN" altLang="en-US" sz="1600" dirty="0"/>
            </a:p>
          </p:txBody>
        </p:sp>
        <p:sp>
          <p:nvSpPr>
            <p:cNvPr id="15" name="矩形 14"/>
            <p:cNvSpPr/>
            <p:nvPr/>
          </p:nvSpPr>
          <p:spPr>
            <a:xfrm>
              <a:off x="933061" y="2680988"/>
              <a:ext cx="2917372" cy="3470989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730514" y="2759009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 smtClean="0">
                  <a:solidFill>
                    <a:schemeClr val="accent1">
                      <a:lumMod val="50000"/>
                    </a:schemeClr>
                  </a:solidFill>
                </a:rPr>
                <a:t>亲本网络采样</a:t>
              </a:r>
              <a:endParaRPr lang="zh-CN" altLang="en-US" sz="16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cxnSp>
          <p:nvCxnSpPr>
            <p:cNvPr id="48" name="直接箭头连接符 47"/>
            <p:cNvCxnSpPr>
              <a:stCxn id="28" idx="2"/>
              <a:endCxn id="33" idx="0"/>
            </p:cNvCxnSpPr>
            <p:nvPr/>
          </p:nvCxnSpPr>
          <p:spPr>
            <a:xfrm flipH="1">
              <a:off x="2438398" y="4364513"/>
              <a:ext cx="1" cy="38474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矩形 52"/>
            <p:cNvSpPr/>
            <p:nvPr/>
          </p:nvSpPr>
          <p:spPr>
            <a:xfrm>
              <a:off x="1483564" y="5509366"/>
              <a:ext cx="1909666" cy="4683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低密度区域的亲本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54" name="直接箭头连接符 53"/>
            <p:cNvCxnSpPr>
              <a:stCxn id="33" idx="2"/>
              <a:endCxn id="53" idx="0"/>
            </p:cNvCxnSpPr>
            <p:nvPr/>
          </p:nvCxnSpPr>
          <p:spPr>
            <a:xfrm flipH="1">
              <a:off x="2438397" y="5138018"/>
              <a:ext cx="1" cy="3713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文本框 56"/>
            <p:cNvSpPr txBox="1"/>
            <p:nvPr/>
          </p:nvSpPr>
          <p:spPr>
            <a:xfrm>
              <a:off x="1876564" y="5173967"/>
              <a:ext cx="59503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 smtClean="0"/>
                <a:t>采样</a:t>
              </a:r>
              <a:endParaRPr lang="zh-CN" altLang="en-US" sz="1600" dirty="0"/>
            </a:p>
          </p:txBody>
        </p:sp>
        <p:sp>
          <p:nvSpPr>
            <p:cNvPr id="58" name="矩形 57"/>
            <p:cNvSpPr/>
            <p:nvPr/>
          </p:nvSpPr>
          <p:spPr>
            <a:xfrm>
              <a:off x="5503059" y="2680987"/>
              <a:ext cx="2917372" cy="3470989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6253863" y="2759008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b="1" dirty="0" smtClean="0">
                  <a:solidFill>
                    <a:schemeClr val="accent1">
                      <a:lumMod val="50000"/>
                    </a:schemeClr>
                  </a:solidFill>
                </a:rPr>
                <a:t>子代网络生成</a:t>
              </a:r>
              <a:endParaRPr lang="zh-CN" altLang="en-US" sz="16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0" name="矩形 59"/>
            <p:cNvSpPr/>
            <p:nvPr/>
          </p:nvSpPr>
          <p:spPr>
            <a:xfrm>
              <a:off x="6099220" y="5509365"/>
              <a:ext cx="1725050" cy="4683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拟生成的子代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1" name="直接箭头连接符 30"/>
            <p:cNvCxnSpPr>
              <a:stCxn id="53" idx="3"/>
              <a:endCxn id="60" idx="1"/>
            </p:cNvCxnSpPr>
            <p:nvPr/>
          </p:nvCxnSpPr>
          <p:spPr>
            <a:xfrm flipV="1">
              <a:off x="3393230" y="5743546"/>
              <a:ext cx="2705990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/>
            <p:cNvSpPr txBox="1"/>
            <p:nvPr/>
          </p:nvSpPr>
          <p:spPr>
            <a:xfrm>
              <a:off x="3931774" y="5323692"/>
              <a:ext cx="1415772" cy="7934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600" dirty="0" smtClean="0"/>
                <a:t>网络态射</a:t>
              </a:r>
              <a:endParaRPr lang="en-US" altLang="zh-CN" sz="1600" dirty="0" smtClean="0"/>
            </a:p>
            <a:p>
              <a:pPr algn="ctr">
                <a:lnSpc>
                  <a:spcPct val="150000"/>
                </a:lnSpc>
              </a:pPr>
              <a:r>
                <a:rPr lang="zh-CN" altLang="en-US" sz="1600" dirty="0" smtClean="0"/>
                <a:t>近似网络态射</a:t>
              </a:r>
              <a:endParaRPr lang="zh-CN" altLang="en-US" sz="1600" dirty="0"/>
            </a:p>
          </p:txBody>
        </p:sp>
        <p:sp>
          <p:nvSpPr>
            <p:cNvPr id="79" name="矩形 78"/>
            <p:cNvSpPr/>
            <p:nvPr/>
          </p:nvSpPr>
          <p:spPr>
            <a:xfrm>
              <a:off x="6416524" y="4726162"/>
              <a:ext cx="1090441" cy="3887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计算时间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直接箭头连接符 79"/>
            <p:cNvCxnSpPr>
              <a:stCxn id="60" idx="0"/>
              <a:endCxn id="79" idx="2"/>
            </p:cNvCxnSpPr>
            <p:nvPr/>
          </p:nvCxnSpPr>
          <p:spPr>
            <a:xfrm flipV="1">
              <a:off x="6961745" y="5114923"/>
              <a:ext cx="0" cy="3944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/>
            <p:cNvSpPr txBox="1"/>
            <p:nvPr/>
          </p:nvSpPr>
          <p:spPr>
            <a:xfrm>
              <a:off x="6961744" y="5145708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性能预测</a:t>
              </a:r>
              <a:endParaRPr lang="zh-CN" altLang="en-US" sz="1600" dirty="0"/>
            </a:p>
          </p:txBody>
        </p:sp>
        <p:sp>
          <p:nvSpPr>
            <p:cNvPr id="85" name="矩形 84"/>
            <p:cNvSpPr/>
            <p:nvPr/>
          </p:nvSpPr>
          <p:spPr>
            <a:xfrm>
              <a:off x="6416524" y="3976311"/>
              <a:ext cx="1090441" cy="3887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子代</a:t>
              </a:r>
              <a:r>
                <a:rPr lang="zh-CN" altLang="en-US" sz="1600" b="1" dirty="0" smtClean="0">
                  <a:solidFill>
                    <a:schemeClr val="tx1"/>
                  </a:solidFill>
                </a:rPr>
                <a:t>分布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6963396" y="4372216"/>
              <a:ext cx="120257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 smtClean="0"/>
                <a:t>核密度估计</a:t>
              </a:r>
              <a:endParaRPr lang="zh-CN" altLang="en-US" sz="1600" dirty="0"/>
            </a:p>
          </p:txBody>
        </p:sp>
        <p:cxnSp>
          <p:nvCxnSpPr>
            <p:cNvPr id="87" name="直接箭头连接符 86"/>
            <p:cNvCxnSpPr>
              <a:stCxn id="79" idx="0"/>
              <a:endCxn id="85" idx="2"/>
            </p:cNvCxnSpPr>
            <p:nvPr/>
          </p:nvCxnSpPr>
          <p:spPr>
            <a:xfrm flipV="1">
              <a:off x="6961745" y="4365072"/>
              <a:ext cx="0" cy="361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矩形 87"/>
            <p:cNvSpPr/>
            <p:nvPr/>
          </p:nvSpPr>
          <p:spPr>
            <a:xfrm>
              <a:off x="6006911" y="3122665"/>
              <a:ext cx="1909666" cy="46836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低密度区域的子代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9" name="直接箭头连接符 88"/>
            <p:cNvCxnSpPr>
              <a:stCxn id="85" idx="0"/>
              <a:endCxn id="88" idx="2"/>
            </p:cNvCxnSpPr>
            <p:nvPr/>
          </p:nvCxnSpPr>
          <p:spPr>
            <a:xfrm flipH="1" flipV="1">
              <a:off x="6961744" y="3591026"/>
              <a:ext cx="1" cy="38528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文本框 89"/>
            <p:cNvSpPr txBox="1"/>
            <p:nvPr/>
          </p:nvSpPr>
          <p:spPr>
            <a:xfrm>
              <a:off x="6969646" y="3609474"/>
              <a:ext cx="59503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 smtClean="0"/>
                <a:t>采样</a:t>
              </a:r>
              <a:endParaRPr lang="zh-CN" altLang="en-US" sz="1600" dirty="0"/>
            </a:p>
          </p:txBody>
        </p:sp>
        <p:cxnSp>
          <p:nvCxnSpPr>
            <p:cNvPr id="91" name="直接箭头连接符 90"/>
            <p:cNvCxnSpPr>
              <a:stCxn id="88" idx="1"/>
              <a:endCxn id="27" idx="3"/>
            </p:cNvCxnSpPr>
            <p:nvPr/>
          </p:nvCxnSpPr>
          <p:spPr>
            <a:xfrm flipH="1">
              <a:off x="2983619" y="3356846"/>
              <a:ext cx="3023292" cy="246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/>
            <p:cNvSpPr txBox="1"/>
            <p:nvPr/>
          </p:nvSpPr>
          <p:spPr>
            <a:xfrm>
              <a:off x="3964788" y="2747179"/>
              <a:ext cx="148823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训练、评估预测精度</a:t>
              </a:r>
              <a:endParaRPr lang="zh-CN" altLang="en-US" sz="1600" dirty="0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3898425" y="3398457"/>
              <a:ext cx="162095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计算帕累托前沿</a:t>
              </a:r>
              <a:endParaRPr lang="zh-CN" altLang="en-US" sz="1600" dirty="0"/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095237" y="2412766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b="1" dirty="0" smtClean="0">
                  <a:solidFill>
                    <a:schemeClr val="accent1">
                      <a:lumMod val="50000"/>
                    </a:schemeClr>
                  </a:solidFill>
                </a:rPr>
                <a:t>种群更新</a:t>
              </a:r>
              <a:endParaRPr lang="zh-CN" altLang="en-US" sz="16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4133542" y="5059111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b="1" dirty="0" smtClean="0">
                  <a:solidFill>
                    <a:schemeClr val="accent1">
                      <a:lumMod val="50000"/>
                    </a:schemeClr>
                  </a:solidFill>
                </a:rPr>
                <a:t>种群突变</a:t>
              </a:r>
              <a:endParaRPr lang="zh-CN" altLang="en-US" sz="16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5133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111760" y="-508000"/>
            <a:ext cx="10474960" cy="7212840"/>
            <a:chOff x="111760" y="-508000"/>
            <a:chExt cx="10474960" cy="7212840"/>
          </a:xfrm>
        </p:grpSpPr>
        <p:sp>
          <p:nvSpPr>
            <p:cNvPr id="34" name="矩形 33"/>
            <p:cNvSpPr/>
            <p:nvPr/>
          </p:nvSpPr>
          <p:spPr>
            <a:xfrm>
              <a:off x="390324" y="186813"/>
              <a:ext cx="7153419" cy="3330383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390324" y="3921769"/>
              <a:ext cx="7153418" cy="2579479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3353397" y="208827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b="1" dirty="0" smtClean="0">
                  <a:solidFill>
                    <a:srgbClr val="1F4E79"/>
                  </a:solidFill>
                </a:rPr>
                <a:t>计算时间预测</a:t>
              </a:r>
              <a:endParaRPr lang="zh-CN" altLang="en-US" b="1" dirty="0">
                <a:solidFill>
                  <a:srgbClr val="1F4E79"/>
                </a:solidFill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3353089" y="3960283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b="1" dirty="0" smtClean="0">
                  <a:solidFill>
                    <a:srgbClr val="1F4E79"/>
                  </a:solidFill>
                </a:rPr>
                <a:t>通信时间预测</a:t>
              </a:r>
              <a:endParaRPr lang="zh-CN" altLang="en-US" b="1" dirty="0">
                <a:solidFill>
                  <a:srgbClr val="1F4E79"/>
                </a:solidFill>
              </a:endParaRPr>
            </a:p>
          </p:txBody>
        </p:sp>
        <p:cxnSp>
          <p:nvCxnSpPr>
            <p:cNvPr id="39" name="直接箭头连接符 38"/>
            <p:cNvCxnSpPr>
              <a:endCxn id="62" idx="1"/>
            </p:cNvCxnSpPr>
            <p:nvPr/>
          </p:nvCxnSpPr>
          <p:spPr>
            <a:xfrm>
              <a:off x="7895625" y="3685776"/>
              <a:ext cx="146952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文本框 39"/>
            <p:cNvSpPr txBox="1"/>
            <p:nvPr/>
          </p:nvSpPr>
          <p:spPr>
            <a:xfrm>
              <a:off x="7934281" y="3039280"/>
              <a:ext cx="13922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计算通信</a:t>
              </a:r>
              <a:endParaRPr lang="en-US" altLang="zh-CN" sz="1600" dirty="0" smtClean="0"/>
            </a:p>
            <a:p>
              <a:pPr algn="ctr"/>
              <a:r>
                <a:rPr lang="zh-CN" altLang="en-US" sz="1600" dirty="0" smtClean="0"/>
                <a:t>并行性</a:t>
              </a:r>
              <a:r>
                <a:rPr lang="zh-CN" altLang="en-US" sz="1600" dirty="0"/>
                <a:t>分析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956871" y="3752492"/>
              <a:ext cx="149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 smtClean="0"/>
                <a:t>关键路径确定</a:t>
              </a:r>
              <a:endParaRPr lang="zh-CN" altLang="en-US" sz="1600" dirty="0"/>
            </a:p>
          </p:txBody>
        </p:sp>
        <p:sp>
          <p:nvSpPr>
            <p:cNvPr id="44" name="矩形 43"/>
            <p:cNvSpPr/>
            <p:nvPr/>
          </p:nvSpPr>
          <p:spPr>
            <a:xfrm>
              <a:off x="522122" y="2387922"/>
              <a:ext cx="1054519" cy="681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571238" y="2436560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 smtClean="0"/>
                <a:t>神经网络</a:t>
              </a:r>
              <a:endParaRPr lang="en-US" altLang="zh-CN" sz="1600" b="1" dirty="0" smtClean="0"/>
            </a:p>
            <a:p>
              <a:r>
                <a:rPr lang="zh-CN" altLang="en-US" sz="1600" b="1" dirty="0" smtClean="0"/>
                <a:t>特征空间</a:t>
              </a:r>
              <a:endParaRPr lang="zh-CN" altLang="en-US" sz="1600" b="1" dirty="0"/>
            </a:p>
          </p:txBody>
        </p:sp>
        <p:sp>
          <p:nvSpPr>
            <p:cNvPr id="46" name="矩形 45"/>
            <p:cNvSpPr/>
            <p:nvPr/>
          </p:nvSpPr>
          <p:spPr>
            <a:xfrm>
              <a:off x="2718197" y="2387922"/>
              <a:ext cx="1054519" cy="681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cxnSp>
          <p:nvCxnSpPr>
            <p:cNvPr id="47" name="直接箭头连接符 46"/>
            <p:cNvCxnSpPr>
              <a:stCxn id="44" idx="3"/>
              <a:endCxn id="46" idx="1"/>
            </p:cNvCxnSpPr>
            <p:nvPr/>
          </p:nvCxnSpPr>
          <p:spPr>
            <a:xfrm>
              <a:off x="1576641" y="2728823"/>
              <a:ext cx="1141556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文本框 48"/>
            <p:cNvSpPr txBox="1"/>
            <p:nvPr/>
          </p:nvSpPr>
          <p:spPr>
            <a:xfrm>
              <a:off x="1470685" y="2379258"/>
              <a:ext cx="1002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采样</a:t>
              </a:r>
              <a:endParaRPr lang="zh-CN" altLang="en-US" sz="1600" dirty="0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2688778" y="2435556"/>
              <a:ext cx="11084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基准测试数据</a:t>
              </a:r>
              <a:endParaRPr lang="zh-CN" altLang="en-US" sz="1600" b="1" dirty="0"/>
            </a:p>
          </p:txBody>
        </p:sp>
        <p:sp>
          <p:nvSpPr>
            <p:cNvPr id="52" name="矩形 51"/>
            <p:cNvSpPr/>
            <p:nvPr/>
          </p:nvSpPr>
          <p:spPr>
            <a:xfrm>
              <a:off x="4503739" y="2387042"/>
              <a:ext cx="1054519" cy="681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4403792" y="2432312"/>
              <a:ext cx="1251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多层感知器模型</a:t>
              </a:r>
              <a:endParaRPr lang="zh-CN" altLang="en-US" sz="1600" b="1" dirty="0"/>
            </a:p>
          </p:txBody>
        </p:sp>
        <p:cxnSp>
          <p:nvCxnSpPr>
            <p:cNvPr id="57" name="直接箭头连接符 56"/>
            <p:cNvCxnSpPr>
              <a:stCxn id="46" idx="3"/>
              <a:endCxn id="52" idx="1"/>
            </p:cNvCxnSpPr>
            <p:nvPr/>
          </p:nvCxnSpPr>
          <p:spPr>
            <a:xfrm flipV="1">
              <a:off x="3772716" y="2727943"/>
              <a:ext cx="731023" cy="88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文本框 57"/>
            <p:cNvSpPr txBox="1"/>
            <p:nvPr/>
          </p:nvSpPr>
          <p:spPr>
            <a:xfrm>
              <a:off x="3628754" y="2382901"/>
              <a:ext cx="1002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训练</a:t>
              </a:r>
              <a:endParaRPr lang="zh-CN" altLang="en-US" sz="1600" dirty="0"/>
            </a:p>
          </p:txBody>
        </p:sp>
        <p:sp>
          <p:nvSpPr>
            <p:cNvPr id="59" name="矩形 58"/>
            <p:cNvSpPr/>
            <p:nvPr/>
          </p:nvSpPr>
          <p:spPr>
            <a:xfrm>
              <a:off x="618094" y="4687378"/>
              <a:ext cx="1268599" cy="525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吞吐量模型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60" name="矩形 59"/>
            <p:cNvSpPr/>
            <p:nvPr/>
          </p:nvSpPr>
          <p:spPr>
            <a:xfrm>
              <a:off x="3465437" y="4621530"/>
              <a:ext cx="1637281" cy="65721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单链路通信时间</a:t>
              </a:r>
              <a:endParaRPr lang="en-US" altLang="zh-CN" sz="16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预测模型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1" name="直接箭头连接符 60"/>
            <p:cNvCxnSpPr>
              <a:stCxn id="59" idx="3"/>
              <a:endCxn id="60" idx="1"/>
            </p:cNvCxnSpPr>
            <p:nvPr/>
          </p:nvCxnSpPr>
          <p:spPr>
            <a:xfrm>
              <a:off x="1886693" y="4950139"/>
              <a:ext cx="1578744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矩形 61"/>
            <p:cNvSpPr/>
            <p:nvPr/>
          </p:nvSpPr>
          <p:spPr>
            <a:xfrm>
              <a:off x="9365151" y="3423015"/>
              <a:ext cx="1031918" cy="525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训练</a:t>
              </a:r>
              <a:r>
                <a:rPr lang="zh-CN" altLang="en-US" sz="1600" b="1" dirty="0" smtClean="0">
                  <a:solidFill>
                    <a:schemeClr val="tx1"/>
                  </a:solidFill>
                </a:rPr>
                <a:t>时间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63" name="矩形 62"/>
            <p:cNvSpPr/>
            <p:nvPr/>
          </p:nvSpPr>
          <p:spPr>
            <a:xfrm>
              <a:off x="6306725" y="5228994"/>
              <a:ext cx="1050642" cy="47809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通信时间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1822279" y="977129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特征</a:t>
              </a:r>
              <a:r>
                <a:rPr lang="zh-CN" altLang="en-US" sz="1600" dirty="0"/>
                <a:t>扩充</a:t>
              </a:r>
            </a:p>
          </p:txBody>
        </p:sp>
        <p:sp>
          <p:nvSpPr>
            <p:cNvPr id="74" name="矩形 73"/>
            <p:cNvSpPr/>
            <p:nvPr/>
          </p:nvSpPr>
          <p:spPr>
            <a:xfrm>
              <a:off x="6306725" y="2504741"/>
              <a:ext cx="1054519" cy="45110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6222039" y="2563176"/>
              <a:ext cx="12510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计算时间</a:t>
              </a:r>
              <a:endParaRPr lang="zh-CN" altLang="en-US" sz="1600" b="1" dirty="0"/>
            </a:p>
          </p:txBody>
        </p:sp>
        <p:cxnSp>
          <p:nvCxnSpPr>
            <p:cNvPr id="76" name="直接箭头连接符 75"/>
            <p:cNvCxnSpPr>
              <a:stCxn id="52" idx="3"/>
            </p:cNvCxnSpPr>
            <p:nvPr/>
          </p:nvCxnSpPr>
          <p:spPr>
            <a:xfrm>
              <a:off x="5558258" y="2727943"/>
              <a:ext cx="748467" cy="451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7" name="文本框 76"/>
            <p:cNvSpPr txBox="1"/>
            <p:nvPr/>
          </p:nvSpPr>
          <p:spPr>
            <a:xfrm>
              <a:off x="5431018" y="2382901"/>
              <a:ext cx="1002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预测</a:t>
              </a:r>
              <a:endParaRPr lang="zh-CN" altLang="en-US" sz="1600" dirty="0"/>
            </a:p>
          </p:txBody>
        </p:sp>
        <p:sp>
          <p:nvSpPr>
            <p:cNvPr id="78" name="矩形 77"/>
            <p:cNvSpPr/>
            <p:nvPr/>
          </p:nvSpPr>
          <p:spPr>
            <a:xfrm>
              <a:off x="618094" y="5715747"/>
              <a:ext cx="1268599" cy="525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通信拓扑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9" name="肘形连接符 78"/>
            <p:cNvCxnSpPr>
              <a:stCxn id="60" idx="3"/>
              <a:endCxn id="89" idx="3"/>
            </p:cNvCxnSpPr>
            <p:nvPr/>
          </p:nvCxnSpPr>
          <p:spPr>
            <a:xfrm flipH="1">
              <a:off x="5102717" y="4950139"/>
              <a:ext cx="1" cy="1034457"/>
            </a:xfrm>
            <a:prstGeom prst="bentConnector3">
              <a:avLst>
                <a:gd name="adj1" fmla="val -22860000000"/>
              </a:avLst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箭头连接符 82"/>
            <p:cNvCxnSpPr/>
            <p:nvPr/>
          </p:nvCxnSpPr>
          <p:spPr>
            <a:xfrm>
              <a:off x="5329283" y="5467367"/>
              <a:ext cx="977442" cy="135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文本框 84"/>
            <p:cNvSpPr txBox="1"/>
            <p:nvPr/>
          </p:nvSpPr>
          <p:spPr>
            <a:xfrm>
              <a:off x="5314242" y="5128813"/>
              <a:ext cx="10029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预测</a:t>
              </a:r>
              <a:endParaRPr lang="zh-CN" altLang="en-US" sz="1600" dirty="0"/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1938894" y="5626633"/>
              <a:ext cx="14743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dirty="0" smtClean="0"/>
                <a:t>算法机理分析</a:t>
              </a:r>
              <a:endParaRPr lang="zh-CN" altLang="en-US" sz="1600" dirty="0"/>
            </a:p>
          </p:txBody>
        </p:sp>
        <p:sp>
          <p:nvSpPr>
            <p:cNvPr id="88" name="文本框 87"/>
            <p:cNvSpPr txBox="1"/>
            <p:nvPr/>
          </p:nvSpPr>
          <p:spPr>
            <a:xfrm>
              <a:off x="1865587" y="4593849"/>
              <a:ext cx="162095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实时吞吐量分析</a:t>
              </a:r>
              <a:endParaRPr lang="zh-CN" altLang="en-US" sz="1600" dirty="0"/>
            </a:p>
          </p:txBody>
        </p:sp>
        <p:sp>
          <p:nvSpPr>
            <p:cNvPr id="89" name="矩形 88"/>
            <p:cNvSpPr/>
            <p:nvPr/>
          </p:nvSpPr>
          <p:spPr>
            <a:xfrm>
              <a:off x="3465437" y="5721835"/>
              <a:ext cx="1637280" cy="52552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集群通信模型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90" name="直接箭头连接符 89"/>
            <p:cNvCxnSpPr>
              <a:stCxn id="78" idx="3"/>
              <a:endCxn id="89" idx="1"/>
            </p:cNvCxnSpPr>
            <p:nvPr/>
          </p:nvCxnSpPr>
          <p:spPr>
            <a:xfrm>
              <a:off x="1886693" y="5978508"/>
              <a:ext cx="1578744" cy="608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肘形连接符 90"/>
            <p:cNvCxnSpPr>
              <a:stCxn id="34" idx="3"/>
            </p:cNvCxnSpPr>
            <p:nvPr/>
          </p:nvCxnSpPr>
          <p:spPr>
            <a:xfrm>
              <a:off x="7543743" y="1852005"/>
              <a:ext cx="351882" cy="1838485"/>
            </a:xfrm>
            <a:prstGeom prst="bentConnector2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肘形连接符 91"/>
            <p:cNvCxnSpPr>
              <a:endCxn id="35" idx="3"/>
            </p:cNvCxnSpPr>
            <p:nvPr/>
          </p:nvCxnSpPr>
          <p:spPr>
            <a:xfrm rot="5400000">
              <a:off x="6956818" y="4272701"/>
              <a:ext cx="1525733" cy="351883"/>
            </a:xfrm>
            <a:prstGeom prst="bentConnector2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文本框 47"/>
            <p:cNvSpPr txBox="1"/>
            <p:nvPr/>
          </p:nvSpPr>
          <p:spPr>
            <a:xfrm>
              <a:off x="3100236" y="938079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 smtClean="0"/>
                <a:t>浮点数运算数</a:t>
              </a:r>
              <a:endParaRPr lang="en-US" altLang="zh-CN" sz="1600" b="1" dirty="0" smtClean="0"/>
            </a:p>
          </p:txBody>
        </p:sp>
        <p:sp>
          <p:nvSpPr>
            <p:cNvPr id="53" name="矩形 52"/>
            <p:cNvSpPr/>
            <p:nvPr/>
          </p:nvSpPr>
          <p:spPr>
            <a:xfrm>
              <a:off x="3075679" y="873605"/>
              <a:ext cx="1440329" cy="45731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3122153" y="1553441"/>
              <a:ext cx="13261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内存占用</a:t>
              </a:r>
              <a:endParaRPr lang="en-US" altLang="zh-CN" sz="1600" b="1" dirty="0" smtClean="0"/>
            </a:p>
          </p:txBody>
        </p:sp>
        <p:sp>
          <p:nvSpPr>
            <p:cNvPr id="56" name="矩形 55"/>
            <p:cNvSpPr/>
            <p:nvPr/>
          </p:nvSpPr>
          <p:spPr>
            <a:xfrm>
              <a:off x="3074895" y="1523998"/>
              <a:ext cx="1441113" cy="41229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2910347" y="720747"/>
              <a:ext cx="2744507" cy="1373523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肘形连接符 6"/>
            <p:cNvCxnSpPr>
              <a:stCxn id="5" idx="1"/>
            </p:cNvCxnSpPr>
            <p:nvPr/>
          </p:nvCxnSpPr>
          <p:spPr>
            <a:xfrm rot="10800000" flipV="1">
              <a:off x="2395379" y="1407509"/>
              <a:ext cx="514969" cy="1313944"/>
            </a:xfrm>
            <a:prstGeom prst="bentConnector2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/>
            <p:cNvSpPr txBox="1"/>
            <p:nvPr/>
          </p:nvSpPr>
          <p:spPr>
            <a:xfrm>
              <a:off x="4631702" y="1238231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 smtClean="0"/>
                <a:t>机理分析</a:t>
              </a:r>
              <a:endParaRPr lang="zh-CN" altLang="en-US" sz="1600" dirty="0"/>
            </a:p>
          </p:txBody>
        </p:sp>
        <p:sp>
          <p:nvSpPr>
            <p:cNvPr id="50" name="矩形 49"/>
            <p:cNvSpPr/>
            <p:nvPr/>
          </p:nvSpPr>
          <p:spPr>
            <a:xfrm>
              <a:off x="111760" y="-508000"/>
              <a:ext cx="10474960" cy="721284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4333577" y="-401323"/>
              <a:ext cx="20313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solidFill>
                    <a:schemeClr val="accent1">
                      <a:lumMod val="50000"/>
                    </a:schemeClr>
                  </a:solidFill>
                </a:rPr>
                <a:t>仿真平台框架</a:t>
              </a:r>
              <a:endParaRPr lang="zh-CN" altLang="en-US" sz="2400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55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组合 180"/>
          <p:cNvGrpSpPr/>
          <p:nvPr/>
        </p:nvGrpSpPr>
        <p:grpSpPr>
          <a:xfrm>
            <a:off x="-1131269" y="-1226273"/>
            <a:ext cx="13170869" cy="8944004"/>
            <a:chOff x="-978869" y="-281393"/>
            <a:chExt cx="13170869" cy="8944004"/>
          </a:xfrm>
        </p:grpSpPr>
        <p:sp>
          <p:nvSpPr>
            <p:cNvPr id="3" name="圆角矩形 2"/>
            <p:cNvSpPr/>
            <p:nvPr/>
          </p:nvSpPr>
          <p:spPr>
            <a:xfrm>
              <a:off x="-978869" y="-281393"/>
              <a:ext cx="13170869" cy="217243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5" name="圆角矩形 64"/>
            <p:cNvSpPr/>
            <p:nvPr/>
          </p:nvSpPr>
          <p:spPr>
            <a:xfrm>
              <a:off x="1748963" y="2284341"/>
              <a:ext cx="7315200" cy="2557382"/>
            </a:xfrm>
            <a:prstGeom prst="roundRect">
              <a:avLst/>
            </a:prstGeom>
            <a:noFill/>
            <a:ln w="28575">
              <a:solidFill>
                <a:schemeClr val="accent1">
                  <a:lumMod val="50000"/>
                </a:schemeClr>
              </a:solidFill>
              <a:prstDash val="dash"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圆角矩形 65"/>
            <p:cNvSpPr/>
            <p:nvPr/>
          </p:nvSpPr>
          <p:spPr>
            <a:xfrm>
              <a:off x="-978869" y="5240560"/>
              <a:ext cx="13170869" cy="342205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3640321" y="-205164"/>
              <a:ext cx="4301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-653111" y="673977"/>
              <a:ext cx="230494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8" name="矩形 67"/>
            <p:cNvSpPr/>
            <p:nvPr/>
          </p:nvSpPr>
          <p:spPr>
            <a:xfrm>
              <a:off x="3469608" y="673977"/>
              <a:ext cx="193695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直接箭头连接符 7"/>
            <p:cNvCxnSpPr>
              <a:stCxn id="4" idx="3"/>
              <a:endCxn id="68" idx="1"/>
            </p:cNvCxnSpPr>
            <p:nvPr/>
          </p:nvCxnSpPr>
          <p:spPr>
            <a:xfrm>
              <a:off x="1651832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7224339" y="673977"/>
              <a:ext cx="184618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593002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Neural network layer</a:t>
              </a:r>
              <a:endParaRPr lang="zh-CN" altLang="en-US" sz="2000" b="1" dirty="0"/>
            </a:p>
          </p:txBody>
        </p:sp>
        <p:cxnSp>
          <p:nvCxnSpPr>
            <p:cNvPr id="71" name="直接箭头连接符 70"/>
            <p:cNvCxnSpPr>
              <a:stCxn id="68" idx="3"/>
              <a:endCxn id="69" idx="1"/>
            </p:cNvCxnSpPr>
            <p:nvPr/>
          </p:nvCxnSpPr>
          <p:spPr>
            <a:xfrm>
              <a:off x="5406563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矩形 72"/>
            <p:cNvSpPr/>
            <p:nvPr/>
          </p:nvSpPr>
          <p:spPr>
            <a:xfrm>
              <a:off x="9998240" y="673977"/>
              <a:ext cx="198309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1" name="直接箭头连接符 80"/>
            <p:cNvCxnSpPr>
              <a:stCxn id="69" idx="3"/>
              <a:endCxn id="73" idx="1"/>
            </p:cNvCxnSpPr>
            <p:nvPr/>
          </p:nvCxnSpPr>
          <p:spPr>
            <a:xfrm>
              <a:off x="9070524" y="1091454"/>
              <a:ext cx="92771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文本框 81"/>
            <p:cNvSpPr txBox="1"/>
            <p:nvPr/>
          </p:nvSpPr>
          <p:spPr>
            <a:xfrm>
              <a:off x="5331763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Benchmark dataset</a:t>
              </a:r>
              <a:endParaRPr lang="zh-CN" altLang="en-US" sz="2000" b="1" dirty="0"/>
            </a:p>
          </p:txBody>
        </p:sp>
        <p:sp>
          <p:nvSpPr>
            <p:cNvPr id="107" name="文本框 106"/>
            <p:cNvSpPr txBox="1"/>
            <p:nvPr/>
          </p:nvSpPr>
          <p:spPr>
            <a:xfrm>
              <a:off x="3450364" y="5297604"/>
              <a:ext cx="468109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Communication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08" name="矩形 107"/>
            <p:cNvSpPr/>
            <p:nvPr/>
          </p:nvSpPr>
          <p:spPr>
            <a:xfrm>
              <a:off x="-111492" y="6097265"/>
              <a:ext cx="2482647" cy="8769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Real-time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throughput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-111492" y="7254594"/>
              <a:ext cx="2482647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topology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10" name="矩形 109"/>
            <p:cNvSpPr/>
            <p:nvPr/>
          </p:nvSpPr>
          <p:spPr>
            <a:xfrm>
              <a:off x="3657852" y="6097265"/>
              <a:ext cx="3722220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11" name="矩形 110"/>
            <p:cNvSpPr/>
            <p:nvPr/>
          </p:nvSpPr>
          <p:spPr>
            <a:xfrm>
              <a:off x="3657852" y="7254593"/>
              <a:ext cx="3722220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直接箭头连接符 111"/>
            <p:cNvCxnSpPr>
              <a:stCxn id="108" idx="3"/>
              <a:endCxn id="110" idx="1"/>
            </p:cNvCxnSpPr>
            <p:nvPr/>
          </p:nvCxnSpPr>
          <p:spPr>
            <a:xfrm>
              <a:off x="2371155" y="6535715"/>
              <a:ext cx="128669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直接箭头连接符 114"/>
            <p:cNvCxnSpPr>
              <a:stCxn id="109" idx="3"/>
              <a:endCxn id="111" idx="1"/>
            </p:cNvCxnSpPr>
            <p:nvPr/>
          </p:nvCxnSpPr>
          <p:spPr>
            <a:xfrm flipV="1">
              <a:off x="2371155" y="7710475"/>
              <a:ext cx="12866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8" name="矩形 117"/>
            <p:cNvSpPr/>
            <p:nvPr/>
          </p:nvSpPr>
          <p:spPr>
            <a:xfrm>
              <a:off x="8834162" y="6657925"/>
              <a:ext cx="2644934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36" name="肘形连接符 135"/>
            <p:cNvCxnSpPr>
              <a:stCxn id="110" idx="3"/>
              <a:endCxn id="111" idx="3"/>
            </p:cNvCxnSpPr>
            <p:nvPr/>
          </p:nvCxnSpPr>
          <p:spPr>
            <a:xfrm>
              <a:off x="7380072" y="6535715"/>
              <a:ext cx="12700" cy="1174760"/>
            </a:xfrm>
            <a:prstGeom prst="bentConnector3">
              <a:avLst>
                <a:gd name="adj1" fmla="val 4165063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箭头连接符 140"/>
            <p:cNvCxnSpPr>
              <a:endCxn id="118" idx="1"/>
            </p:cNvCxnSpPr>
            <p:nvPr/>
          </p:nvCxnSpPr>
          <p:spPr>
            <a:xfrm>
              <a:off x="7903322" y="7090267"/>
              <a:ext cx="930840" cy="61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7" name="文本框 146"/>
            <p:cNvSpPr txBox="1"/>
            <p:nvPr/>
          </p:nvSpPr>
          <p:spPr>
            <a:xfrm>
              <a:off x="2125244" y="2437700"/>
              <a:ext cx="6787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Computation-Communication Overlap Analysis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50" name="矩形 149"/>
            <p:cNvSpPr/>
            <p:nvPr/>
          </p:nvSpPr>
          <p:spPr>
            <a:xfrm>
              <a:off x="6066476" y="3284197"/>
              <a:ext cx="2372543" cy="11411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Critical path extraction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51" name="矩形 150"/>
            <p:cNvSpPr/>
            <p:nvPr/>
          </p:nvSpPr>
          <p:spPr>
            <a:xfrm>
              <a:off x="2469836" y="3284196"/>
              <a:ext cx="2372543" cy="114117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 smtClean="0">
                  <a:solidFill>
                    <a:schemeClr val="tx1"/>
                  </a:solidFill>
                </a:rPr>
                <a:t>Iteration time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52" name="直接箭头连接符 151"/>
            <p:cNvCxnSpPr>
              <a:stCxn id="150" idx="1"/>
              <a:endCxn id="151" idx="3"/>
            </p:cNvCxnSpPr>
            <p:nvPr/>
          </p:nvCxnSpPr>
          <p:spPr>
            <a:xfrm flipH="1" flipV="1">
              <a:off x="4842379" y="3854783"/>
              <a:ext cx="12240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肘形连接符 155"/>
            <p:cNvCxnSpPr>
              <a:stCxn id="73" idx="3"/>
            </p:cNvCxnSpPr>
            <p:nvPr/>
          </p:nvCxnSpPr>
          <p:spPr>
            <a:xfrm flipH="1">
              <a:off x="8439019" y="1091454"/>
              <a:ext cx="3542314" cy="2591035"/>
            </a:xfrm>
            <a:prstGeom prst="bentConnector3">
              <a:avLst>
                <a:gd name="adj1" fmla="val -18930"/>
              </a:avLst>
            </a:prstGeom>
            <a:ln w="28575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肘形连接符 157"/>
            <p:cNvCxnSpPr/>
            <p:nvPr/>
          </p:nvCxnSpPr>
          <p:spPr>
            <a:xfrm rot="10800000">
              <a:off x="8439022" y="4081329"/>
              <a:ext cx="3045963" cy="3008937"/>
            </a:xfrm>
            <a:prstGeom prst="bentConnector3">
              <a:avLst>
                <a:gd name="adj1" fmla="val -39060"/>
              </a:avLst>
            </a:prstGeom>
            <a:ln w="28575" cap="flat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9" name="文本框 178"/>
            <p:cNvSpPr txBox="1"/>
            <p:nvPr/>
          </p:nvSpPr>
          <p:spPr>
            <a:xfrm>
              <a:off x="9560839" y="3123640"/>
              <a:ext cx="2361544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Computation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  <p:sp>
          <p:nvSpPr>
            <p:cNvPr id="180" name="文本框 179"/>
            <p:cNvSpPr txBox="1"/>
            <p:nvPr/>
          </p:nvSpPr>
          <p:spPr>
            <a:xfrm>
              <a:off x="9392499" y="4224677"/>
              <a:ext cx="267893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Communication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302960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/>
          <p:cNvGrpSpPr/>
          <p:nvPr/>
        </p:nvGrpSpPr>
        <p:grpSpPr>
          <a:xfrm>
            <a:off x="883920" y="1250066"/>
            <a:ext cx="6827520" cy="4247765"/>
            <a:chOff x="883920" y="1250066"/>
            <a:chExt cx="6827520" cy="4247765"/>
          </a:xfrm>
        </p:grpSpPr>
        <p:sp>
          <p:nvSpPr>
            <p:cNvPr id="2" name="矩形 1"/>
            <p:cNvSpPr/>
            <p:nvPr/>
          </p:nvSpPr>
          <p:spPr>
            <a:xfrm>
              <a:off x="1143000" y="193243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环形拓扑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48" name="矩形 47"/>
            <p:cNvSpPr/>
            <p:nvPr/>
          </p:nvSpPr>
          <p:spPr>
            <a:xfrm>
              <a:off x="2598420" y="193243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树形拓扑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1051560" y="2709672"/>
              <a:ext cx="123444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指数图拓扑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2598420" y="270967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多层拓扑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883920" y="1250066"/>
              <a:ext cx="2956560" cy="214083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1346537" y="139363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现有通信拓扑测试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56" name="矩形 55"/>
            <p:cNvSpPr/>
            <p:nvPr/>
          </p:nvSpPr>
          <p:spPr>
            <a:xfrm>
              <a:off x="4754880" y="1250066"/>
              <a:ext cx="2956560" cy="214083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箭头连接符 6"/>
            <p:cNvCxnSpPr>
              <a:stCxn id="4" idx="3"/>
              <a:endCxn id="56" idx="1"/>
            </p:cNvCxnSpPr>
            <p:nvPr/>
          </p:nvCxnSpPr>
          <p:spPr>
            <a:xfrm>
              <a:off x="3840480" y="2320483"/>
              <a:ext cx="9144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矩形 64"/>
            <p:cNvSpPr/>
            <p:nvPr/>
          </p:nvSpPr>
          <p:spPr>
            <a:xfrm>
              <a:off x="3569970" y="4802505"/>
              <a:ext cx="145542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性能</a:t>
              </a:r>
              <a:r>
                <a:rPr lang="zh-CN" altLang="en-US" sz="1600" b="1" dirty="0" smtClean="0">
                  <a:solidFill>
                    <a:schemeClr val="tx1"/>
                  </a:solidFill>
                </a:rPr>
                <a:t>预测模型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" name="肘形连接符 11"/>
            <p:cNvCxnSpPr>
              <a:stCxn id="4" idx="2"/>
              <a:endCxn id="56" idx="2"/>
            </p:cNvCxnSpPr>
            <p:nvPr/>
          </p:nvCxnSpPr>
          <p:spPr>
            <a:xfrm rot="16200000" flipH="1">
              <a:off x="4297680" y="1455420"/>
              <a:ext cx="12700" cy="3870960"/>
            </a:xfrm>
            <a:prstGeom prst="bentConnector3">
              <a:avLst>
                <a:gd name="adj1" fmla="val 3440504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>
              <a:endCxn id="65" idx="0"/>
            </p:cNvCxnSpPr>
            <p:nvPr/>
          </p:nvCxnSpPr>
          <p:spPr>
            <a:xfrm>
              <a:off x="4297680" y="3802380"/>
              <a:ext cx="0" cy="100012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文本框 17"/>
            <p:cNvSpPr txBox="1"/>
            <p:nvPr/>
          </p:nvSpPr>
          <p:spPr>
            <a:xfrm>
              <a:off x="4304030" y="4206359"/>
              <a:ext cx="2347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大规模集群性能对比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>
              <a:off x="2766060" y="4065128"/>
              <a:ext cx="3747926" cy="1432703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5454679" y="1337608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通信拓扑设计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5519341" y="1814797"/>
              <a:ext cx="1427637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优化问题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71" name="矩形 70"/>
            <p:cNvSpPr/>
            <p:nvPr/>
          </p:nvSpPr>
          <p:spPr>
            <a:xfrm>
              <a:off x="5525691" y="2718929"/>
              <a:ext cx="1427637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稀疏拓扑结构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3755366" y="1618988"/>
              <a:ext cx="10846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通信半径分析</a:t>
              </a:r>
              <a:endParaRPr lang="zh-CN" altLang="en-US" sz="1600" b="1" dirty="0"/>
            </a:p>
          </p:txBody>
        </p:sp>
        <p:cxnSp>
          <p:nvCxnSpPr>
            <p:cNvPr id="23" name="直接箭头连接符 22"/>
            <p:cNvCxnSpPr>
              <a:stCxn id="69" idx="2"/>
              <a:endCxn id="71" idx="0"/>
            </p:cNvCxnSpPr>
            <p:nvPr/>
          </p:nvCxnSpPr>
          <p:spPr>
            <a:xfrm>
              <a:off x="6233160" y="2305525"/>
              <a:ext cx="6350" cy="4134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文本框 79"/>
            <p:cNvSpPr txBox="1"/>
            <p:nvPr/>
          </p:nvSpPr>
          <p:spPr>
            <a:xfrm>
              <a:off x="5331452" y="2337733"/>
              <a:ext cx="10846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求解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360570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/>
          <p:cNvGrpSpPr/>
          <p:nvPr/>
        </p:nvGrpSpPr>
        <p:grpSpPr>
          <a:xfrm>
            <a:off x="701040" y="1277498"/>
            <a:ext cx="6827520" cy="4247765"/>
            <a:chOff x="883920" y="1250066"/>
            <a:chExt cx="6827520" cy="4247765"/>
          </a:xfrm>
        </p:grpSpPr>
        <p:sp>
          <p:nvSpPr>
            <p:cNvPr id="2" name="矩形 1"/>
            <p:cNvSpPr/>
            <p:nvPr/>
          </p:nvSpPr>
          <p:spPr>
            <a:xfrm>
              <a:off x="1143000" y="193243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环形拓扑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48" name="矩形 47"/>
            <p:cNvSpPr/>
            <p:nvPr/>
          </p:nvSpPr>
          <p:spPr>
            <a:xfrm>
              <a:off x="2598420" y="1932432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树形拓扑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2598420" y="2718929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E" altLang="zh-CN" sz="1600" b="1" dirty="0" smtClean="0">
                  <a:solidFill>
                    <a:schemeClr val="tx1"/>
                  </a:solidFill>
                </a:rPr>
                <a:t>……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1143000" y="2718929"/>
              <a:ext cx="105156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多层拓扑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883920" y="1250066"/>
              <a:ext cx="2956560" cy="214083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1346537" y="139363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现有通信拓扑测试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56" name="矩形 55"/>
            <p:cNvSpPr/>
            <p:nvPr/>
          </p:nvSpPr>
          <p:spPr>
            <a:xfrm>
              <a:off x="4754880" y="1250066"/>
              <a:ext cx="2956560" cy="2140834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箭头连接符 6"/>
            <p:cNvCxnSpPr>
              <a:stCxn id="4" idx="3"/>
              <a:endCxn id="56" idx="1"/>
            </p:cNvCxnSpPr>
            <p:nvPr/>
          </p:nvCxnSpPr>
          <p:spPr>
            <a:xfrm>
              <a:off x="3840480" y="2320483"/>
              <a:ext cx="9144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矩形 64"/>
            <p:cNvSpPr/>
            <p:nvPr/>
          </p:nvSpPr>
          <p:spPr>
            <a:xfrm>
              <a:off x="3569970" y="4802505"/>
              <a:ext cx="1455420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性能</a:t>
              </a:r>
              <a:r>
                <a:rPr lang="zh-CN" altLang="en-US" sz="1600" b="1" dirty="0" smtClean="0">
                  <a:solidFill>
                    <a:schemeClr val="tx1"/>
                  </a:solidFill>
                </a:rPr>
                <a:t>预测模型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" name="肘形连接符 11"/>
            <p:cNvCxnSpPr>
              <a:stCxn id="4" idx="2"/>
              <a:endCxn id="56" idx="2"/>
            </p:cNvCxnSpPr>
            <p:nvPr/>
          </p:nvCxnSpPr>
          <p:spPr>
            <a:xfrm rot="16200000" flipH="1">
              <a:off x="4297680" y="1455420"/>
              <a:ext cx="12700" cy="3870960"/>
            </a:xfrm>
            <a:prstGeom prst="bentConnector3">
              <a:avLst>
                <a:gd name="adj1" fmla="val 3440504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>
              <a:endCxn id="65" idx="0"/>
            </p:cNvCxnSpPr>
            <p:nvPr/>
          </p:nvCxnSpPr>
          <p:spPr>
            <a:xfrm>
              <a:off x="4297680" y="3802380"/>
              <a:ext cx="0" cy="100012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文本框 17"/>
            <p:cNvSpPr txBox="1"/>
            <p:nvPr/>
          </p:nvSpPr>
          <p:spPr>
            <a:xfrm>
              <a:off x="4304030" y="4206359"/>
              <a:ext cx="2347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大规模集群性能对比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>
              <a:off x="2766060" y="4065128"/>
              <a:ext cx="3747926" cy="1432703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5454679" y="1337608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 smtClean="0">
                  <a:solidFill>
                    <a:schemeClr val="accent1">
                      <a:lumMod val="50000"/>
                    </a:schemeClr>
                  </a:solidFill>
                </a:rPr>
                <a:t>通信拓扑设计</a:t>
              </a:r>
              <a:endParaRPr lang="zh-CN" altLang="en-US" b="1" dirty="0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5519341" y="1814797"/>
              <a:ext cx="1427637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优化问题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71" name="矩形 70"/>
            <p:cNvSpPr/>
            <p:nvPr/>
          </p:nvSpPr>
          <p:spPr>
            <a:xfrm>
              <a:off x="5525691" y="2718929"/>
              <a:ext cx="1427637" cy="490728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 smtClean="0">
                  <a:solidFill>
                    <a:schemeClr val="tx1"/>
                  </a:solidFill>
                </a:rPr>
                <a:t>稀疏拓扑结构</a:t>
              </a:r>
              <a:endParaRPr lang="zh-CN" alt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3755366" y="1618988"/>
              <a:ext cx="10846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通信半径分析</a:t>
              </a:r>
              <a:endParaRPr lang="zh-CN" altLang="en-US" sz="1600" b="1" dirty="0"/>
            </a:p>
          </p:txBody>
        </p:sp>
        <p:cxnSp>
          <p:nvCxnSpPr>
            <p:cNvPr id="23" name="直接箭头连接符 22"/>
            <p:cNvCxnSpPr>
              <a:stCxn id="69" idx="2"/>
              <a:endCxn id="71" idx="0"/>
            </p:cNvCxnSpPr>
            <p:nvPr/>
          </p:nvCxnSpPr>
          <p:spPr>
            <a:xfrm>
              <a:off x="6233160" y="2305525"/>
              <a:ext cx="6350" cy="4134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文本框 79"/>
            <p:cNvSpPr txBox="1"/>
            <p:nvPr/>
          </p:nvSpPr>
          <p:spPr>
            <a:xfrm>
              <a:off x="5331452" y="2337733"/>
              <a:ext cx="10846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b="1" dirty="0" smtClean="0"/>
                <a:t>求解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653289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6" name="图片 24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333" y="3312536"/>
            <a:ext cx="1924685" cy="181522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pic>
        <p:nvPicPr>
          <p:cNvPr id="2437" name="图片 24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4886" y="3312536"/>
            <a:ext cx="2233117" cy="181522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pic>
        <p:nvPicPr>
          <p:cNvPr id="2438" name="图片 24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6871" y="3312536"/>
            <a:ext cx="2289325" cy="181522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5" name="椭圆 4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椭圆 6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椭圆 9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/>
          <p:cNvCxnSpPr>
            <a:stCxn id="5" idx="0"/>
            <a:endCxn id="8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/>
          <p:cNvCxnSpPr>
            <a:stCxn id="5" idx="6"/>
            <a:endCxn id="11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/>
          <p:cNvCxnSpPr>
            <a:stCxn id="6" idx="2"/>
            <a:endCxn id="8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/>
          <p:cNvCxnSpPr>
            <a:stCxn id="6" idx="6"/>
            <a:endCxn id="9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>
            <a:stCxn id="9" idx="6"/>
            <a:endCxn id="10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/>
          <p:cNvCxnSpPr>
            <a:stCxn id="11" idx="6"/>
            <a:endCxn id="7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椭圆 17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接连接符 18"/>
          <p:cNvCxnSpPr>
            <a:stCxn id="18" idx="0"/>
            <a:endCxn id="10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/>
          <p:cNvCxnSpPr>
            <a:stCxn id="7" idx="6"/>
            <a:endCxn id="18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324640" y="2262384"/>
            <a:ext cx="6495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ring</a:t>
            </a:r>
            <a:endParaRPr lang="zh-CN" altLang="en-US" sz="2000" b="1" dirty="0"/>
          </a:p>
        </p:txBody>
      </p:sp>
      <p:grpSp>
        <p:nvGrpSpPr>
          <p:cNvPr id="22" name="组合 21"/>
          <p:cNvGrpSpPr/>
          <p:nvPr/>
        </p:nvGrpSpPr>
        <p:grpSpPr>
          <a:xfrm>
            <a:off x="5013207" y="777011"/>
            <a:ext cx="2260914" cy="1885483"/>
            <a:chOff x="3327282" y="427761"/>
            <a:chExt cx="2260914" cy="1885483"/>
          </a:xfrm>
        </p:grpSpPr>
        <p:sp>
          <p:nvSpPr>
            <p:cNvPr id="23" name="椭圆 22"/>
            <p:cNvSpPr/>
            <p:nvPr/>
          </p:nvSpPr>
          <p:spPr>
            <a:xfrm>
              <a:off x="4148482" y="42776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椭圆 23"/>
            <p:cNvSpPr/>
            <p:nvPr/>
          </p:nvSpPr>
          <p:spPr>
            <a:xfrm>
              <a:off x="3624538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椭圆 24"/>
            <p:cNvSpPr/>
            <p:nvPr/>
          </p:nvSpPr>
          <p:spPr>
            <a:xfrm>
              <a:off x="4658232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椭圆 25"/>
            <p:cNvSpPr/>
            <p:nvPr/>
          </p:nvSpPr>
          <p:spPr>
            <a:xfrm>
              <a:off x="3327282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椭圆 26"/>
            <p:cNvSpPr/>
            <p:nvPr/>
          </p:nvSpPr>
          <p:spPr>
            <a:xfrm>
              <a:off x="3900604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椭圆 27"/>
            <p:cNvSpPr/>
            <p:nvPr/>
          </p:nvSpPr>
          <p:spPr>
            <a:xfrm>
              <a:off x="4451717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椭圆 28"/>
            <p:cNvSpPr/>
            <p:nvPr/>
          </p:nvSpPr>
          <p:spPr>
            <a:xfrm>
              <a:off x="4990768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直接连接符 29"/>
            <p:cNvCxnSpPr>
              <a:stCxn id="23" idx="4"/>
              <a:endCxn id="24" idx="0"/>
            </p:cNvCxnSpPr>
            <p:nvPr/>
          </p:nvCxnSpPr>
          <p:spPr>
            <a:xfrm flipH="1">
              <a:off x="3790806" y="755627"/>
              <a:ext cx="523944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>
              <a:stCxn id="23" idx="4"/>
              <a:endCxn id="25" idx="0"/>
            </p:cNvCxnSpPr>
            <p:nvPr/>
          </p:nvCxnSpPr>
          <p:spPr>
            <a:xfrm>
              <a:off x="4314750" y="755627"/>
              <a:ext cx="509750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>
              <a:stCxn id="24" idx="4"/>
              <a:endCxn id="26" idx="0"/>
            </p:cNvCxnSpPr>
            <p:nvPr/>
          </p:nvCxnSpPr>
          <p:spPr>
            <a:xfrm flipH="1">
              <a:off x="3493550" y="1266167"/>
              <a:ext cx="29725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>
              <a:stCxn id="24" idx="4"/>
              <a:endCxn id="27" idx="0"/>
            </p:cNvCxnSpPr>
            <p:nvPr/>
          </p:nvCxnSpPr>
          <p:spPr>
            <a:xfrm>
              <a:off x="3790806" y="1266167"/>
              <a:ext cx="27606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>
              <a:stCxn id="25" idx="4"/>
              <a:endCxn id="28" idx="0"/>
            </p:cNvCxnSpPr>
            <p:nvPr/>
          </p:nvCxnSpPr>
          <p:spPr>
            <a:xfrm flipH="1">
              <a:off x="4617985" y="1266167"/>
              <a:ext cx="206515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>
              <a:stCxn id="25" idx="4"/>
              <a:endCxn id="29" idx="0"/>
            </p:cNvCxnSpPr>
            <p:nvPr/>
          </p:nvCxnSpPr>
          <p:spPr>
            <a:xfrm>
              <a:off x="4824500" y="1266167"/>
              <a:ext cx="33253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椭圆 35"/>
            <p:cNvSpPr/>
            <p:nvPr/>
          </p:nvSpPr>
          <p:spPr>
            <a:xfrm>
              <a:off x="5255660" y="198537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直接连接符 36"/>
            <p:cNvCxnSpPr>
              <a:stCxn id="29" idx="4"/>
              <a:endCxn id="36" idx="0"/>
            </p:cNvCxnSpPr>
            <p:nvPr/>
          </p:nvCxnSpPr>
          <p:spPr>
            <a:xfrm>
              <a:off x="5157036" y="1824722"/>
              <a:ext cx="264892" cy="16065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8" name="文本框 37"/>
          <p:cNvSpPr txBox="1"/>
          <p:nvPr/>
        </p:nvSpPr>
        <p:spPr>
          <a:xfrm>
            <a:off x="5677947" y="2262384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tree</a:t>
            </a:r>
            <a:endParaRPr lang="zh-CN" altLang="en-US" sz="2000" b="1" dirty="0"/>
          </a:p>
        </p:txBody>
      </p:sp>
      <p:sp>
        <p:nvSpPr>
          <p:cNvPr id="39" name="文本框 38"/>
          <p:cNvSpPr txBox="1"/>
          <p:nvPr/>
        </p:nvSpPr>
        <p:spPr>
          <a:xfrm>
            <a:off x="8688510" y="2771700"/>
            <a:ext cx="15536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exponential</a:t>
            </a:r>
            <a:endParaRPr lang="zh-CN" altLang="en-US" sz="20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8317103" y="406685"/>
            <a:ext cx="2247745" cy="1965804"/>
            <a:chOff x="8317103" y="406685"/>
            <a:chExt cx="2247745" cy="1965804"/>
          </a:xfrm>
        </p:grpSpPr>
        <p:sp>
          <p:nvSpPr>
            <p:cNvPr id="41" name="椭圆 40"/>
            <p:cNvSpPr/>
            <p:nvPr/>
          </p:nvSpPr>
          <p:spPr>
            <a:xfrm>
              <a:off x="8317103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椭圆 41"/>
            <p:cNvSpPr/>
            <p:nvPr/>
          </p:nvSpPr>
          <p:spPr>
            <a:xfrm>
              <a:off x="8952845" y="406685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椭圆 42"/>
            <p:cNvSpPr/>
            <p:nvPr/>
          </p:nvSpPr>
          <p:spPr>
            <a:xfrm>
              <a:off x="9588587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椭圆 43"/>
            <p:cNvSpPr/>
            <p:nvPr/>
          </p:nvSpPr>
          <p:spPr>
            <a:xfrm>
              <a:off x="8317103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9588587" y="40790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椭圆 45"/>
            <p:cNvSpPr/>
            <p:nvPr/>
          </p:nvSpPr>
          <p:spPr>
            <a:xfrm>
              <a:off x="10232312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椭圆 46"/>
            <p:cNvSpPr/>
            <p:nvPr/>
          </p:nvSpPr>
          <p:spPr>
            <a:xfrm>
              <a:off x="8952845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8" name="直接连接符 47"/>
            <p:cNvCxnSpPr>
              <a:stCxn id="41" idx="0"/>
              <a:endCxn id="44" idx="4"/>
            </p:cNvCxnSpPr>
            <p:nvPr/>
          </p:nvCxnSpPr>
          <p:spPr>
            <a:xfrm flipV="1">
              <a:off x="8483371" y="1167210"/>
              <a:ext cx="0" cy="455772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连接符 48"/>
            <p:cNvCxnSpPr>
              <a:stCxn id="41" idx="5"/>
              <a:endCxn id="47" idx="2"/>
            </p:cNvCxnSpPr>
            <p:nvPr/>
          </p:nvCxnSpPr>
          <p:spPr>
            <a:xfrm>
              <a:off x="8600940" y="1902833"/>
              <a:ext cx="351905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>
              <a:stCxn id="42" idx="2"/>
              <a:endCxn id="44" idx="7"/>
            </p:cNvCxnSpPr>
            <p:nvPr/>
          </p:nvCxnSpPr>
          <p:spPr>
            <a:xfrm flipH="1">
              <a:off x="8600940" y="570618"/>
              <a:ext cx="351905" cy="316741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连接符 50"/>
            <p:cNvCxnSpPr>
              <a:stCxn id="42" idx="6"/>
              <a:endCxn id="45" idx="2"/>
            </p:cNvCxnSpPr>
            <p:nvPr/>
          </p:nvCxnSpPr>
          <p:spPr>
            <a:xfrm>
              <a:off x="9285381" y="570618"/>
              <a:ext cx="303206" cy="1219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>
              <a:stCxn id="45" idx="6"/>
              <a:endCxn id="46" idx="1"/>
            </p:cNvCxnSpPr>
            <p:nvPr/>
          </p:nvCxnSpPr>
          <p:spPr>
            <a:xfrm>
              <a:off x="9921123" y="571837"/>
              <a:ext cx="359888" cy="315522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直接连接符 52"/>
            <p:cNvCxnSpPr>
              <a:stCxn id="47" idx="6"/>
              <a:endCxn id="43" idx="2"/>
            </p:cNvCxnSpPr>
            <p:nvPr/>
          </p:nvCxnSpPr>
          <p:spPr>
            <a:xfrm>
              <a:off x="9285381" y="2208555"/>
              <a:ext cx="303206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椭圆 53"/>
            <p:cNvSpPr/>
            <p:nvPr/>
          </p:nvSpPr>
          <p:spPr>
            <a:xfrm>
              <a:off x="10232312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直接连接符 54"/>
            <p:cNvCxnSpPr>
              <a:stCxn id="54" idx="0"/>
              <a:endCxn id="46" idx="4"/>
            </p:cNvCxnSpPr>
            <p:nvPr/>
          </p:nvCxnSpPr>
          <p:spPr>
            <a:xfrm flipV="1">
              <a:off x="10398580" y="1167210"/>
              <a:ext cx="0" cy="45577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连接符 55"/>
            <p:cNvCxnSpPr>
              <a:stCxn id="43" idx="6"/>
              <a:endCxn id="54" idx="3"/>
            </p:cNvCxnSpPr>
            <p:nvPr/>
          </p:nvCxnSpPr>
          <p:spPr>
            <a:xfrm flipV="1">
              <a:off x="9921123" y="1902833"/>
              <a:ext cx="359888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曲线连接符 56"/>
            <p:cNvCxnSpPr>
              <a:stCxn id="44" idx="0"/>
              <a:endCxn id="45" idx="0"/>
            </p:cNvCxnSpPr>
            <p:nvPr/>
          </p:nvCxnSpPr>
          <p:spPr>
            <a:xfrm rot="5400000" flipH="1" flipV="1">
              <a:off x="8903393" y="-12118"/>
              <a:ext cx="431440" cy="1271484"/>
            </a:xfrm>
            <a:prstGeom prst="curvedConnector3">
              <a:avLst>
                <a:gd name="adj1" fmla="val 152985"/>
              </a:avLst>
            </a:prstGeom>
            <a:ln w="19050">
              <a:solidFill>
                <a:srgbClr val="FF0000"/>
              </a:solidFill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连接符 57"/>
            <p:cNvCxnSpPr>
              <a:stCxn id="54" idx="1"/>
              <a:endCxn id="44" idx="6"/>
            </p:cNvCxnSpPr>
            <p:nvPr/>
          </p:nvCxnSpPr>
          <p:spPr>
            <a:xfrm flipH="1" flipV="1">
              <a:off x="8649639" y="1003277"/>
              <a:ext cx="1631372" cy="667720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曲线连接符 58"/>
            <p:cNvCxnSpPr>
              <a:stCxn id="42" idx="0"/>
              <a:endCxn id="46" idx="7"/>
            </p:cNvCxnSpPr>
            <p:nvPr/>
          </p:nvCxnSpPr>
          <p:spPr>
            <a:xfrm rot="16200000" flipH="1">
              <a:off x="9577294" y="-51496"/>
              <a:ext cx="480674" cy="1397036"/>
            </a:xfrm>
            <a:prstGeom prst="curvedConnector3">
              <a:avLst>
                <a:gd name="adj1" fmla="val -47558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连接符 59"/>
            <p:cNvCxnSpPr>
              <a:stCxn id="43" idx="0"/>
              <a:endCxn id="42" idx="4"/>
            </p:cNvCxnSpPr>
            <p:nvPr/>
          </p:nvCxnSpPr>
          <p:spPr>
            <a:xfrm flipH="1" flipV="1">
              <a:off x="9119113" y="734551"/>
              <a:ext cx="635742" cy="1310071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接连接符 60"/>
            <p:cNvCxnSpPr>
              <a:stCxn id="47" idx="0"/>
              <a:endCxn id="45" idx="4"/>
            </p:cNvCxnSpPr>
            <p:nvPr/>
          </p:nvCxnSpPr>
          <p:spPr>
            <a:xfrm flipV="1">
              <a:off x="9119113" y="735770"/>
              <a:ext cx="635742" cy="1308852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连接符 61"/>
            <p:cNvCxnSpPr>
              <a:stCxn id="41" idx="7"/>
              <a:endCxn id="46" idx="2"/>
            </p:cNvCxnSpPr>
            <p:nvPr/>
          </p:nvCxnSpPr>
          <p:spPr>
            <a:xfrm flipV="1">
              <a:off x="8600940" y="1003277"/>
              <a:ext cx="1631372" cy="66772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曲线连接符 62"/>
            <p:cNvCxnSpPr>
              <a:stCxn id="45" idx="7"/>
              <a:endCxn id="54" idx="6"/>
            </p:cNvCxnSpPr>
            <p:nvPr/>
          </p:nvCxnSpPr>
          <p:spPr>
            <a:xfrm rot="16200000" flipH="1">
              <a:off x="9553138" y="775205"/>
              <a:ext cx="1330996" cy="692424"/>
            </a:xfrm>
            <a:prstGeom prst="curvedConnector4">
              <a:avLst>
                <a:gd name="adj1" fmla="val -20783"/>
                <a:gd name="adj2" fmla="val 13301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曲线连接符 63"/>
            <p:cNvCxnSpPr>
              <a:stCxn id="54" idx="5"/>
              <a:endCxn id="47" idx="4"/>
            </p:cNvCxnSpPr>
            <p:nvPr/>
          </p:nvCxnSpPr>
          <p:spPr>
            <a:xfrm rot="5400000">
              <a:off x="9582804" y="1439142"/>
              <a:ext cx="469655" cy="1397036"/>
            </a:xfrm>
            <a:prstGeom prst="curvedConnector3">
              <a:avLst>
                <a:gd name="adj1" fmla="val 1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曲线连接符 64"/>
            <p:cNvCxnSpPr>
              <a:stCxn id="46" idx="6"/>
              <a:endCxn id="43" idx="5"/>
            </p:cNvCxnSpPr>
            <p:nvPr/>
          </p:nvCxnSpPr>
          <p:spPr>
            <a:xfrm flipH="1">
              <a:off x="9872424" y="1003277"/>
              <a:ext cx="692424" cy="1321196"/>
            </a:xfrm>
            <a:prstGeom prst="curvedConnector4">
              <a:avLst>
                <a:gd name="adj1" fmla="val -33014"/>
                <a:gd name="adj2" fmla="val 120937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曲线连接符 65"/>
            <p:cNvCxnSpPr>
              <a:stCxn id="43" idx="4"/>
              <a:endCxn id="41" idx="3"/>
            </p:cNvCxnSpPr>
            <p:nvPr/>
          </p:nvCxnSpPr>
          <p:spPr>
            <a:xfrm rot="5400000" flipH="1">
              <a:off x="8825501" y="1443135"/>
              <a:ext cx="469655" cy="1389053"/>
            </a:xfrm>
            <a:prstGeom prst="curvedConnector3">
              <a:avLst>
                <a:gd name="adj1" fmla="val -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曲线连接符 66"/>
            <p:cNvCxnSpPr>
              <a:stCxn id="47" idx="3"/>
              <a:endCxn id="44" idx="2"/>
            </p:cNvCxnSpPr>
            <p:nvPr/>
          </p:nvCxnSpPr>
          <p:spPr>
            <a:xfrm rot="5400000" flipH="1">
              <a:off x="7998726" y="1321655"/>
              <a:ext cx="1321196" cy="684441"/>
            </a:xfrm>
            <a:prstGeom prst="curvedConnector4">
              <a:avLst>
                <a:gd name="adj1" fmla="val -20937"/>
                <a:gd name="adj2" fmla="val 133400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8" name="矩形 67"/>
          <p:cNvSpPr/>
          <p:nvPr/>
        </p:nvSpPr>
        <p:spPr>
          <a:xfrm>
            <a:off x="9895606" y="5776527"/>
            <a:ext cx="151996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/>
              <a:t>h</a:t>
            </a:r>
            <a:r>
              <a:rPr lang="zh-CN" altLang="en-US" sz="2000" b="1" dirty="0" smtClean="0"/>
              <a:t>ierarchical</a:t>
            </a:r>
            <a:endParaRPr lang="zh-CN" altLang="en-US" sz="2000" b="1" dirty="0"/>
          </a:p>
        </p:txBody>
      </p:sp>
      <p:grpSp>
        <p:nvGrpSpPr>
          <p:cNvPr id="69" name="组合 68"/>
          <p:cNvGrpSpPr/>
          <p:nvPr/>
        </p:nvGrpSpPr>
        <p:grpSpPr>
          <a:xfrm>
            <a:off x="10041185" y="3438941"/>
            <a:ext cx="1237639" cy="2173653"/>
            <a:chOff x="2041901" y="3639103"/>
            <a:chExt cx="1237639" cy="2173653"/>
          </a:xfrm>
        </p:grpSpPr>
        <p:sp>
          <p:nvSpPr>
            <p:cNvPr id="70" name="椭圆 69"/>
            <p:cNvSpPr/>
            <p:nvPr/>
          </p:nvSpPr>
          <p:spPr>
            <a:xfrm>
              <a:off x="2934304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1" name="椭圆 70"/>
            <p:cNvSpPr/>
            <p:nvPr/>
          </p:nvSpPr>
          <p:spPr>
            <a:xfrm>
              <a:off x="2938174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2045771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椭圆 72"/>
            <p:cNvSpPr/>
            <p:nvPr/>
          </p:nvSpPr>
          <p:spPr>
            <a:xfrm>
              <a:off x="2041901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4" name="直接连接符 73"/>
            <p:cNvCxnSpPr>
              <a:stCxn id="70" idx="2"/>
              <a:endCxn id="73" idx="6"/>
            </p:cNvCxnSpPr>
            <p:nvPr/>
          </p:nvCxnSpPr>
          <p:spPr>
            <a:xfrm flipH="1">
              <a:off x="2374437" y="5648823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直接连接符 74"/>
            <p:cNvCxnSpPr>
              <a:stCxn id="71" idx="2"/>
              <a:endCxn id="72" idx="6"/>
            </p:cNvCxnSpPr>
            <p:nvPr/>
          </p:nvCxnSpPr>
          <p:spPr>
            <a:xfrm flipH="1">
              <a:off x="2378307" y="3803036"/>
              <a:ext cx="559867" cy="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" name="椭圆 75"/>
            <p:cNvSpPr/>
            <p:nvPr/>
          </p:nvSpPr>
          <p:spPr>
            <a:xfrm>
              <a:off x="2041901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椭圆 76"/>
            <p:cNvSpPr/>
            <p:nvPr/>
          </p:nvSpPr>
          <p:spPr>
            <a:xfrm>
              <a:off x="2934304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8" name="直接连接符 77"/>
            <p:cNvCxnSpPr>
              <a:stCxn id="76" idx="6"/>
              <a:endCxn id="77" idx="2"/>
            </p:cNvCxnSpPr>
            <p:nvPr/>
          </p:nvCxnSpPr>
          <p:spPr>
            <a:xfrm>
              <a:off x="2374437" y="4395221"/>
              <a:ext cx="559867" cy="0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椭圆 78"/>
            <p:cNvSpPr/>
            <p:nvPr/>
          </p:nvSpPr>
          <p:spPr>
            <a:xfrm>
              <a:off x="2934304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椭圆 79"/>
            <p:cNvSpPr/>
            <p:nvPr/>
          </p:nvSpPr>
          <p:spPr>
            <a:xfrm>
              <a:off x="2041901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81" name="直接连接符 80"/>
            <p:cNvCxnSpPr>
              <a:stCxn id="79" idx="2"/>
              <a:endCxn id="80" idx="6"/>
            </p:cNvCxnSpPr>
            <p:nvPr/>
          </p:nvCxnSpPr>
          <p:spPr>
            <a:xfrm flipH="1">
              <a:off x="2374437" y="5022022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接连接符 81"/>
            <p:cNvCxnSpPr>
              <a:stCxn id="77" idx="0"/>
              <a:endCxn id="71" idx="4"/>
            </p:cNvCxnSpPr>
            <p:nvPr/>
          </p:nvCxnSpPr>
          <p:spPr>
            <a:xfrm flipV="1">
              <a:off x="3100572" y="3966969"/>
              <a:ext cx="3870" cy="264319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>
              <a:stCxn id="70" idx="0"/>
              <a:endCxn id="79" idx="4"/>
            </p:cNvCxnSpPr>
            <p:nvPr/>
          </p:nvCxnSpPr>
          <p:spPr>
            <a:xfrm flipV="1">
              <a:off x="3100572" y="5185955"/>
              <a:ext cx="0" cy="298935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肘形连接符 83"/>
            <p:cNvCxnSpPr>
              <a:stCxn id="77" idx="6"/>
              <a:endCxn id="70" idx="6"/>
            </p:cNvCxnSpPr>
            <p:nvPr/>
          </p:nvCxnSpPr>
          <p:spPr>
            <a:xfrm>
              <a:off x="3266840" y="4395221"/>
              <a:ext cx="12700" cy="1253602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06291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691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15967</TotalTime>
  <Words>702</Words>
  <Application>Microsoft Office PowerPoint</Application>
  <PresentationFormat>宽屏</PresentationFormat>
  <Paragraphs>278</Paragraphs>
  <Slides>16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3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76</cp:revision>
  <dcterms:created xsi:type="dcterms:W3CDTF">2022-10-09T13:04:10Z</dcterms:created>
  <dcterms:modified xsi:type="dcterms:W3CDTF">2023-12-08T14:54:47Z</dcterms:modified>
</cp:coreProperties>
</file>