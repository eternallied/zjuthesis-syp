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69" r:id="rId6"/>
    <p:sldId id="259" r:id="rId7"/>
    <p:sldId id="264" r:id="rId8"/>
    <p:sldId id="272" r:id="rId9"/>
    <p:sldId id="273" r:id="rId10"/>
    <p:sldId id="260" r:id="rId11"/>
    <p:sldId id="261" r:id="rId12"/>
    <p:sldId id="266" r:id="rId13"/>
    <p:sldId id="262" r:id="rId14"/>
    <p:sldId id="263" r:id="rId15"/>
    <p:sldId id="265" r:id="rId16"/>
    <p:sldId id="274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B179"/>
    <a:srgbClr val="C4D6A0"/>
    <a:srgbClr val="D9958F"/>
    <a:srgbClr val="FCB803"/>
    <a:srgbClr val="8CB3F2"/>
    <a:srgbClr val="FFFFFF"/>
    <a:srgbClr val="6DA6DA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20" autoAdjust="0"/>
  </p:normalViewPr>
  <p:slideViewPr>
    <p:cSldViewPr snapToGrid="0">
      <p:cViewPr varScale="1">
        <p:scale>
          <a:sx n="160" d="100"/>
          <a:sy n="160" d="100"/>
        </p:scale>
        <p:origin x="26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wmf"/><Relationship Id="rId1" Type="http://schemas.openxmlformats.org/officeDocument/2006/relationships/image" Target="../media/image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743333-EF98-4F3C-95C6-7F4B81769F11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34AC8-3000-446B-90ED-C4255BECB5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4798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764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643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062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208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4883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152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71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04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4484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42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75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415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4680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516F4-0452-4179-9B91-2B7430FA9247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309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2010057" y="640081"/>
            <a:ext cx="8579838" cy="49834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48916" y="5127537"/>
            <a:ext cx="1182289" cy="373879"/>
          </a:xfrm>
          <a:prstGeom prst="flowChartTerminator">
            <a:avLst/>
          </a:prstGeom>
          <a:solidFill>
            <a:srgbClr val="C4D6A0"/>
          </a:solidFill>
        </p:spPr>
        <p:txBody>
          <a:bodyPr wrap="square" rtlCol="0">
            <a:spAutoFit/>
          </a:bodyPr>
          <a:lstStyle/>
          <a:p>
            <a:endParaRPr lang="zh-CN" altLang="en-US" sz="1600" dirty="0"/>
          </a:p>
        </p:txBody>
      </p:sp>
      <p:sp>
        <p:nvSpPr>
          <p:cNvPr id="6" name="文本框 5"/>
          <p:cNvSpPr txBox="1"/>
          <p:nvPr/>
        </p:nvSpPr>
        <p:spPr>
          <a:xfrm>
            <a:off x="2763677" y="512552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666623" y="5162550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359160" y="5162550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8121285" y="5140910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243016" y="1952625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68885" y="1919287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4517147" y="1919286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2792814" y="1952625"/>
            <a:ext cx="1096002" cy="295275"/>
          </a:xfrm>
          <a:prstGeom prst="rect">
            <a:avLst/>
          </a:prstGeom>
          <a:solidFill>
            <a:srgbClr val="C4D6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4796666" y="801260"/>
            <a:ext cx="2308983" cy="341740"/>
          </a:xfrm>
          <a:prstGeom prst="rect">
            <a:avLst/>
          </a:prstGeom>
          <a:solidFill>
            <a:srgbClr val="F7B1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 smtClean="0">
                <a:solidFill>
                  <a:schemeClr val="tx1"/>
                </a:solidFill>
              </a:rPr>
              <a:t>数据平均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892060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4517147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6243016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7998540" y="26447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2028485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24607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2" name="文本框 21"/>
          <p:cNvSpPr txBox="1"/>
          <p:nvPr/>
        </p:nvSpPr>
        <p:spPr>
          <a:xfrm>
            <a:off x="4398940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3" name="文本框 22"/>
          <p:cNvSpPr txBox="1"/>
          <p:nvPr/>
        </p:nvSpPr>
        <p:spPr>
          <a:xfrm>
            <a:off x="6162001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4" name="文本框 23"/>
          <p:cNvSpPr txBox="1"/>
          <p:nvPr/>
        </p:nvSpPr>
        <p:spPr>
          <a:xfrm>
            <a:off x="7850678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5" name="文本框 24"/>
          <p:cNvSpPr txBox="1"/>
          <p:nvPr/>
        </p:nvSpPr>
        <p:spPr>
          <a:xfrm>
            <a:off x="3290435" y="1234106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通信</a:t>
            </a:r>
            <a:endParaRPr lang="zh-CN" altLang="en-US" sz="2000" dirty="0"/>
          </a:p>
        </p:txBody>
      </p:sp>
      <p:sp>
        <p:nvSpPr>
          <p:cNvPr id="27" name="文本框 26"/>
          <p:cNvSpPr txBox="1"/>
          <p:nvPr/>
        </p:nvSpPr>
        <p:spPr>
          <a:xfrm>
            <a:off x="4531714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6246828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9" name="文本框 28"/>
          <p:cNvSpPr txBox="1"/>
          <p:nvPr/>
        </p:nvSpPr>
        <p:spPr>
          <a:xfrm>
            <a:off x="7983377" y="510388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295344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1</a:t>
            </a:r>
            <a:endParaRPr lang="zh-CN" altLang="en-US" sz="1600" dirty="0"/>
          </a:p>
        </p:txBody>
      </p:sp>
      <p:sp>
        <p:nvSpPr>
          <p:cNvPr id="31" name="文本框 30"/>
          <p:cNvSpPr txBox="1"/>
          <p:nvPr/>
        </p:nvSpPr>
        <p:spPr>
          <a:xfrm>
            <a:off x="4728677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2</a:t>
            </a:r>
            <a:endParaRPr lang="zh-CN" altLang="en-US" sz="16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472070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/>
              <a:t>3</a:t>
            </a:r>
            <a:endParaRPr lang="zh-CN" altLang="en-US" sz="1600" dirty="0"/>
          </a:p>
        </p:txBody>
      </p:sp>
      <p:sp>
        <p:nvSpPr>
          <p:cNvPr id="33" name="文本框 32"/>
          <p:cNvSpPr txBox="1"/>
          <p:nvPr/>
        </p:nvSpPr>
        <p:spPr>
          <a:xfrm>
            <a:off x="818688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4</a:t>
            </a:r>
            <a:endParaRPr lang="zh-CN" altLang="en-US" sz="1600" dirty="0"/>
          </a:p>
        </p:txBody>
      </p:sp>
      <p:sp>
        <p:nvSpPr>
          <p:cNvPr id="36" name="矩形 35"/>
          <p:cNvSpPr/>
          <p:nvPr/>
        </p:nvSpPr>
        <p:spPr>
          <a:xfrm>
            <a:off x="9629775" y="43338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8858250" y="46767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9163050" y="469582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9311409" y="43258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参数更新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5427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51" y="375397"/>
            <a:ext cx="7486650" cy="594528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2619374" y="466725"/>
            <a:ext cx="1114426" cy="5991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流程图: 终止 39"/>
          <p:cNvSpPr/>
          <p:nvPr/>
        </p:nvSpPr>
        <p:spPr>
          <a:xfrm>
            <a:off x="410527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流程图: 终止 40"/>
          <p:cNvSpPr/>
          <p:nvPr/>
        </p:nvSpPr>
        <p:spPr>
          <a:xfrm>
            <a:off x="539115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流程图: 终止 41"/>
          <p:cNvSpPr/>
          <p:nvPr/>
        </p:nvSpPr>
        <p:spPr>
          <a:xfrm>
            <a:off x="667702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流程图: 终止 42"/>
          <p:cNvSpPr/>
          <p:nvPr/>
        </p:nvSpPr>
        <p:spPr>
          <a:xfrm>
            <a:off x="796290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4011775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4" name="文本框 43"/>
          <p:cNvSpPr txBox="1"/>
          <p:nvPr/>
        </p:nvSpPr>
        <p:spPr>
          <a:xfrm>
            <a:off x="5344400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5" name="文本框 44"/>
          <p:cNvSpPr txBox="1"/>
          <p:nvPr/>
        </p:nvSpPr>
        <p:spPr>
          <a:xfrm>
            <a:off x="6593051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6" name="文本框 45"/>
          <p:cNvSpPr txBox="1"/>
          <p:nvPr/>
        </p:nvSpPr>
        <p:spPr>
          <a:xfrm>
            <a:off x="7878926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7" name="文本框 46"/>
          <p:cNvSpPr txBox="1"/>
          <p:nvPr/>
        </p:nvSpPr>
        <p:spPr>
          <a:xfrm>
            <a:off x="3159996" y="327660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模型</a:t>
            </a:r>
            <a:endParaRPr lang="en-US" altLang="zh-CN" sz="2000" dirty="0" smtClean="0"/>
          </a:p>
          <a:p>
            <a:r>
              <a:rPr lang="zh-CN" altLang="en-US" sz="2000" dirty="0" smtClean="0"/>
              <a:t>划分</a:t>
            </a:r>
            <a:endParaRPr lang="zh-CN" altLang="en-US" sz="2000" dirty="0"/>
          </a:p>
        </p:txBody>
      </p:sp>
      <p:sp>
        <p:nvSpPr>
          <p:cNvPr id="48" name="文本框 47"/>
          <p:cNvSpPr txBox="1"/>
          <p:nvPr/>
        </p:nvSpPr>
        <p:spPr>
          <a:xfrm>
            <a:off x="8874205" y="4344887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参数更新</a:t>
            </a:r>
            <a:endParaRPr lang="zh-CN" altLang="en-US" dirty="0"/>
          </a:p>
        </p:txBody>
      </p:sp>
      <p:sp>
        <p:nvSpPr>
          <p:cNvPr id="49" name="矩形 48"/>
          <p:cNvSpPr/>
          <p:nvPr/>
        </p:nvSpPr>
        <p:spPr>
          <a:xfrm>
            <a:off x="7029450" y="10382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3733800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/>
          <p:cNvSpPr/>
          <p:nvPr/>
        </p:nvSpPr>
        <p:spPr>
          <a:xfrm>
            <a:off x="4522624" y="1684437"/>
            <a:ext cx="1143000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6829425" y="1654374"/>
            <a:ext cx="1143000" cy="314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7818274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6940630" y="1062453"/>
            <a:ext cx="180049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前向和反向传播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4105275" y="2238375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57" name="文本框 56"/>
          <p:cNvSpPr txBox="1"/>
          <p:nvPr/>
        </p:nvSpPr>
        <p:spPr>
          <a:xfrm>
            <a:off x="5040339" y="1569333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58" name="文本框 57"/>
          <p:cNvSpPr txBox="1"/>
          <p:nvPr/>
        </p:nvSpPr>
        <p:spPr>
          <a:xfrm>
            <a:off x="6797347" y="1572457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59" name="文本框 58"/>
          <p:cNvSpPr txBox="1"/>
          <p:nvPr/>
        </p:nvSpPr>
        <p:spPr>
          <a:xfrm>
            <a:off x="7962900" y="2208312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4</a:t>
            </a:r>
            <a:endParaRPr lang="zh-CN" altLang="en-US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484" y="5379392"/>
            <a:ext cx="1257300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0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0" y="640081"/>
            <a:ext cx="8579838" cy="498348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18428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714550" y="801260"/>
            <a:ext cx="7865288" cy="5325614"/>
            <a:chOff x="714550" y="801260"/>
            <a:chExt cx="7865288" cy="5325614"/>
          </a:xfrm>
        </p:grpSpPr>
        <p:sp>
          <p:nvSpPr>
            <p:cNvPr id="6" name="文本框 5"/>
            <p:cNvSpPr txBox="1"/>
            <p:nvPr/>
          </p:nvSpPr>
          <p:spPr>
            <a:xfrm>
              <a:off x="838859" y="5127537"/>
              <a:ext cx="1182289" cy="373879"/>
            </a:xfrm>
            <a:prstGeom prst="flowChartTerminator">
              <a:avLst/>
            </a:prstGeom>
            <a:solidFill>
              <a:srgbClr val="C4D6A0"/>
            </a:solidFill>
          </p:spPr>
          <p:txBody>
            <a:bodyPr wrap="square" rtlCol="0">
              <a:spAutoFit/>
            </a:bodyPr>
            <a:lstStyle/>
            <a:p>
              <a:endParaRPr lang="zh-CN" altLang="en-US" sz="1600" dirty="0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753620" y="512552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656566" y="5162550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349103" y="5162550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111228" y="5140910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32959" y="1952625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5958828" y="1919287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07090" y="1919286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/>
            <p:cNvSpPr/>
            <p:nvPr/>
          </p:nvSpPr>
          <p:spPr>
            <a:xfrm>
              <a:off x="782757" y="1952625"/>
              <a:ext cx="1096002" cy="295275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/>
            <p:cNvSpPr/>
            <p:nvPr/>
          </p:nvSpPr>
          <p:spPr>
            <a:xfrm>
              <a:off x="2786609" y="801260"/>
              <a:ext cx="2308983" cy="341740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 smtClean="0">
                  <a:solidFill>
                    <a:schemeClr val="tx1"/>
                  </a:solidFill>
                </a:rPr>
                <a:t>数据平均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882003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矩形 16"/>
            <p:cNvSpPr/>
            <p:nvPr/>
          </p:nvSpPr>
          <p:spPr>
            <a:xfrm>
              <a:off x="2507090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/>
            <p:cNvSpPr/>
            <p:nvPr/>
          </p:nvSpPr>
          <p:spPr>
            <a:xfrm>
              <a:off x="4232959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5988483" y="26447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550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2388883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4151944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5840621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280378" y="1234106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通信</a:t>
              </a:r>
              <a:endParaRPr lang="zh-CN" altLang="en-US" sz="2000" dirty="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2521657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236771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73320" y="510388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94339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1</a:t>
              </a:r>
              <a:endParaRPr lang="zh-CN" altLang="en-US" sz="1600" dirty="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2718620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2</a:t>
              </a:r>
              <a:endParaRPr lang="zh-CN" altLang="en-US" sz="1600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4462013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/>
                <a:t>3</a:t>
              </a:r>
              <a:endParaRPr lang="zh-CN" altLang="en-US" sz="1600" dirty="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617683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4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7619718" y="43338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6848193" y="46767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7152993" y="469582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301352" y="432583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参数更新</a:t>
              </a:r>
              <a:endParaRPr lang="zh-CN" altLang="en-US" sz="2000" dirty="0"/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2715313" y="5665209"/>
              <a:ext cx="26468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/>
                <a:t>数据并行训练方式</a:t>
              </a:r>
              <a:endParaRPr lang="zh-CN" altLang="en-US" sz="2400" b="1" dirty="0"/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9725888" y="0"/>
            <a:ext cx="7486650" cy="6416434"/>
            <a:chOff x="8548406" y="-289560"/>
            <a:chExt cx="7486650" cy="6416434"/>
          </a:xfrm>
        </p:grpSpPr>
        <p:grpSp>
          <p:nvGrpSpPr>
            <p:cNvPr id="4" name="组合 3"/>
            <p:cNvGrpSpPr/>
            <p:nvPr/>
          </p:nvGrpSpPr>
          <p:grpSpPr>
            <a:xfrm>
              <a:off x="8548406" y="-289560"/>
              <a:ext cx="7486650" cy="6416434"/>
              <a:chOff x="8548406" y="-289560"/>
              <a:chExt cx="7486650" cy="6416434"/>
            </a:xfrm>
          </p:grpSpPr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38" name="矩形 37"/>
              <p:cNvSpPr/>
              <p:nvPr/>
            </p:nvSpPr>
            <p:spPr>
              <a:xfrm>
                <a:off x="8672229" y="-198232"/>
                <a:ext cx="1114426" cy="59912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流程图: 终止 38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流程图: 终止 39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流程图: 终止 40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流程图: 终止 41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10064630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1397255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2645906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3931781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9212851" y="2611643"/>
                <a:ext cx="69762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dirty="0" smtClean="0"/>
                  <a:t>模型</a:t>
                </a:r>
                <a:endParaRPr lang="en-US" altLang="zh-CN" sz="2000" dirty="0" smtClean="0"/>
              </a:p>
              <a:p>
                <a:r>
                  <a:rPr lang="zh-CN" altLang="en-US" sz="2000" dirty="0" smtClean="0"/>
                  <a:t>划分</a:t>
                </a:r>
                <a:endParaRPr lang="zh-CN" altLang="en-US" sz="2000" dirty="0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4927060" y="3679930"/>
                <a:ext cx="110799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参数更新</a:t>
                </a:r>
                <a:endParaRPr lang="zh-CN" altLang="en-US" dirty="0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2993485" y="397496"/>
                <a:ext cx="180049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前向和反向传播</a:t>
                </a:r>
                <a:endParaRPr lang="zh-CN" altLang="en-US" dirty="0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10158130" y="1573418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1</a:t>
                </a:r>
                <a:endParaRPr lang="zh-CN" altLang="en-US" dirty="0"/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11093194" y="904376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2</a:t>
                </a:r>
                <a:endParaRPr lang="zh-CN" altLang="en-US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2850202" y="907500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3</a:t>
                </a:r>
                <a:endParaRPr lang="zh-CN" altLang="en-US" dirty="0"/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4015755" y="1543355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4</a:t>
                </a:r>
                <a:endParaRPr lang="zh-CN" altLang="en-US" dirty="0"/>
              </a:p>
            </p:txBody>
          </p:sp>
          <p:pic>
            <p:nvPicPr>
              <p:cNvPr id="59" name="图片 58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  <p:sp>
            <p:nvSpPr>
              <p:cNvPr id="61" name="文本框 60"/>
              <p:cNvSpPr txBox="1"/>
              <p:nvPr/>
            </p:nvSpPr>
            <p:spPr>
              <a:xfrm>
                <a:off x="11284903" y="5665209"/>
                <a:ext cx="272222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 smtClean="0"/>
                  <a:t>模型并行训练方式</a:t>
                </a:r>
                <a:endParaRPr lang="zh-CN" altLang="en-US" sz="2400" b="1" dirty="0"/>
              </a:p>
            </p:txBody>
          </p:sp>
        </p:grpSp>
        <p:sp>
          <p:nvSpPr>
            <p:cNvPr id="62" name="文本框 61"/>
            <p:cNvSpPr txBox="1"/>
            <p:nvPr/>
          </p:nvSpPr>
          <p:spPr>
            <a:xfrm>
              <a:off x="9895544" y="-124658"/>
              <a:ext cx="1088760" cy="400110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1</a:t>
              </a:r>
              <a:endParaRPr lang="zh-CN" altLang="en-US" sz="2000" dirty="0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182237" y="-129862"/>
              <a:ext cx="1088760" cy="400110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2</a:t>
              </a:r>
              <a:endParaRPr lang="zh-CN" altLang="en-US" sz="2000" dirty="0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466351" y="-129346"/>
              <a:ext cx="1088760" cy="400110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3</a:t>
              </a:r>
              <a:endParaRPr lang="zh-CN" altLang="en-US" sz="2000" dirty="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728254" y="-122420"/>
              <a:ext cx="1088760" cy="400110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4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015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0221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47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/>
          <p:cNvGrpSpPr/>
          <p:nvPr/>
        </p:nvGrpSpPr>
        <p:grpSpPr>
          <a:xfrm>
            <a:off x="493776" y="1115568"/>
            <a:ext cx="11091672" cy="3355848"/>
            <a:chOff x="493776" y="1115568"/>
            <a:chExt cx="11091672" cy="3355848"/>
          </a:xfrm>
        </p:grpSpPr>
        <p:sp>
          <p:nvSpPr>
            <p:cNvPr id="2" name="圆角矩形 1"/>
            <p:cNvSpPr/>
            <p:nvPr/>
          </p:nvSpPr>
          <p:spPr>
            <a:xfrm>
              <a:off x="493776" y="1115568"/>
              <a:ext cx="11091672" cy="3355848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3177298" y="1263543"/>
              <a:ext cx="5724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基于性能预测的分布式深度学习架构优化</a:t>
              </a:r>
              <a:endParaRPr lang="zh-CN" altLang="en-US" sz="2400" b="1" dirty="0"/>
            </a:p>
          </p:txBody>
        </p:sp>
        <p:sp>
          <p:nvSpPr>
            <p:cNvPr id="4" name="矩形 3"/>
            <p:cNvSpPr/>
            <p:nvPr/>
          </p:nvSpPr>
          <p:spPr>
            <a:xfrm>
              <a:off x="937983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553121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研究内容一</a:t>
              </a:r>
              <a:endParaRPr lang="zh-CN" altLang="en-US" sz="2000" b="1" dirty="0"/>
            </a:p>
          </p:txBody>
        </p:sp>
        <p:sp>
          <p:nvSpPr>
            <p:cNvPr id="63" name="矩形 62"/>
            <p:cNvSpPr/>
            <p:nvPr/>
          </p:nvSpPr>
          <p:spPr>
            <a:xfrm>
              <a:off x="976041" y="2441334"/>
              <a:ext cx="249299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/>
                <a:t>分布式训练性能预测</a:t>
              </a:r>
            </a:p>
          </p:txBody>
        </p:sp>
        <p:sp>
          <p:nvSpPr>
            <p:cNvPr id="64" name="矩形 63"/>
            <p:cNvSpPr/>
            <p:nvPr/>
          </p:nvSpPr>
          <p:spPr>
            <a:xfrm>
              <a:off x="1093654" y="2839766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计算时间预测模型</a:t>
              </a:r>
              <a:endParaRPr lang="zh-CN" altLang="en-US" sz="2000" dirty="0"/>
            </a:p>
          </p:txBody>
        </p:sp>
        <p:sp>
          <p:nvSpPr>
            <p:cNvPr id="65" name="矩形 64"/>
            <p:cNvSpPr/>
            <p:nvPr/>
          </p:nvSpPr>
          <p:spPr>
            <a:xfrm>
              <a:off x="1104282" y="3529702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/>
                <a:t>通信</a:t>
              </a:r>
              <a:r>
                <a:rPr lang="zh-CN" altLang="en-US" sz="2000" dirty="0" smtClean="0"/>
                <a:t>时间预测模型</a:t>
              </a:r>
              <a:endParaRPr lang="zh-CN" altLang="en-US" sz="2000" dirty="0"/>
            </a:p>
          </p:txBody>
        </p:sp>
        <p:sp>
          <p:nvSpPr>
            <p:cNvPr id="66" name="加号 65"/>
            <p:cNvSpPr/>
            <p:nvPr/>
          </p:nvSpPr>
          <p:spPr>
            <a:xfrm>
              <a:off x="2073946" y="3231302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14906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330044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研究内容二</a:t>
              </a:r>
              <a:endParaRPr lang="zh-CN" altLang="en-US" sz="2000" b="1" dirty="0"/>
            </a:p>
          </p:txBody>
        </p:sp>
        <p:sp>
          <p:nvSpPr>
            <p:cNvPr id="69" name="矩形 68"/>
            <p:cNvSpPr/>
            <p:nvPr/>
          </p:nvSpPr>
          <p:spPr>
            <a:xfrm>
              <a:off x="4881208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神经网络结构优化</a:t>
              </a:r>
              <a:endParaRPr lang="zh-CN" altLang="en-US" sz="2000" b="1" dirty="0"/>
            </a:p>
          </p:txBody>
        </p:sp>
        <p:sp>
          <p:nvSpPr>
            <p:cNvPr id="70" name="矩形 69"/>
            <p:cNvSpPr/>
            <p:nvPr/>
          </p:nvSpPr>
          <p:spPr>
            <a:xfrm>
              <a:off x="5122665" y="2838997"/>
              <a:ext cx="172355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结构搜索空间</a:t>
              </a:r>
              <a:endParaRPr lang="zh-CN" altLang="en-US" sz="2000" dirty="0"/>
            </a:p>
          </p:txBody>
        </p:sp>
        <p:sp>
          <p:nvSpPr>
            <p:cNvPr id="71" name="矩形 70"/>
            <p:cNvSpPr/>
            <p:nvPr/>
          </p:nvSpPr>
          <p:spPr>
            <a:xfrm>
              <a:off x="5394163" y="3529702"/>
              <a:ext cx="121058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优化策略</a:t>
              </a:r>
              <a:endParaRPr lang="zh-CN" altLang="en-US" sz="2000" dirty="0"/>
            </a:p>
          </p:txBody>
        </p:sp>
        <p:sp>
          <p:nvSpPr>
            <p:cNvPr id="72" name="加号 71"/>
            <p:cNvSpPr/>
            <p:nvPr/>
          </p:nvSpPr>
          <p:spPr>
            <a:xfrm>
              <a:off x="5850867" y="3239876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491829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9106967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研究内容三</a:t>
              </a:r>
              <a:endParaRPr lang="zh-CN" altLang="en-US" sz="2000" b="1" dirty="0"/>
            </a:p>
          </p:txBody>
        </p:sp>
        <p:sp>
          <p:nvSpPr>
            <p:cNvPr id="75" name="矩形 74"/>
            <p:cNvSpPr/>
            <p:nvPr/>
          </p:nvSpPr>
          <p:spPr>
            <a:xfrm>
              <a:off x="8658130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通信拓扑结构优化</a:t>
              </a:r>
              <a:endParaRPr lang="zh-CN" altLang="en-US" sz="2000" b="1" dirty="0"/>
            </a:p>
          </p:txBody>
        </p:sp>
        <p:sp>
          <p:nvSpPr>
            <p:cNvPr id="76" name="矩形 75"/>
            <p:cNvSpPr/>
            <p:nvPr/>
          </p:nvSpPr>
          <p:spPr>
            <a:xfrm>
              <a:off x="8816823" y="2838997"/>
              <a:ext cx="19191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 smtClean="0"/>
                <a:t>All-Reduce</a:t>
              </a:r>
              <a:r>
                <a:rPr lang="zh-CN" altLang="en-US" sz="2000" dirty="0" smtClean="0"/>
                <a:t>架构</a:t>
              </a:r>
              <a:endParaRPr lang="zh-CN" altLang="en-US" sz="2000" dirty="0"/>
            </a:p>
          </p:txBody>
        </p:sp>
        <p:sp>
          <p:nvSpPr>
            <p:cNvPr id="77" name="矩形 76"/>
            <p:cNvSpPr/>
            <p:nvPr/>
          </p:nvSpPr>
          <p:spPr>
            <a:xfrm>
              <a:off x="8786366" y="3529702"/>
              <a:ext cx="198003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稀疏连通拓扑图</a:t>
              </a:r>
              <a:endParaRPr lang="zh-CN" altLang="en-US" sz="2000" dirty="0"/>
            </a:p>
          </p:txBody>
        </p:sp>
        <p:sp>
          <p:nvSpPr>
            <p:cNvPr id="78" name="加号 77"/>
            <p:cNvSpPr/>
            <p:nvPr/>
          </p:nvSpPr>
          <p:spPr>
            <a:xfrm>
              <a:off x="9627791" y="3239875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2" name="右箭头 81"/>
            <p:cNvSpPr/>
            <p:nvPr/>
          </p:nvSpPr>
          <p:spPr>
            <a:xfrm>
              <a:off x="3875491" y="298608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3" name="右箭头 82"/>
            <p:cNvSpPr/>
            <p:nvPr/>
          </p:nvSpPr>
          <p:spPr>
            <a:xfrm>
              <a:off x="7641132" y="298051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905719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/>
          <p:cNvSpPr/>
          <p:nvPr/>
        </p:nvSpPr>
        <p:spPr>
          <a:xfrm>
            <a:off x="792480" y="159401"/>
            <a:ext cx="10607040" cy="548836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379113" y="314693"/>
            <a:ext cx="93701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面向分布式深度学习的</a:t>
            </a:r>
            <a:r>
              <a:rPr lang="zh-CN" altLang="en-US" sz="2400" b="1" dirty="0" smtClean="0"/>
              <a:t>训练时间</a:t>
            </a:r>
            <a:r>
              <a:rPr lang="zh-CN" altLang="en-US" sz="2400" b="1" dirty="0"/>
              <a:t>预测与优化</a:t>
            </a:r>
          </a:p>
        </p:txBody>
      </p:sp>
      <p:sp>
        <p:nvSpPr>
          <p:cNvPr id="4" name="矩形 3"/>
          <p:cNvSpPr/>
          <p:nvPr/>
        </p:nvSpPr>
        <p:spPr>
          <a:xfrm>
            <a:off x="3411816" y="1290144"/>
            <a:ext cx="5395634" cy="130040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363478" y="80080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研究内容一</a:t>
            </a:r>
            <a:endParaRPr lang="zh-CN" altLang="en-US" sz="2000" b="1" dirty="0"/>
          </a:p>
        </p:txBody>
      </p:sp>
      <p:sp>
        <p:nvSpPr>
          <p:cNvPr id="63" name="矩形 62"/>
          <p:cNvSpPr/>
          <p:nvPr/>
        </p:nvSpPr>
        <p:spPr>
          <a:xfrm>
            <a:off x="4292467" y="1419274"/>
            <a:ext cx="36070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 smtClean="0"/>
              <a:t>面向一般拓扑的训练时间预测</a:t>
            </a:r>
            <a:endParaRPr lang="zh-CN" altLang="en-US" sz="2000" b="1" dirty="0"/>
          </a:p>
        </p:txBody>
      </p:sp>
      <p:sp>
        <p:nvSpPr>
          <p:cNvPr id="64" name="矩形 63"/>
          <p:cNvSpPr/>
          <p:nvPr/>
        </p:nvSpPr>
        <p:spPr>
          <a:xfrm>
            <a:off x="3619046" y="1926191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计算时间预测模型</a:t>
            </a:r>
            <a:endParaRPr lang="zh-CN" altLang="en-US" sz="2000" dirty="0"/>
          </a:p>
        </p:txBody>
      </p:sp>
      <p:sp>
        <p:nvSpPr>
          <p:cNvPr id="65" name="矩形 64"/>
          <p:cNvSpPr/>
          <p:nvPr/>
        </p:nvSpPr>
        <p:spPr>
          <a:xfrm>
            <a:off x="6338470" y="1918715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/>
              <a:t>通信</a:t>
            </a:r>
            <a:r>
              <a:rPr lang="zh-CN" altLang="en-US" sz="2000" dirty="0" smtClean="0"/>
              <a:t>时间预测模型</a:t>
            </a:r>
            <a:endParaRPr lang="zh-CN" altLang="en-US" sz="2000" dirty="0"/>
          </a:p>
        </p:txBody>
      </p:sp>
      <p:sp>
        <p:nvSpPr>
          <p:cNvPr id="66" name="加号 65"/>
          <p:cNvSpPr/>
          <p:nvPr/>
        </p:nvSpPr>
        <p:spPr>
          <a:xfrm>
            <a:off x="5948423" y="197141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68" name="文本框 67"/>
          <p:cNvSpPr txBox="1"/>
          <p:nvPr/>
        </p:nvSpPr>
        <p:spPr>
          <a:xfrm>
            <a:off x="2671933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研究内容二</a:t>
            </a:r>
            <a:endParaRPr lang="zh-CN" altLang="en-US" sz="2000" b="1" dirty="0"/>
          </a:p>
        </p:txBody>
      </p:sp>
      <p:sp>
        <p:nvSpPr>
          <p:cNvPr id="69" name="矩形 68"/>
          <p:cNvSpPr/>
          <p:nvPr/>
        </p:nvSpPr>
        <p:spPr>
          <a:xfrm>
            <a:off x="1389530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计及训练时间的神经网络结构优化</a:t>
            </a:r>
          </a:p>
        </p:txBody>
      </p:sp>
      <p:sp>
        <p:nvSpPr>
          <p:cNvPr id="70" name="矩形 69"/>
          <p:cNvSpPr/>
          <p:nvPr/>
        </p:nvSpPr>
        <p:spPr>
          <a:xfrm>
            <a:off x="1535218" y="4612784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结构搜索空间</a:t>
            </a:r>
            <a:endParaRPr lang="zh-CN" altLang="en-US" sz="2000" dirty="0"/>
          </a:p>
        </p:txBody>
      </p:sp>
      <p:sp>
        <p:nvSpPr>
          <p:cNvPr id="71" name="矩形 70"/>
          <p:cNvSpPr/>
          <p:nvPr/>
        </p:nvSpPr>
        <p:spPr>
          <a:xfrm>
            <a:off x="3554057" y="4611305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优化策略</a:t>
            </a:r>
            <a:endParaRPr lang="zh-CN" altLang="en-US" sz="2000" dirty="0"/>
          </a:p>
        </p:txBody>
      </p:sp>
      <p:sp>
        <p:nvSpPr>
          <p:cNvPr id="72" name="加号 71"/>
          <p:cNvSpPr/>
          <p:nvPr/>
        </p:nvSpPr>
        <p:spPr>
          <a:xfrm>
            <a:off x="325687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73" name="矩形 72"/>
          <p:cNvSpPr/>
          <p:nvPr/>
        </p:nvSpPr>
        <p:spPr>
          <a:xfrm>
            <a:off x="6562165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8067566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研究内容三</a:t>
            </a:r>
            <a:endParaRPr lang="zh-CN" altLang="en-US" sz="2000" b="1" dirty="0"/>
          </a:p>
        </p:txBody>
      </p:sp>
      <p:sp>
        <p:nvSpPr>
          <p:cNvPr id="75" name="矩形 74"/>
          <p:cNvSpPr/>
          <p:nvPr/>
        </p:nvSpPr>
        <p:spPr>
          <a:xfrm>
            <a:off x="6785163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面向高效通信的参数同步拓扑优化</a:t>
            </a:r>
          </a:p>
        </p:txBody>
      </p:sp>
      <p:sp>
        <p:nvSpPr>
          <p:cNvPr id="76" name="矩形 75"/>
          <p:cNvSpPr/>
          <p:nvPr/>
        </p:nvSpPr>
        <p:spPr>
          <a:xfrm>
            <a:off x="6599471" y="4612784"/>
            <a:ext cx="1919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dirty="0" smtClean="0"/>
              <a:t>All-Reduce</a:t>
            </a:r>
            <a:r>
              <a:rPr lang="zh-CN" altLang="en-US" sz="2000" dirty="0" smtClean="0"/>
              <a:t>架构</a:t>
            </a:r>
            <a:endParaRPr lang="zh-CN" altLang="en-US" sz="2000" dirty="0"/>
          </a:p>
        </p:txBody>
      </p:sp>
      <p:sp>
        <p:nvSpPr>
          <p:cNvPr id="77" name="矩形 76"/>
          <p:cNvSpPr/>
          <p:nvPr/>
        </p:nvSpPr>
        <p:spPr>
          <a:xfrm>
            <a:off x="8961907" y="4607495"/>
            <a:ext cx="1980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稀疏连通拓扑图</a:t>
            </a:r>
            <a:endParaRPr lang="zh-CN" altLang="en-US" sz="2000" dirty="0"/>
          </a:p>
        </p:txBody>
      </p:sp>
      <p:sp>
        <p:nvSpPr>
          <p:cNvPr id="78" name="加号 77"/>
          <p:cNvSpPr/>
          <p:nvPr/>
        </p:nvSpPr>
        <p:spPr>
          <a:xfrm>
            <a:off x="859165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cxnSp>
        <p:nvCxnSpPr>
          <p:cNvPr id="6" name="肘形连接符 5"/>
          <p:cNvCxnSpPr>
            <a:stCxn id="68" idx="0"/>
            <a:endCxn id="74" idx="0"/>
          </p:cNvCxnSpPr>
          <p:nvPr/>
        </p:nvCxnSpPr>
        <p:spPr>
          <a:xfrm rot="5400000" flipH="1" flipV="1">
            <a:off x="6103283" y="892179"/>
            <a:ext cx="12700" cy="5395633"/>
          </a:xfrm>
          <a:prstGeom prst="bentConnector3">
            <a:avLst>
              <a:gd name="adj1" fmla="val 3282354"/>
            </a:avLst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>
            <a:stCxn id="4" idx="2"/>
          </p:cNvCxnSpPr>
          <p:nvPr/>
        </p:nvCxnSpPr>
        <p:spPr>
          <a:xfrm>
            <a:off x="6109633" y="2590545"/>
            <a:ext cx="0" cy="58294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891444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计算时间优化</a:t>
            </a:r>
            <a:endParaRPr lang="zh-CN" altLang="en-US" b="1" dirty="0"/>
          </a:p>
        </p:txBody>
      </p:sp>
      <p:sp>
        <p:nvSpPr>
          <p:cNvPr id="32" name="文本框 31"/>
          <p:cNvSpPr txBox="1"/>
          <p:nvPr/>
        </p:nvSpPr>
        <p:spPr>
          <a:xfrm>
            <a:off x="6825570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通信时间优化</a:t>
            </a:r>
            <a:endParaRPr lang="zh-CN" altLang="en-US" b="1" dirty="0"/>
          </a:p>
        </p:txBody>
      </p:sp>
      <p:sp>
        <p:nvSpPr>
          <p:cNvPr id="30" name="矩形 29"/>
          <p:cNvSpPr/>
          <p:nvPr/>
        </p:nvSpPr>
        <p:spPr>
          <a:xfrm>
            <a:off x="1166531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402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48653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729882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4268523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1936131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046946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64696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154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933061" y="2412766"/>
            <a:ext cx="7487370" cy="3739211"/>
            <a:chOff x="933061" y="2412766"/>
            <a:chExt cx="7487370" cy="3739211"/>
          </a:xfrm>
        </p:grpSpPr>
        <p:sp>
          <p:nvSpPr>
            <p:cNvPr id="27" name="矩形 26"/>
            <p:cNvSpPr/>
            <p:nvPr/>
          </p:nvSpPr>
          <p:spPr>
            <a:xfrm>
              <a:off x="1876565" y="3175582"/>
              <a:ext cx="1107054" cy="41185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网络种群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1893178" y="397575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466197" y="3619224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1893177" y="4749257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种群分布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接箭头连接符 33"/>
            <p:cNvCxnSpPr>
              <a:stCxn id="27" idx="2"/>
              <a:endCxn id="28" idx="0"/>
            </p:cNvCxnSpPr>
            <p:nvPr/>
          </p:nvCxnSpPr>
          <p:spPr>
            <a:xfrm>
              <a:off x="2430092" y="3587438"/>
              <a:ext cx="8307" cy="3883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/>
            <p:cNvSpPr txBox="1"/>
            <p:nvPr/>
          </p:nvSpPr>
          <p:spPr>
            <a:xfrm>
              <a:off x="1269027" y="4387608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sp>
          <p:nvSpPr>
            <p:cNvPr id="15" name="矩形 14"/>
            <p:cNvSpPr/>
            <p:nvPr/>
          </p:nvSpPr>
          <p:spPr>
            <a:xfrm>
              <a:off x="933061" y="2680988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30514" y="275900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亲本网络采样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8" name="直接箭头连接符 47"/>
            <p:cNvCxnSpPr>
              <a:stCxn id="28" idx="2"/>
              <a:endCxn id="33" idx="0"/>
            </p:cNvCxnSpPr>
            <p:nvPr/>
          </p:nvCxnSpPr>
          <p:spPr>
            <a:xfrm flipH="1">
              <a:off x="2438398" y="4364513"/>
              <a:ext cx="1" cy="38474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矩形 52"/>
            <p:cNvSpPr/>
            <p:nvPr/>
          </p:nvSpPr>
          <p:spPr>
            <a:xfrm>
              <a:off x="1483564" y="5509366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低密度区域的亲本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4" name="直接箭头连接符 53"/>
            <p:cNvCxnSpPr>
              <a:stCxn id="33" idx="2"/>
              <a:endCxn id="53" idx="0"/>
            </p:cNvCxnSpPr>
            <p:nvPr/>
          </p:nvCxnSpPr>
          <p:spPr>
            <a:xfrm flipH="1">
              <a:off x="2438397" y="5138018"/>
              <a:ext cx="1" cy="3713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/>
            <p:cNvSpPr txBox="1"/>
            <p:nvPr/>
          </p:nvSpPr>
          <p:spPr>
            <a:xfrm>
              <a:off x="1876564" y="5173967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8" name="矩形 57"/>
            <p:cNvSpPr/>
            <p:nvPr/>
          </p:nvSpPr>
          <p:spPr>
            <a:xfrm>
              <a:off x="5503059" y="2680987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6253863" y="2759008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子代网络生成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6099220" y="5509365"/>
              <a:ext cx="1725050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拟生成的子代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直接箭头连接符 30"/>
            <p:cNvCxnSpPr>
              <a:stCxn id="53" idx="3"/>
              <a:endCxn id="60" idx="1"/>
            </p:cNvCxnSpPr>
            <p:nvPr/>
          </p:nvCxnSpPr>
          <p:spPr>
            <a:xfrm flipV="1">
              <a:off x="3393230" y="5743546"/>
              <a:ext cx="2705990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/>
          </p:nvSpPr>
          <p:spPr>
            <a:xfrm>
              <a:off x="3931774" y="5323692"/>
              <a:ext cx="1415772" cy="7934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网络态射</a:t>
              </a:r>
              <a:endParaRPr lang="en-US" altLang="zh-CN" sz="1600" dirty="0" smtClean="0"/>
            </a:p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近似网络态射</a:t>
              </a:r>
              <a:endParaRPr lang="zh-CN" altLang="en-US" sz="1600" dirty="0"/>
            </a:p>
          </p:txBody>
        </p:sp>
        <p:sp>
          <p:nvSpPr>
            <p:cNvPr id="79" name="矩形 78"/>
            <p:cNvSpPr/>
            <p:nvPr/>
          </p:nvSpPr>
          <p:spPr>
            <a:xfrm>
              <a:off x="6416524" y="472616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直接箭头连接符 79"/>
            <p:cNvCxnSpPr>
              <a:stCxn id="60" idx="0"/>
              <a:endCxn id="79" idx="2"/>
            </p:cNvCxnSpPr>
            <p:nvPr/>
          </p:nvCxnSpPr>
          <p:spPr>
            <a:xfrm flipV="1">
              <a:off x="6961745" y="5114923"/>
              <a:ext cx="0" cy="3944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/>
            <p:cNvSpPr txBox="1"/>
            <p:nvPr/>
          </p:nvSpPr>
          <p:spPr>
            <a:xfrm>
              <a:off x="6961744" y="5145708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85" name="矩形 84"/>
            <p:cNvSpPr/>
            <p:nvPr/>
          </p:nvSpPr>
          <p:spPr>
            <a:xfrm>
              <a:off x="6416524" y="3976311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子代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6963396" y="4372216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cxnSp>
          <p:nvCxnSpPr>
            <p:cNvPr id="87" name="直接箭头连接符 86"/>
            <p:cNvCxnSpPr>
              <a:stCxn id="79" idx="0"/>
              <a:endCxn id="85" idx="2"/>
            </p:cNvCxnSpPr>
            <p:nvPr/>
          </p:nvCxnSpPr>
          <p:spPr>
            <a:xfrm flipV="1">
              <a:off x="6961745" y="4365072"/>
              <a:ext cx="0" cy="361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/>
            <p:cNvSpPr/>
            <p:nvPr/>
          </p:nvSpPr>
          <p:spPr>
            <a:xfrm>
              <a:off x="6006911" y="3122665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9" name="直接箭头连接符 88"/>
            <p:cNvCxnSpPr>
              <a:stCxn id="85" idx="0"/>
              <a:endCxn id="88" idx="2"/>
            </p:cNvCxnSpPr>
            <p:nvPr/>
          </p:nvCxnSpPr>
          <p:spPr>
            <a:xfrm flipH="1" flipV="1">
              <a:off x="6961744" y="3591026"/>
              <a:ext cx="1" cy="38528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文本框 89"/>
            <p:cNvSpPr txBox="1"/>
            <p:nvPr/>
          </p:nvSpPr>
          <p:spPr>
            <a:xfrm>
              <a:off x="6969646" y="3609474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cxnSp>
          <p:nvCxnSpPr>
            <p:cNvPr id="91" name="直接箭头连接符 90"/>
            <p:cNvCxnSpPr>
              <a:stCxn id="88" idx="1"/>
              <a:endCxn id="27" idx="3"/>
            </p:cNvCxnSpPr>
            <p:nvPr/>
          </p:nvCxnSpPr>
          <p:spPr>
            <a:xfrm flipH="1">
              <a:off x="2983619" y="3356846"/>
              <a:ext cx="3023292" cy="246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3964788" y="2747179"/>
              <a:ext cx="148823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训练、评估预测精度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3898425" y="3398457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计算帕累托前沿</a:t>
              </a:r>
              <a:endParaRPr lang="zh-CN" altLang="en-US" sz="1600" dirty="0"/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095237" y="2412766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种群更新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4133542" y="505911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种群突变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5133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111760" y="-508000"/>
            <a:ext cx="10474960" cy="7212840"/>
            <a:chOff x="111760" y="-508000"/>
            <a:chExt cx="10474960" cy="7212840"/>
          </a:xfrm>
        </p:grpSpPr>
        <p:sp>
          <p:nvSpPr>
            <p:cNvPr id="34" name="矩形 33"/>
            <p:cNvSpPr/>
            <p:nvPr/>
          </p:nvSpPr>
          <p:spPr>
            <a:xfrm>
              <a:off x="390324" y="186813"/>
              <a:ext cx="7153419" cy="333038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390324" y="3921769"/>
              <a:ext cx="7153418" cy="257947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353397" y="208827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计算时间预测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353089" y="3960283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通信时间预测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cxnSp>
          <p:nvCxnSpPr>
            <p:cNvPr id="39" name="直接箭头连接符 38"/>
            <p:cNvCxnSpPr>
              <a:endCxn id="62" idx="1"/>
            </p:cNvCxnSpPr>
            <p:nvPr/>
          </p:nvCxnSpPr>
          <p:spPr>
            <a:xfrm>
              <a:off x="7895625" y="3685776"/>
              <a:ext cx="146952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/>
            <p:cNvSpPr txBox="1"/>
            <p:nvPr/>
          </p:nvSpPr>
          <p:spPr>
            <a:xfrm>
              <a:off x="7934281" y="3039280"/>
              <a:ext cx="13922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计算通信</a:t>
              </a:r>
              <a:endParaRPr lang="en-US" altLang="zh-CN" sz="1600" dirty="0" smtClean="0"/>
            </a:p>
            <a:p>
              <a:pPr algn="ctr"/>
              <a:r>
                <a:rPr lang="zh-CN" altLang="en-US" sz="1600" dirty="0" smtClean="0"/>
                <a:t>并行性</a:t>
              </a:r>
              <a:r>
                <a:rPr lang="zh-CN" altLang="en-US" sz="1600" dirty="0"/>
                <a:t>分析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56871" y="3752492"/>
              <a:ext cx="149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关键路径确定</a:t>
              </a:r>
              <a:endParaRPr lang="zh-CN" altLang="en-US" sz="1600" dirty="0"/>
            </a:p>
          </p:txBody>
        </p:sp>
        <p:sp>
          <p:nvSpPr>
            <p:cNvPr id="44" name="矩形 43"/>
            <p:cNvSpPr/>
            <p:nvPr/>
          </p:nvSpPr>
          <p:spPr>
            <a:xfrm>
              <a:off x="522122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71238" y="2436560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神经网络</a:t>
              </a:r>
              <a:endParaRPr lang="en-US" altLang="zh-CN" sz="1600" b="1" dirty="0" smtClean="0"/>
            </a:p>
            <a:p>
              <a:r>
                <a:rPr lang="zh-CN" altLang="en-US" sz="1600" b="1" dirty="0" smtClean="0"/>
                <a:t>特征空间</a:t>
              </a:r>
              <a:endParaRPr lang="zh-CN" altLang="en-US" sz="1600" b="1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2718197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cxnSp>
          <p:nvCxnSpPr>
            <p:cNvPr id="47" name="直接箭头连接符 46"/>
            <p:cNvCxnSpPr>
              <a:stCxn id="44" idx="3"/>
              <a:endCxn id="46" idx="1"/>
            </p:cNvCxnSpPr>
            <p:nvPr/>
          </p:nvCxnSpPr>
          <p:spPr>
            <a:xfrm>
              <a:off x="1576641" y="2728823"/>
              <a:ext cx="114155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文本框 48"/>
            <p:cNvSpPr txBox="1"/>
            <p:nvPr/>
          </p:nvSpPr>
          <p:spPr>
            <a:xfrm>
              <a:off x="1470685" y="2379258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2688778" y="2435556"/>
              <a:ext cx="11084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基准测试数据</a:t>
              </a:r>
              <a:endParaRPr lang="zh-CN" altLang="en-US" sz="1600" b="1" dirty="0"/>
            </a:p>
          </p:txBody>
        </p:sp>
        <p:sp>
          <p:nvSpPr>
            <p:cNvPr id="52" name="矩形 51"/>
            <p:cNvSpPr/>
            <p:nvPr/>
          </p:nvSpPr>
          <p:spPr>
            <a:xfrm>
              <a:off x="4503739" y="238704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4403792" y="2432312"/>
              <a:ext cx="1251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多层感知器模型</a:t>
              </a:r>
              <a:endParaRPr lang="zh-CN" altLang="en-US" sz="1600" b="1" dirty="0"/>
            </a:p>
          </p:txBody>
        </p:sp>
        <p:cxnSp>
          <p:nvCxnSpPr>
            <p:cNvPr id="57" name="直接箭头连接符 56"/>
            <p:cNvCxnSpPr>
              <a:stCxn id="46" idx="3"/>
              <a:endCxn id="52" idx="1"/>
            </p:cNvCxnSpPr>
            <p:nvPr/>
          </p:nvCxnSpPr>
          <p:spPr>
            <a:xfrm flipV="1">
              <a:off x="3772716" y="2727943"/>
              <a:ext cx="731023" cy="8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/>
            <p:cNvSpPr txBox="1"/>
            <p:nvPr/>
          </p:nvSpPr>
          <p:spPr>
            <a:xfrm>
              <a:off x="3628754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训练</a:t>
              </a:r>
              <a:endParaRPr lang="zh-CN" altLang="en-US" sz="1600" dirty="0"/>
            </a:p>
          </p:txBody>
        </p:sp>
        <p:sp>
          <p:nvSpPr>
            <p:cNvPr id="59" name="矩形 58"/>
            <p:cNvSpPr/>
            <p:nvPr/>
          </p:nvSpPr>
          <p:spPr>
            <a:xfrm>
              <a:off x="618094" y="4687378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吞吐量模型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3465437" y="4621530"/>
              <a:ext cx="1637281" cy="65721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单链路通信时间</a:t>
              </a:r>
              <a:endParaRPr lang="en-US" altLang="zh-CN" sz="16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直接箭头连接符 60"/>
            <p:cNvCxnSpPr>
              <a:stCxn id="59" idx="3"/>
              <a:endCxn id="60" idx="1"/>
            </p:cNvCxnSpPr>
            <p:nvPr/>
          </p:nvCxnSpPr>
          <p:spPr>
            <a:xfrm>
              <a:off x="1886693" y="4950139"/>
              <a:ext cx="1578744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矩形 61"/>
            <p:cNvSpPr/>
            <p:nvPr/>
          </p:nvSpPr>
          <p:spPr>
            <a:xfrm>
              <a:off x="9365151" y="3423015"/>
              <a:ext cx="1031918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训练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6306725" y="5228994"/>
              <a:ext cx="1050642" cy="47809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1822279" y="977129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特征</a:t>
              </a:r>
              <a:r>
                <a:rPr lang="zh-CN" altLang="en-US" sz="1600" dirty="0"/>
                <a:t>扩充</a:t>
              </a:r>
            </a:p>
          </p:txBody>
        </p:sp>
        <p:sp>
          <p:nvSpPr>
            <p:cNvPr id="74" name="矩形 73"/>
            <p:cNvSpPr/>
            <p:nvPr/>
          </p:nvSpPr>
          <p:spPr>
            <a:xfrm>
              <a:off x="6306725" y="2504741"/>
              <a:ext cx="1054519" cy="45110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6222039" y="2563176"/>
              <a:ext cx="12510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计算时间</a:t>
              </a:r>
              <a:endParaRPr lang="zh-CN" altLang="en-US" sz="1600" b="1" dirty="0"/>
            </a:p>
          </p:txBody>
        </p:sp>
        <p:cxnSp>
          <p:nvCxnSpPr>
            <p:cNvPr id="76" name="直接箭头连接符 75"/>
            <p:cNvCxnSpPr>
              <a:stCxn id="52" idx="3"/>
            </p:cNvCxnSpPr>
            <p:nvPr/>
          </p:nvCxnSpPr>
          <p:spPr>
            <a:xfrm>
              <a:off x="5558258" y="2727943"/>
              <a:ext cx="748467" cy="451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文本框 76"/>
            <p:cNvSpPr txBox="1"/>
            <p:nvPr/>
          </p:nvSpPr>
          <p:spPr>
            <a:xfrm>
              <a:off x="5431018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78" name="矩形 77"/>
            <p:cNvSpPr/>
            <p:nvPr/>
          </p:nvSpPr>
          <p:spPr>
            <a:xfrm>
              <a:off x="618094" y="5715747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9" name="肘形连接符 78"/>
            <p:cNvCxnSpPr>
              <a:stCxn id="60" idx="3"/>
              <a:endCxn id="89" idx="3"/>
            </p:cNvCxnSpPr>
            <p:nvPr/>
          </p:nvCxnSpPr>
          <p:spPr>
            <a:xfrm flipH="1">
              <a:off x="5102717" y="4950139"/>
              <a:ext cx="1" cy="1034457"/>
            </a:xfrm>
            <a:prstGeom prst="bentConnector3">
              <a:avLst>
                <a:gd name="adj1" fmla="val -22860000000"/>
              </a:avLst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箭头连接符 82"/>
            <p:cNvCxnSpPr/>
            <p:nvPr/>
          </p:nvCxnSpPr>
          <p:spPr>
            <a:xfrm>
              <a:off x="5329283" y="5467367"/>
              <a:ext cx="977442" cy="135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文本框 84"/>
            <p:cNvSpPr txBox="1"/>
            <p:nvPr/>
          </p:nvSpPr>
          <p:spPr>
            <a:xfrm>
              <a:off x="5314242" y="5128813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938894" y="5626633"/>
              <a:ext cx="14743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算法机理分析</a:t>
              </a:r>
              <a:endParaRPr lang="zh-CN" altLang="en-US" sz="1600" dirty="0"/>
            </a:p>
          </p:txBody>
        </p:sp>
        <p:sp>
          <p:nvSpPr>
            <p:cNvPr id="88" name="文本框 87"/>
            <p:cNvSpPr txBox="1"/>
            <p:nvPr/>
          </p:nvSpPr>
          <p:spPr>
            <a:xfrm>
              <a:off x="1865587" y="4593849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实时吞吐量分析</a:t>
              </a:r>
              <a:endParaRPr lang="zh-CN" altLang="en-US" sz="1600" dirty="0"/>
            </a:p>
          </p:txBody>
        </p:sp>
        <p:sp>
          <p:nvSpPr>
            <p:cNvPr id="89" name="矩形 88"/>
            <p:cNvSpPr/>
            <p:nvPr/>
          </p:nvSpPr>
          <p:spPr>
            <a:xfrm>
              <a:off x="3465437" y="5721835"/>
              <a:ext cx="1637280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接箭头连接符 89"/>
            <p:cNvCxnSpPr>
              <a:stCxn id="78" idx="3"/>
              <a:endCxn id="89" idx="1"/>
            </p:cNvCxnSpPr>
            <p:nvPr/>
          </p:nvCxnSpPr>
          <p:spPr>
            <a:xfrm>
              <a:off x="1886693" y="5978508"/>
              <a:ext cx="1578744" cy="608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肘形连接符 90"/>
            <p:cNvCxnSpPr>
              <a:stCxn id="34" idx="3"/>
            </p:cNvCxnSpPr>
            <p:nvPr/>
          </p:nvCxnSpPr>
          <p:spPr>
            <a:xfrm>
              <a:off x="7543743" y="1852005"/>
              <a:ext cx="351882" cy="1838485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肘形连接符 91"/>
            <p:cNvCxnSpPr>
              <a:endCxn id="35" idx="3"/>
            </p:cNvCxnSpPr>
            <p:nvPr/>
          </p:nvCxnSpPr>
          <p:spPr>
            <a:xfrm rot="5400000">
              <a:off x="6956818" y="4272701"/>
              <a:ext cx="1525733" cy="351883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文本框 47"/>
            <p:cNvSpPr txBox="1"/>
            <p:nvPr/>
          </p:nvSpPr>
          <p:spPr>
            <a:xfrm>
              <a:off x="3100236" y="93807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浮点数运算数</a:t>
              </a:r>
              <a:endParaRPr lang="en-US" altLang="zh-CN" sz="1600" b="1" dirty="0" smtClean="0"/>
            </a:p>
          </p:txBody>
        </p:sp>
        <p:sp>
          <p:nvSpPr>
            <p:cNvPr id="53" name="矩形 52"/>
            <p:cNvSpPr/>
            <p:nvPr/>
          </p:nvSpPr>
          <p:spPr>
            <a:xfrm>
              <a:off x="3075679" y="873605"/>
              <a:ext cx="1440329" cy="45731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22153" y="1553441"/>
              <a:ext cx="13261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内存占用</a:t>
              </a:r>
              <a:endParaRPr lang="en-US" altLang="zh-CN" sz="1600" b="1" dirty="0" smtClean="0"/>
            </a:p>
          </p:txBody>
        </p:sp>
        <p:sp>
          <p:nvSpPr>
            <p:cNvPr id="56" name="矩形 55"/>
            <p:cNvSpPr/>
            <p:nvPr/>
          </p:nvSpPr>
          <p:spPr>
            <a:xfrm>
              <a:off x="3074895" y="1523998"/>
              <a:ext cx="1441113" cy="41229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2910347" y="720747"/>
              <a:ext cx="2744507" cy="137352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肘形连接符 6"/>
            <p:cNvCxnSpPr>
              <a:stCxn id="5" idx="1"/>
            </p:cNvCxnSpPr>
            <p:nvPr/>
          </p:nvCxnSpPr>
          <p:spPr>
            <a:xfrm rot="10800000" flipV="1">
              <a:off x="2395379" y="1407509"/>
              <a:ext cx="514969" cy="1313944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/>
            <p:cNvSpPr txBox="1"/>
            <p:nvPr/>
          </p:nvSpPr>
          <p:spPr>
            <a:xfrm>
              <a:off x="4631702" y="123823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机理分析</a:t>
              </a:r>
              <a:endParaRPr lang="zh-CN" altLang="en-US" sz="1600" dirty="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1760" y="-508000"/>
              <a:ext cx="10474960" cy="721284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3577" y="-401323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solidFill>
                    <a:schemeClr val="accent1">
                      <a:lumMod val="50000"/>
                    </a:schemeClr>
                  </a:solidFill>
                </a:rPr>
                <a:t>仿真平台框架</a:t>
              </a:r>
              <a:endParaRPr lang="zh-CN" altLang="en-US" sz="24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55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组合 180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3" name="圆角矩形 2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5" name="圆角矩形 64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圆角矩形 65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箭头连接符 7"/>
            <p:cNvCxnSpPr>
              <a:stCxn id="4" idx="3"/>
              <a:endCxn id="68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71" name="直接箭头连接符 70"/>
            <p:cNvCxnSpPr>
              <a:stCxn id="68" idx="3"/>
              <a:endCxn id="69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矩形 72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箭头连接符 80"/>
            <p:cNvCxnSpPr>
              <a:stCxn id="69" idx="3"/>
              <a:endCxn id="73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108" idx="3"/>
              <a:endCxn id="110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>
              <a:stCxn id="109" idx="3"/>
              <a:endCxn id="111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矩形 117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6" name="肘形连接符 135"/>
            <p:cNvCxnSpPr>
              <a:stCxn id="110" idx="3"/>
              <a:endCxn id="111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/>
            <p:cNvCxnSpPr>
              <a:endCxn id="118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文本框 146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0" name="矩形 149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 150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52" name="直接箭头连接符 151"/>
            <p:cNvCxnSpPr>
              <a:stCxn id="150" idx="1"/>
              <a:endCxn id="151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肘形连接符 155"/>
            <p:cNvCxnSpPr>
              <a:stCxn id="73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9" name="文本框 178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180" name="文本框 179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0296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883920" y="1250066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51560" y="2709672"/>
              <a:ext cx="123444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指数图拓扑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2598420" y="270967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057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701040" y="1277498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59842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E" altLang="zh-CN" sz="1600" b="1" dirty="0" smtClean="0">
                  <a:solidFill>
                    <a:schemeClr val="tx1"/>
                  </a:solidFill>
                </a:rPr>
                <a:t>……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289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6" name="图片 24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33" y="3312536"/>
            <a:ext cx="192468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7" name="图片 24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886" y="3312536"/>
            <a:ext cx="2233117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8" name="图片 24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6871" y="3312536"/>
            <a:ext cx="228932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06291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691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16403</TotalTime>
  <Words>701</Words>
  <Application>Microsoft Office PowerPoint</Application>
  <PresentationFormat>宽屏</PresentationFormat>
  <Paragraphs>278</Paragraphs>
  <Slides>16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76</cp:revision>
  <dcterms:created xsi:type="dcterms:W3CDTF">2022-10-09T13:04:10Z</dcterms:created>
  <dcterms:modified xsi:type="dcterms:W3CDTF">2023-12-12T14:56:11Z</dcterms:modified>
</cp:coreProperties>
</file>